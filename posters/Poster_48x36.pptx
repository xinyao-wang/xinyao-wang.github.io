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43891200" cy="32918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DA5"/>
    <a:srgbClr val="FBD0C7"/>
    <a:srgbClr val="EE65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6" autoAdjust="0"/>
    <p:restoredTop sz="96369" autoAdjust="0"/>
  </p:normalViewPr>
  <p:slideViewPr>
    <p:cSldViewPr snapToGrid="0">
      <p:cViewPr>
        <p:scale>
          <a:sx n="125" d="100"/>
          <a:sy n="125" d="100"/>
        </p:scale>
        <p:origin x="-21902" y="-1018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3" y="5387342"/>
            <a:ext cx="37307519" cy="11460480"/>
          </a:xfrm>
        </p:spPr>
        <p:txBody>
          <a:bodyPr anchor="b"/>
          <a:lstStyle>
            <a:lvl1pPr algn="ctr">
              <a:defRPr sz="28801"/>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1" cy="7947658"/>
          </a:xfrm>
        </p:spPr>
        <p:txBody>
          <a:bodyPr/>
          <a:lstStyle>
            <a:lvl1pPr marL="0" indent="0" algn="ctr">
              <a:buNone/>
              <a:defRPr sz="11519"/>
            </a:lvl1pPr>
            <a:lvl2pPr marL="2194555" indent="0" algn="ctr">
              <a:buNone/>
              <a:defRPr sz="9601"/>
            </a:lvl2pPr>
            <a:lvl3pPr marL="4389112" indent="0" algn="ctr">
              <a:buNone/>
              <a:defRPr sz="8641"/>
            </a:lvl3pPr>
            <a:lvl4pPr marL="6583667" indent="0" algn="ctr">
              <a:buNone/>
              <a:defRPr sz="7681"/>
            </a:lvl4pPr>
            <a:lvl5pPr marL="8778222" indent="0" algn="ctr">
              <a:buNone/>
              <a:defRPr sz="7681"/>
            </a:lvl5pPr>
            <a:lvl6pPr marL="10972777" indent="0" algn="ctr">
              <a:buNone/>
              <a:defRPr sz="7681"/>
            </a:lvl6pPr>
            <a:lvl7pPr marL="13167335" indent="0" algn="ctr">
              <a:buNone/>
              <a:defRPr sz="7681"/>
            </a:lvl7pPr>
            <a:lvl8pPr marL="15361890" indent="0" algn="ctr">
              <a:buNone/>
              <a:defRPr sz="7681"/>
            </a:lvl8pPr>
            <a:lvl9pPr marL="17556444" indent="0" algn="ctr">
              <a:buNone/>
              <a:defRPr sz="768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3051EC-C33A-4B4C-9FD1-8B1DEB739CA7}" type="datetimeFigureOut">
              <a:rPr lang="en-US" smtClean="0"/>
              <a:t>6/16/2024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587EB7-F91B-4147-A32B-7ABF6ABB3FF4}" type="slidenum">
              <a:rPr lang="en-US" smtClean="0"/>
              <a:t>‹#›</a:t>
            </a:fld>
            <a:endParaRPr lang="en-US"/>
          </a:p>
        </p:txBody>
      </p:sp>
    </p:spTree>
    <p:extLst>
      <p:ext uri="{BB962C8B-B14F-4D97-AF65-F5344CB8AC3E}">
        <p14:creationId xmlns:p14="http://schemas.microsoft.com/office/powerpoint/2010/main" val="1220611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3051EC-C33A-4B4C-9FD1-8B1DEB739CA7}" type="datetimeFigureOut">
              <a:rPr lang="en-US" smtClean="0"/>
              <a:t>6/16/2024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587EB7-F91B-4147-A32B-7ABF6ABB3FF4}" type="slidenum">
              <a:rPr lang="en-US" smtClean="0"/>
              <a:t>‹#›</a:t>
            </a:fld>
            <a:endParaRPr lang="en-US"/>
          </a:p>
        </p:txBody>
      </p:sp>
    </p:spTree>
    <p:extLst>
      <p:ext uri="{BB962C8B-B14F-4D97-AF65-F5344CB8AC3E}">
        <p14:creationId xmlns:p14="http://schemas.microsoft.com/office/powerpoint/2010/main" val="2594729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1" cy="13693138"/>
          </a:xfrm>
        </p:spPr>
        <p:txBody>
          <a:bodyPr anchor="b"/>
          <a:lstStyle>
            <a:lvl1pPr>
              <a:defRPr sz="28801"/>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1" cy="7200898"/>
          </a:xfrm>
        </p:spPr>
        <p:txBody>
          <a:bodyPr/>
          <a:lstStyle>
            <a:lvl1pPr marL="0" indent="0">
              <a:buNone/>
              <a:defRPr sz="11519">
                <a:solidFill>
                  <a:schemeClr val="tx1"/>
                </a:solidFill>
              </a:defRPr>
            </a:lvl1pPr>
            <a:lvl2pPr marL="2194555" indent="0">
              <a:buNone/>
              <a:defRPr sz="9601">
                <a:solidFill>
                  <a:schemeClr val="tx1">
                    <a:tint val="75000"/>
                  </a:schemeClr>
                </a:solidFill>
              </a:defRPr>
            </a:lvl2pPr>
            <a:lvl3pPr marL="4389112" indent="0">
              <a:buNone/>
              <a:defRPr sz="8641">
                <a:solidFill>
                  <a:schemeClr val="tx1">
                    <a:tint val="75000"/>
                  </a:schemeClr>
                </a:solidFill>
              </a:defRPr>
            </a:lvl3pPr>
            <a:lvl4pPr marL="6583667" indent="0">
              <a:buNone/>
              <a:defRPr sz="7681">
                <a:solidFill>
                  <a:schemeClr val="tx1">
                    <a:tint val="75000"/>
                  </a:schemeClr>
                </a:solidFill>
              </a:defRPr>
            </a:lvl4pPr>
            <a:lvl5pPr marL="8778222" indent="0">
              <a:buNone/>
              <a:defRPr sz="7681">
                <a:solidFill>
                  <a:schemeClr val="tx1">
                    <a:tint val="75000"/>
                  </a:schemeClr>
                </a:solidFill>
              </a:defRPr>
            </a:lvl5pPr>
            <a:lvl6pPr marL="10972777" indent="0">
              <a:buNone/>
              <a:defRPr sz="7681">
                <a:solidFill>
                  <a:schemeClr val="tx1">
                    <a:tint val="75000"/>
                  </a:schemeClr>
                </a:solidFill>
              </a:defRPr>
            </a:lvl6pPr>
            <a:lvl7pPr marL="13167335" indent="0">
              <a:buNone/>
              <a:defRPr sz="7681">
                <a:solidFill>
                  <a:schemeClr val="tx1">
                    <a:tint val="75000"/>
                  </a:schemeClr>
                </a:solidFill>
              </a:defRPr>
            </a:lvl7pPr>
            <a:lvl8pPr marL="15361890" indent="0">
              <a:buNone/>
              <a:defRPr sz="7681">
                <a:solidFill>
                  <a:schemeClr val="tx1">
                    <a:tint val="75000"/>
                  </a:schemeClr>
                </a:solidFill>
              </a:defRPr>
            </a:lvl8pPr>
            <a:lvl9pPr marL="17556444" indent="0">
              <a:buNone/>
              <a:defRPr sz="768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3051EC-C33A-4B4C-9FD1-8B1DEB739CA7}" type="datetimeFigureOut">
              <a:rPr lang="en-US" smtClean="0"/>
              <a:t>6/16/2024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587EB7-F91B-4147-A32B-7ABF6ABB3FF4}" type="slidenum">
              <a:rPr lang="en-US" smtClean="0"/>
              <a:t>‹#›</a:t>
            </a:fld>
            <a:endParaRPr lang="en-US"/>
          </a:p>
        </p:txBody>
      </p:sp>
    </p:spTree>
    <p:extLst>
      <p:ext uri="{BB962C8B-B14F-4D97-AF65-F5344CB8AC3E}">
        <p14:creationId xmlns:p14="http://schemas.microsoft.com/office/powerpoint/2010/main" val="967510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1" y="8763000"/>
            <a:ext cx="18653761"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18" y="8763000"/>
            <a:ext cx="18653761"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3051EC-C33A-4B4C-9FD1-8B1DEB739CA7}" type="datetimeFigureOut">
              <a:rPr lang="en-US" smtClean="0"/>
              <a:t>6/16/2024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587EB7-F91B-4147-A32B-7ABF6ABB3FF4}" type="slidenum">
              <a:rPr lang="en-US" smtClean="0"/>
              <a:t>‹#›</a:t>
            </a:fld>
            <a:endParaRPr lang="en-US"/>
          </a:p>
        </p:txBody>
      </p:sp>
    </p:spTree>
    <p:extLst>
      <p:ext uri="{BB962C8B-B14F-4D97-AF65-F5344CB8AC3E}">
        <p14:creationId xmlns:p14="http://schemas.microsoft.com/office/powerpoint/2010/main" val="712287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1"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3" cy="3954778"/>
          </a:xfrm>
        </p:spPr>
        <p:txBody>
          <a:bodyPr anchor="b"/>
          <a:lstStyle>
            <a:lvl1pPr marL="0" indent="0">
              <a:buNone/>
              <a:defRPr sz="11519" b="1"/>
            </a:lvl1pPr>
            <a:lvl2pPr marL="2194555" indent="0">
              <a:buNone/>
              <a:defRPr sz="9601" b="1"/>
            </a:lvl2pPr>
            <a:lvl3pPr marL="4389112" indent="0">
              <a:buNone/>
              <a:defRPr sz="8641" b="1"/>
            </a:lvl3pPr>
            <a:lvl4pPr marL="6583667" indent="0">
              <a:buNone/>
              <a:defRPr sz="7681" b="1"/>
            </a:lvl4pPr>
            <a:lvl5pPr marL="8778222" indent="0">
              <a:buNone/>
              <a:defRPr sz="7681" b="1"/>
            </a:lvl5pPr>
            <a:lvl6pPr marL="10972777" indent="0">
              <a:buNone/>
              <a:defRPr sz="7681" b="1"/>
            </a:lvl6pPr>
            <a:lvl7pPr marL="13167335" indent="0">
              <a:buNone/>
              <a:defRPr sz="7681" b="1"/>
            </a:lvl7pPr>
            <a:lvl8pPr marL="15361890" indent="0">
              <a:buNone/>
              <a:defRPr sz="7681" b="1"/>
            </a:lvl8pPr>
            <a:lvl9pPr marL="17556444" indent="0">
              <a:buNone/>
              <a:defRPr sz="7681" b="1"/>
            </a:lvl9pPr>
          </a:lstStyle>
          <a:p>
            <a:pPr lvl="0"/>
            <a:r>
              <a:rPr lang="en-US"/>
              <a:t>Click to edit Master text styles</a:t>
            </a:r>
          </a:p>
        </p:txBody>
      </p:sp>
      <p:sp>
        <p:nvSpPr>
          <p:cNvPr id="4" name="Content Placeholder 3"/>
          <p:cNvSpPr>
            <a:spLocks noGrp="1"/>
          </p:cNvSpPr>
          <p:nvPr>
            <p:ph sz="half" idx="2"/>
          </p:nvPr>
        </p:nvSpPr>
        <p:spPr>
          <a:xfrm>
            <a:off x="3023242" y="12024360"/>
            <a:ext cx="18568033"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3" y="8069582"/>
            <a:ext cx="18659476" cy="3954778"/>
          </a:xfrm>
        </p:spPr>
        <p:txBody>
          <a:bodyPr anchor="b"/>
          <a:lstStyle>
            <a:lvl1pPr marL="0" indent="0">
              <a:buNone/>
              <a:defRPr sz="11519" b="1"/>
            </a:lvl1pPr>
            <a:lvl2pPr marL="2194555" indent="0">
              <a:buNone/>
              <a:defRPr sz="9601" b="1"/>
            </a:lvl2pPr>
            <a:lvl3pPr marL="4389112" indent="0">
              <a:buNone/>
              <a:defRPr sz="8641" b="1"/>
            </a:lvl3pPr>
            <a:lvl4pPr marL="6583667" indent="0">
              <a:buNone/>
              <a:defRPr sz="7681" b="1"/>
            </a:lvl4pPr>
            <a:lvl5pPr marL="8778222" indent="0">
              <a:buNone/>
              <a:defRPr sz="7681" b="1"/>
            </a:lvl5pPr>
            <a:lvl6pPr marL="10972777" indent="0">
              <a:buNone/>
              <a:defRPr sz="7681" b="1"/>
            </a:lvl6pPr>
            <a:lvl7pPr marL="13167335" indent="0">
              <a:buNone/>
              <a:defRPr sz="7681" b="1"/>
            </a:lvl7pPr>
            <a:lvl8pPr marL="15361890" indent="0">
              <a:buNone/>
              <a:defRPr sz="7681" b="1"/>
            </a:lvl8pPr>
            <a:lvl9pPr marL="17556444" indent="0">
              <a:buNone/>
              <a:defRPr sz="7681" b="1"/>
            </a:lvl9pPr>
          </a:lstStyle>
          <a:p>
            <a:pPr lvl="0"/>
            <a:r>
              <a:rPr lang="en-US"/>
              <a:t>Click to edit Master text styles</a:t>
            </a:r>
          </a:p>
        </p:txBody>
      </p:sp>
      <p:sp>
        <p:nvSpPr>
          <p:cNvPr id="6" name="Content Placeholder 5"/>
          <p:cNvSpPr>
            <a:spLocks noGrp="1"/>
          </p:cNvSpPr>
          <p:nvPr>
            <p:ph sz="quarter" idx="4"/>
          </p:nvPr>
        </p:nvSpPr>
        <p:spPr>
          <a:xfrm>
            <a:off x="22219923" y="12024360"/>
            <a:ext cx="18659476"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3051EC-C33A-4B4C-9FD1-8B1DEB739CA7}" type="datetimeFigureOut">
              <a:rPr lang="en-US" smtClean="0"/>
              <a:t>6/16/2024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587EB7-F91B-4147-A32B-7ABF6ABB3FF4}" type="slidenum">
              <a:rPr lang="en-US" smtClean="0"/>
              <a:t>‹#›</a:t>
            </a:fld>
            <a:endParaRPr lang="en-US"/>
          </a:p>
        </p:txBody>
      </p:sp>
    </p:spTree>
    <p:extLst>
      <p:ext uri="{BB962C8B-B14F-4D97-AF65-F5344CB8AC3E}">
        <p14:creationId xmlns:p14="http://schemas.microsoft.com/office/powerpoint/2010/main" val="2775707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3051EC-C33A-4B4C-9FD1-8B1DEB739CA7}" type="datetimeFigureOut">
              <a:rPr lang="en-US" smtClean="0"/>
              <a:t>6/16/2024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587EB7-F91B-4147-A32B-7ABF6ABB3FF4}" type="slidenum">
              <a:rPr lang="en-US" smtClean="0"/>
              <a:t>‹#›</a:t>
            </a:fld>
            <a:endParaRPr lang="en-US"/>
          </a:p>
        </p:txBody>
      </p:sp>
    </p:spTree>
    <p:extLst>
      <p:ext uri="{BB962C8B-B14F-4D97-AF65-F5344CB8AC3E}">
        <p14:creationId xmlns:p14="http://schemas.microsoft.com/office/powerpoint/2010/main" val="324997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3051EC-C33A-4B4C-9FD1-8B1DEB739CA7}" type="datetimeFigureOut">
              <a:rPr lang="en-US" smtClean="0"/>
              <a:t>6/16/2024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587EB7-F91B-4147-A32B-7ABF6ABB3FF4}" type="slidenum">
              <a:rPr lang="en-US" smtClean="0"/>
              <a:t>‹#›</a:t>
            </a:fld>
            <a:endParaRPr lang="en-US"/>
          </a:p>
        </p:txBody>
      </p:sp>
    </p:spTree>
    <p:extLst>
      <p:ext uri="{BB962C8B-B14F-4D97-AF65-F5344CB8AC3E}">
        <p14:creationId xmlns:p14="http://schemas.microsoft.com/office/powerpoint/2010/main" val="2593550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6" y="2194560"/>
            <a:ext cx="14156055" cy="7680960"/>
          </a:xfrm>
        </p:spPr>
        <p:txBody>
          <a:bodyPr anchor="b"/>
          <a:lstStyle>
            <a:lvl1pPr>
              <a:defRPr sz="15359"/>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1" cy="23393400"/>
          </a:xfrm>
        </p:spPr>
        <p:txBody>
          <a:bodyPr/>
          <a:lstStyle>
            <a:lvl1pPr>
              <a:defRPr sz="15359"/>
            </a:lvl1pPr>
            <a:lvl2pPr>
              <a:defRPr sz="13439"/>
            </a:lvl2pPr>
            <a:lvl3pPr>
              <a:defRPr sz="11519"/>
            </a:lvl3pPr>
            <a:lvl4pPr>
              <a:defRPr sz="9601"/>
            </a:lvl4pPr>
            <a:lvl5pPr>
              <a:defRPr sz="9601"/>
            </a:lvl5pPr>
            <a:lvl6pPr>
              <a:defRPr sz="9601"/>
            </a:lvl6pPr>
            <a:lvl7pPr>
              <a:defRPr sz="9601"/>
            </a:lvl7pPr>
            <a:lvl8pPr>
              <a:defRPr sz="9601"/>
            </a:lvl8pPr>
            <a:lvl9pPr>
              <a:defRPr sz="96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6" y="9875520"/>
            <a:ext cx="14156055" cy="18295622"/>
          </a:xfrm>
        </p:spPr>
        <p:txBody>
          <a:bodyPr/>
          <a:lstStyle>
            <a:lvl1pPr marL="0" indent="0">
              <a:buNone/>
              <a:defRPr sz="7681"/>
            </a:lvl1pPr>
            <a:lvl2pPr marL="2194555" indent="0">
              <a:buNone/>
              <a:defRPr sz="6721"/>
            </a:lvl2pPr>
            <a:lvl3pPr marL="4389112" indent="0">
              <a:buNone/>
              <a:defRPr sz="5761"/>
            </a:lvl3pPr>
            <a:lvl4pPr marL="6583667" indent="0">
              <a:buNone/>
              <a:defRPr sz="4801"/>
            </a:lvl4pPr>
            <a:lvl5pPr marL="8778222" indent="0">
              <a:buNone/>
              <a:defRPr sz="4801"/>
            </a:lvl5pPr>
            <a:lvl6pPr marL="10972777" indent="0">
              <a:buNone/>
              <a:defRPr sz="4801"/>
            </a:lvl6pPr>
            <a:lvl7pPr marL="13167335" indent="0">
              <a:buNone/>
              <a:defRPr sz="4801"/>
            </a:lvl7pPr>
            <a:lvl8pPr marL="15361890" indent="0">
              <a:buNone/>
              <a:defRPr sz="4801"/>
            </a:lvl8pPr>
            <a:lvl9pPr marL="17556444" indent="0">
              <a:buNone/>
              <a:defRPr sz="4801"/>
            </a:lvl9pPr>
          </a:lstStyle>
          <a:p>
            <a:pPr lvl="0"/>
            <a:r>
              <a:rPr lang="en-US"/>
              <a:t>Click to edit Master text styles</a:t>
            </a:r>
          </a:p>
        </p:txBody>
      </p:sp>
      <p:sp>
        <p:nvSpPr>
          <p:cNvPr id="5" name="Date Placeholder 4"/>
          <p:cNvSpPr>
            <a:spLocks noGrp="1"/>
          </p:cNvSpPr>
          <p:nvPr>
            <p:ph type="dt" sz="half" idx="10"/>
          </p:nvPr>
        </p:nvSpPr>
        <p:spPr/>
        <p:txBody>
          <a:bodyPr/>
          <a:lstStyle/>
          <a:p>
            <a:fld id="{A13051EC-C33A-4B4C-9FD1-8B1DEB739CA7}" type="datetimeFigureOut">
              <a:rPr lang="en-US" smtClean="0"/>
              <a:t>6/16/2024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587EB7-F91B-4147-A32B-7ABF6ABB3FF4}" type="slidenum">
              <a:rPr lang="en-US" smtClean="0"/>
              <a:t>‹#›</a:t>
            </a:fld>
            <a:endParaRPr lang="en-US"/>
          </a:p>
        </p:txBody>
      </p:sp>
    </p:spTree>
    <p:extLst>
      <p:ext uri="{BB962C8B-B14F-4D97-AF65-F5344CB8AC3E}">
        <p14:creationId xmlns:p14="http://schemas.microsoft.com/office/powerpoint/2010/main" val="273986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6" y="2194560"/>
            <a:ext cx="14156055" cy="7680960"/>
          </a:xfrm>
        </p:spPr>
        <p:txBody>
          <a:bodyPr anchor="b"/>
          <a:lstStyle>
            <a:lvl1pPr>
              <a:defRPr sz="15359"/>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1" cy="23393400"/>
          </a:xfrm>
        </p:spPr>
        <p:txBody>
          <a:bodyPr anchor="t"/>
          <a:lstStyle>
            <a:lvl1pPr marL="0" indent="0">
              <a:buNone/>
              <a:defRPr sz="15359"/>
            </a:lvl1pPr>
            <a:lvl2pPr marL="2194555" indent="0">
              <a:buNone/>
              <a:defRPr sz="13439"/>
            </a:lvl2pPr>
            <a:lvl3pPr marL="4389112" indent="0">
              <a:buNone/>
              <a:defRPr sz="11519"/>
            </a:lvl3pPr>
            <a:lvl4pPr marL="6583667" indent="0">
              <a:buNone/>
              <a:defRPr sz="9601"/>
            </a:lvl4pPr>
            <a:lvl5pPr marL="8778222" indent="0">
              <a:buNone/>
              <a:defRPr sz="9601"/>
            </a:lvl5pPr>
            <a:lvl6pPr marL="10972777" indent="0">
              <a:buNone/>
              <a:defRPr sz="9601"/>
            </a:lvl6pPr>
            <a:lvl7pPr marL="13167335" indent="0">
              <a:buNone/>
              <a:defRPr sz="9601"/>
            </a:lvl7pPr>
            <a:lvl8pPr marL="15361890" indent="0">
              <a:buNone/>
              <a:defRPr sz="9601"/>
            </a:lvl8pPr>
            <a:lvl9pPr marL="17556444" indent="0">
              <a:buNone/>
              <a:defRPr sz="9601"/>
            </a:lvl9pPr>
          </a:lstStyle>
          <a:p>
            <a:r>
              <a:rPr lang="en-US"/>
              <a:t>Click icon to add picture</a:t>
            </a:r>
            <a:endParaRPr lang="en-US" dirty="0"/>
          </a:p>
        </p:txBody>
      </p:sp>
      <p:sp>
        <p:nvSpPr>
          <p:cNvPr id="4" name="Text Placeholder 3"/>
          <p:cNvSpPr>
            <a:spLocks noGrp="1"/>
          </p:cNvSpPr>
          <p:nvPr>
            <p:ph type="body" sz="half" idx="2"/>
          </p:nvPr>
        </p:nvSpPr>
        <p:spPr>
          <a:xfrm>
            <a:off x="3023236" y="9875520"/>
            <a:ext cx="14156055" cy="18295622"/>
          </a:xfrm>
        </p:spPr>
        <p:txBody>
          <a:bodyPr/>
          <a:lstStyle>
            <a:lvl1pPr marL="0" indent="0">
              <a:buNone/>
              <a:defRPr sz="7681"/>
            </a:lvl1pPr>
            <a:lvl2pPr marL="2194555" indent="0">
              <a:buNone/>
              <a:defRPr sz="6721"/>
            </a:lvl2pPr>
            <a:lvl3pPr marL="4389112" indent="0">
              <a:buNone/>
              <a:defRPr sz="5761"/>
            </a:lvl3pPr>
            <a:lvl4pPr marL="6583667" indent="0">
              <a:buNone/>
              <a:defRPr sz="4801"/>
            </a:lvl4pPr>
            <a:lvl5pPr marL="8778222" indent="0">
              <a:buNone/>
              <a:defRPr sz="4801"/>
            </a:lvl5pPr>
            <a:lvl6pPr marL="10972777" indent="0">
              <a:buNone/>
              <a:defRPr sz="4801"/>
            </a:lvl6pPr>
            <a:lvl7pPr marL="13167335" indent="0">
              <a:buNone/>
              <a:defRPr sz="4801"/>
            </a:lvl7pPr>
            <a:lvl8pPr marL="15361890" indent="0">
              <a:buNone/>
              <a:defRPr sz="4801"/>
            </a:lvl8pPr>
            <a:lvl9pPr marL="17556444" indent="0">
              <a:buNone/>
              <a:defRPr sz="4801"/>
            </a:lvl9pPr>
          </a:lstStyle>
          <a:p>
            <a:pPr lvl="0"/>
            <a:r>
              <a:rPr lang="en-US"/>
              <a:t>Click to edit Master text styles</a:t>
            </a:r>
          </a:p>
        </p:txBody>
      </p:sp>
      <p:sp>
        <p:nvSpPr>
          <p:cNvPr id="5" name="Date Placeholder 4"/>
          <p:cNvSpPr>
            <a:spLocks noGrp="1"/>
          </p:cNvSpPr>
          <p:nvPr>
            <p:ph type="dt" sz="half" idx="10"/>
          </p:nvPr>
        </p:nvSpPr>
        <p:spPr/>
        <p:txBody>
          <a:bodyPr/>
          <a:lstStyle/>
          <a:p>
            <a:fld id="{A13051EC-C33A-4B4C-9FD1-8B1DEB739CA7}" type="datetimeFigureOut">
              <a:rPr lang="en-US" smtClean="0"/>
              <a:t>6/16/2024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587EB7-F91B-4147-A32B-7ABF6ABB3FF4}" type="slidenum">
              <a:rPr lang="en-US" smtClean="0"/>
              <a:t>‹#›</a:t>
            </a:fld>
            <a:endParaRPr lang="en-US"/>
          </a:p>
        </p:txBody>
      </p:sp>
    </p:spTree>
    <p:extLst>
      <p:ext uri="{BB962C8B-B14F-4D97-AF65-F5344CB8AC3E}">
        <p14:creationId xmlns:p14="http://schemas.microsoft.com/office/powerpoint/2010/main" val="1759686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3051EC-C33A-4B4C-9FD1-8B1DEB739CA7}" type="datetimeFigureOut">
              <a:rPr lang="en-US" smtClean="0"/>
              <a:t>6/16/2024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587EB7-F91B-4147-A32B-7ABF6ABB3FF4}" type="slidenum">
              <a:rPr lang="en-US" smtClean="0"/>
              <a:t>‹#›</a:t>
            </a:fld>
            <a:endParaRPr lang="en-US"/>
          </a:p>
        </p:txBody>
      </p:sp>
    </p:spTree>
    <p:extLst>
      <p:ext uri="{BB962C8B-B14F-4D97-AF65-F5344CB8AC3E}">
        <p14:creationId xmlns:p14="http://schemas.microsoft.com/office/powerpoint/2010/main" val="3508725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1"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1"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3051EC-C33A-4B4C-9FD1-8B1DEB739CA7}" type="datetimeFigureOut">
              <a:rPr lang="en-US" smtClean="0"/>
              <a:t>6/16/2024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587EB7-F91B-4147-A32B-7ABF6ABB3FF4}" type="slidenum">
              <a:rPr lang="en-US" smtClean="0"/>
              <a:t>‹#›</a:t>
            </a:fld>
            <a:endParaRPr lang="en-US"/>
          </a:p>
        </p:txBody>
      </p:sp>
    </p:spTree>
    <p:extLst>
      <p:ext uri="{BB962C8B-B14F-4D97-AF65-F5344CB8AC3E}">
        <p14:creationId xmlns:p14="http://schemas.microsoft.com/office/powerpoint/2010/main" val="561932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2" y="1752607"/>
            <a:ext cx="37856161"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2" y="8763000"/>
            <a:ext cx="37856161"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1" y="30510487"/>
            <a:ext cx="9875520" cy="1752600"/>
          </a:xfrm>
          <a:prstGeom prst="rect">
            <a:avLst/>
          </a:prstGeom>
        </p:spPr>
        <p:txBody>
          <a:bodyPr vert="horz" lIns="91440" tIns="45720" rIns="91440" bIns="45720" rtlCol="0" anchor="ctr"/>
          <a:lstStyle>
            <a:lvl1pPr algn="l">
              <a:defRPr sz="5761">
                <a:solidFill>
                  <a:schemeClr val="tx1">
                    <a:tint val="75000"/>
                  </a:schemeClr>
                </a:solidFill>
              </a:defRPr>
            </a:lvl1pPr>
          </a:lstStyle>
          <a:p>
            <a:fld id="{A13051EC-C33A-4B4C-9FD1-8B1DEB739CA7}" type="datetimeFigureOut">
              <a:rPr lang="en-US" smtClean="0"/>
              <a:t>6/16/2024</a:t>
            </a:fld>
            <a:endParaRPr lang="en-US"/>
          </a:p>
        </p:txBody>
      </p:sp>
      <p:sp>
        <p:nvSpPr>
          <p:cNvPr id="5" name="Footer Placeholder 4"/>
          <p:cNvSpPr>
            <a:spLocks noGrp="1"/>
          </p:cNvSpPr>
          <p:nvPr>
            <p:ph type="ftr" sz="quarter" idx="3"/>
          </p:nvPr>
        </p:nvSpPr>
        <p:spPr>
          <a:xfrm>
            <a:off x="14538963" y="30510487"/>
            <a:ext cx="14813280" cy="1752600"/>
          </a:xfrm>
          <a:prstGeom prst="rect">
            <a:avLst/>
          </a:prstGeom>
        </p:spPr>
        <p:txBody>
          <a:bodyPr vert="horz" lIns="91440" tIns="45720" rIns="91440" bIns="45720" rtlCol="0" anchor="ctr"/>
          <a:lstStyle>
            <a:lvl1pPr algn="ctr">
              <a:defRPr sz="5761">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59" y="30510487"/>
            <a:ext cx="9875520" cy="1752600"/>
          </a:xfrm>
          <a:prstGeom prst="rect">
            <a:avLst/>
          </a:prstGeom>
        </p:spPr>
        <p:txBody>
          <a:bodyPr vert="horz" lIns="91440" tIns="45720" rIns="91440" bIns="45720" rtlCol="0" anchor="ctr"/>
          <a:lstStyle>
            <a:lvl1pPr algn="r">
              <a:defRPr sz="5761">
                <a:solidFill>
                  <a:schemeClr val="tx1">
                    <a:tint val="75000"/>
                  </a:schemeClr>
                </a:solidFill>
              </a:defRPr>
            </a:lvl1pPr>
          </a:lstStyle>
          <a:p>
            <a:fld id="{1E587EB7-F91B-4147-A32B-7ABF6ABB3FF4}" type="slidenum">
              <a:rPr lang="en-US" smtClean="0"/>
              <a:t>‹#›</a:t>
            </a:fld>
            <a:endParaRPr lang="en-US"/>
          </a:p>
        </p:txBody>
      </p:sp>
    </p:spTree>
    <p:extLst>
      <p:ext uri="{BB962C8B-B14F-4D97-AF65-F5344CB8AC3E}">
        <p14:creationId xmlns:p14="http://schemas.microsoft.com/office/powerpoint/2010/main" val="36129969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389112"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77" indent="-1097277" algn="l" defTabSz="4389112" rtl="0" eaLnBrk="1" latinLnBrk="0" hangingPunct="1">
        <a:lnSpc>
          <a:spcPct val="90000"/>
        </a:lnSpc>
        <a:spcBef>
          <a:spcPts val="4801"/>
        </a:spcBef>
        <a:buFont typeface="Arial" panose="020B0604020202020204" pitchFamily="34" charset="0"/>
        <a:buChar char="•"/>
        <a:defRPr sz="13439" kern="1200">
          <a:solidFill>
            <a:schemeClr val="tx1"/>
          </a:solidFill>
          <a:latin typeface="+mn-lt"/>
          <a:ea typeface="+mn-ea"/>
          <a:cs typeface="+mn-cs"/>
        </a:defRPr>
      </a:lvl1pPr>
      <a:lvl2pPr marL="3291832" indent="-1097277" algn="l" defTabSz="4389112" rtl="0" eaLnBrk="1" latinLnBrk="0" hangingPunct="1">
        <a:lnSpc>
          <a:spcPct val="90000"/>
        </a:lnSpc>
        <a:spcBef>
          <a:spcPts val="2400"/>
        </a:spcBef>
        <a:buFont typeface="Arial" panose="020B0604020202020204" pitchFamily="34" charset="0"/>
        <a:buChar char="•"/>
        <a:defRPr sz="11519" kern="1200">
          <a:solidFill>
            <a:schemeClr val="tx1"/>
          </a:solidFill>
          <a:latin typeface="+mn-lt"/>
          <a:ea typeface="+mn-ea"/>
          <a:cs typeface="+mn-cs"/>
        </a:defRPr>
      </a:lvl2pPr>
      <a:lvl3pPr marL="5486390" indent="-1097277" algn="l" defTabSz="4389112" rtl="0" eaLnBrk="1" latinLnBrk="0" hangingPunct="1">
        <a:lnSpc>
          <a:spcPct val="90000"/>
        </a:lnSpc>
        <a:spcBef>
          <a:spcPts val="2400"/>
        </a:spcBef>
        <a:buFont typeface="Arial" panose="020B0604020202020204" pitchFamily="34" charset="0"/>
        <a:buChar char="•"/>
        <a:defRPr sz="9601" kern="1200">
          <a:solidFill>
            <a:schemeClr val="tx1"/>
          </a:solidFill>
          <a:latin typeface="+mn-lt"/>
          <a:ea typeface="+mn-ea"/>
          <a:cs typeface="+mn-cs"/>
        </a:defRPr>
      </a:lvl3pPr>
      <a:lvl4pPr marL="7680945" indent="-1097277" algn="l" defTabSz="4389112" rtl="0" eaLnBrk="1" latinLnBrk="0" hangingPunct="1">
        <a:lnSpc>
          <a:spcPct val="90000"/>
        </a:lnSpc>
        <a:spcBef>
          <a:spcPts val="2400"/>
        </a:spcBef>
        <a:buFont typeface="Arial" panose="020B0604020202020204" pitchFamily="34" charset="0"/>
        <a:buChar char="•"/>
        <a:defRPr sz="8641" kern="1200">
          <a:solidFill>
            <a:schemeClr val="tx1"/>
          </a:solidFill>
          <a:latin typeface="+mn-lt"/>
          <a:ea typeface="+mn-ea"/>
          <a:cs typeface="+mn-cs"/>
        </a:defRPr>
      </a:lvl4pPr>
      <a:lvl5pPr marL="9875500" indent="-1097277" algn="l" defTabSz="4389112" rtl="0" eaLnBrk="1" latinLnBrk="0" hangingPunct="1">
        <a:lnSpc>
          <a:spcPct val="90000"/>
        </a:lnSpc>
        <a:spcBef>
          <a:spcPts val="2400"/>
        </a:spcBef>
        <a:buFont typeface="Arial" panose="020B0604020202020204" pitchFamily="34" charset="0"/>
        <a:buChar char="•"/>
        <a:defRPr sz="8641" kern="1200">
          <a:solidFill>
            <a:schemeClr val="tx1"/>
          </a:solidFill>
          <a:latin typeface="+mn-lt"/>
          <a:ea typeface="+mn-ea"/>
          <a:cs typeface="+mn-cs"/>
        </a:defRPr>
      </a:lvl5pPr>
      <a:lvl6pPr marL="12070055" indent="-1097277" algn="l" defTabSz="4389112" rtl="0" eaLnBrk="1" latinLnBrk="0" hangingPunct="1">
        <a:lnSpc>
          <a:spcPct val="90000"/>
        </a:lnSpc>
        <a:spcBef>
          <a:spcPts val="2400"/>
        </a:spcBef>
        <a:buFont typeface="Arial" panose="020B0604020202020204" pitchFamily="34" charset="0"/>
        <a:buChar char="•"/>
        <a:defRPr sz="8641" kern="1200">
          <a:solidFill>
            <a:schemeClr val="tx1"/>
          </a:solidFill>
          <a:latin typeface="+mn-lt"/>
          <a:ea typeface="+mn-ea"/>
          <a:cs typeface="+mn-cs"/>
        </a:defRPr>
      </a:lvl6pPr>
      <a:lvl7pPr marL="14264612" indent="-1097277" algn="l" defTabSz="4389112" rtl="0" eaLnBrk="1" latinLnBrk="0" hangingPunct="1">
        <a:lnSpc>
          <a:spcPct val="90000"/>
        </a:lnSpc>
        <a:spcBef>
          <a:spcPts val="2400"/>
        </a:spcBef>
        <a:buFont typeface="Arial" panose="020B0604020202020204" pitchFamily="34" charset="0"/>
        <a:buChar char="•"/>
        <a:defRPr sz="8641" kern="1200">
          <a:solidFill>
            <a:schemeClr val="tx1"/>
          </a:solidFill>
          <a:latin typeface="+mn-lt"/>
          <a:ea typeface="+mn-ea"/>
          <a:cs typeface="+mn-cs"/>
        </a:defRPr>
      </a:lvl7pPr>
      <a:lvl8pPr marL="16459167" indent="-1097277" algn="l" defTabSz="4389112" rtl="0" eaLnBrk="1" latinLnBrk="0" hangingPunct="1">
        <a:lnSpc>
          <a:spcPct val="90000"/>
        </a:lnSpc>
        <a:spcBef>
          <a:spcPts val="2400"/>
        </a:spcBef>
        <a:buFont typeface="Arial" panose="020B0604020202020204" pitchFamily="34" charset="0"/>
        <a:buChar char="•"/>
        <a:defRPr sz="8641" kern="1200">
          <a:solidFill>
            <a:schemeClr val="tx1"/>
          </a:solidFill>
          <a:latin typeface="+mn-lt"/>
          <a:ea typeface="+mn-ea"/>
          <a:cs typeface="+mn-cs"/>
        </a:defRPr>
      </a:lvl8pPr>
      <a:lvl9pPr marL="18653722" indent="-1097277" algn="l" defTabSz="4389112" rtl="0" eaLnBrk="1" latinLnBrk="0" hangingPunct="1">
        <a:lnSpc>
          <a:spcPct val="90000"/>
        </a:lnSpc>
        <a:spcBef>
          <a:spcPts val="2400"/>
        </a:spcBef>
        <a:buFont typeface="Arial" panose="020B0604020202020204" pitchFamily="34" charset="0"/>
        <a:buChar char="•"/>
        <a:defRPr sz="8641" kern="1200">
          <a:solidFill>
            <a:schemeClr val="tx1"/>
          </a:solidFill>
          <a:latin typeface="+mn-lt"/>
          <a:ea typeface="+mn-ea"/>
          <a:cs typeface="+mn-cs"/>
        </a:defRPr>
      </a:lvl9pPr>
    </p:bodyStyle>
    <p:otherStyle>
      <a:defPPr>
        <a:defRPr lang="en-US"/>
      </a:defPPr>
      <a:lvl1pPr marL="0" algn="l" defTabSz="4389112" rtl="0" eaLnBrk="1" latinLnBrk="0" hangingPunct="1">
        <a:defRPr sz="8641" kern="1200">
          <a:solidFill>
            <a:schemeClr val="tx1"/>
          </a:solidFill>
          <a:latin typeface="+mn-lt"/>
          <a:ea typeface="+mn-ea"/>
          <a:cs typeface="+mn-cs"/>
        </a:defRPr>
      </a:lvl1pPr>
      <a:lvl2pPr marL="2194555" algn="l" defTabSz="4389112" rtl="0" eaLnBrk="1" latinLnBrk="0" hangingPunct="1">
        <a:defRPr sz="8641" kern="1200">
          <a:solidFill>
            <a:schemeClr val="tx1"/>
          </a:solidFill>
          <a:latin typeface="+mn-lt"/>
          <a:ea typeface="+mn-ea"/>
          <a:cs typeface="+mn-cs"/>
        </a:defRPr>
      </a:lvl2pPr>
      <a:lvl3pPr marL="4389112" algn="l" defTabSz="4389112" rtl="0" eaLnBrk="1" latinLnBrk="0" hangingPunct="1">
        <a:defRPr sz="8641" kern="1200">
          <a:solidFill>
            <a:schemeClr val="tx1"/>
          </a:solidFill>
          <a:latin typeface="+mn-lt"/>
          <a:ea typeface="+mn-ea"/>
          <a:cs typeface="+mn-cs"/>
        </a:defRPr>
      </a:lvl3pPr>
      <a:lvl4pPr marL="6583667" algn="l" defTabSz="4389112" rtl="0" eaLnBrk="1" latinLnBrk="0" hangingPunct="1">
        <a:defRPr sz="8641" kern="1200">
          <a:solidFill>
            <a:schemeClr val="tx1"/>
          </a:solidFill>
          <a:latin typeface="+mn-lt"/>
          <a:ea typeface="+mn-ea"/>
          <a:cs typeface="+mn-cs"/>
        </a:defRPr>
      </a:lvl4pPr>
      <a:lvl5pPr marL="8778222" algn="l" defTabSz="4389112" rtl="0" eaLnBrk="1" latinLnBrk="0" hangingPunct="1">
        <a:defRPr sz="8641" kern="1200">
          <a:solidFill>
            <a:schemeClr val="tx1"/>
          </a:solidFill>
          <a:latin typeface="+mn-lt"/>
          <a:ea typeface="+mn-ea"/>
          <a:cs typeface="+mn-cs"/>
        </a:defRPr>
      </a:lvl5pPr>
      <a:lvl6pPr marL="10972777" algn="l" defTabSz="4389112" rtl="0" eaLnBrk="1" latinLnBrk="0" hangingPunct="1">
        <a:defRPr sz="8641" kern="1200">
          <a:solidFill>
            <a:schemeClr val="tx1"/>
          </a:solidFill>
          <a:latin typeface="+mn-lt"/>
          <a:ea typeface="+mn-ea"/>
          <a:cs typeface="+mn-cs"/>
        </a:defRPr>
      </a:lvl6pPr>
      <a:lvl7pPr marL="13167335" algn="l" defTabSz="4389112" rtl="0" eaLnBrk="1" latinLnBrk="0" hangingPunct="1">
        <a:defRPr sz="8641" kern="1200">
          <a:solidFill>
            <a:schemeClr val="tx1"/>
          </a:solidFill>
          <a:latin typeface="+mn-lt"/>
          <a:ea typeface="+mn-ea"/>
          <a:cs typeface="+mn-cs"/>
        </a:defRPr>
      </a:lvl7pPr>
      <a:lvl8pPr marL="15361890" algn="l" defTabSz="4389112" rtl="0" eaLnBrk="1" latinLnBrk="0" hangingPunct="1">
        <a:defRPr sz="8641" kern="1200">
          <a:solidFill>
            <a:schemeClr val="tx1"/>
          </a:solidFill>
          <a:latin typeface="+mn-lt"/>
          <a:ea typeface="+mn-ea"/>
          <a:cs typeface="+mn-cs"/>
        </a:defRPr>
      </a:lvl8pPr>
      <a:lvl9pPr marL="17556444" algn="l" defTabSz="4389112" rtl="0" eaLnBrk="1" latinLnBrk="0" hangingPunct="1">
        <a:defRPr sz="864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jp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jp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jpg"/><Relationship Id="rId5" Type="http://schemas.openxmlformats.org/officeDocument/2006/relationships/image" Target="../media/image4.png"/><Relationship Id="rId15" Type="http://schemas.openxmlformats.org/officeDocument/2006/relationships/image" Target="../media/image13.jpg"/><Relationship Id="rId10" Type="http://schemas.openxmlformats.org/officeDocument/2006/relationships/image" Target="../media/image8.jpg"/><Relationship Id="rId4" Type="http://schemas.openxmlformats.org/officeDocument/2006/relationships/image" Target="../media/image3.png"/><Relationship Id="rId9" Type="http://schemas.openxmlformats.org/officeDocument/2006/relationships/image" Target="../media/image7.jpg"/><Relationship Id="rId14" Type="http://schemas.openxmlformats.org/officeDocument/2006/relationships/image" Target="../media/image12.jpg"/></Relationships>
</file>

<file path=ppt/slides/_rels/slide2.xml.rels><?xml version="1.0" encoding="UTF-8" standalone="yes"?>
<Relationships xmlns="http://schemas.openxmlformats.org/package/2006/relationships"><Relationship Id="rId13" Type="http://schemas.openxmlformats.org/officeDocument/2006/relationships/image" Target="../media/image26.png"/><Relationship Id="rId18" Type="http://schemas.openxmlformats.org/officeDocument/2006/relationships/image" Target="../media/image17.png"/><Relationship Id="rId26" Type="http://schemas.openxmlformats.org/officeDocument/2006/relationships/image" Target="../media/image37.png"/><Relationship Id="rId21" Type="http://schemas.openxmlformats.org/officeDocument/2006/relationships/image" Target="../media/image32.png"/><Relationship Id="rId34" Type="http://schemas.openxmlformats.org/officeDocument/2006/relationships/image" Target="../media/image45.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6.png"/><Relationship Id="rId33" Type="http://schemas.openxmlformats.org/officeDocument/2006/relationships/image" Target="../media/image44.png"/><Relationship Id="rId2" Type="http://schemas.openxmlformats.org/officeDocument/2006/relationships/image" Target="../media/image15.png"/><Relationship Id="rId16" Type="http://schemas.openxmlformats.org/officeDocument/2006/relationships/image" Target="../media/image29.png"/><Relationship Id="rId20" Type="http://schemas.openxmlformats.org/officeDocument/2006/relationships/image" Target="../media/image31.png"/><Relationship Id="rId29"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24" Type="http://schemas.openxmlformats.org/officeDocument/2006/relationships/image" Target="../media/image35.png"/><Relationship Id="rId32" Type="http://schemas.openxmlformats.org/officeDocument/2006/relationships/image" Target="../media/image43.png"/><Relationship Id="rId37" Type="http://schemas.openxmlformats.org/officeDocument/2006/relationships/image" Target="../media/image48.png"/><Relationship Id="rId5" Type="http://schemas.openxmlformats.org/officeDocument/2006/relationships/image" Target="../media/image18.png"/><Relationship Id="rId15" Type="http://schemas.openxmlformats.org/officeDocument/2006/relationships/image" Target="../media/image28.png"/><Relationship Id="rId23" Type="http://schemas.openxmlformats.org/officeDocument/2006/relationships/image" Target="../media/image34.png"/><Relationship Id="rId28" Type="http://schemas.openxmlformats.org/officeDocument/2006/relationships/image" Target="../media/image39.png"/><Relationship Id="rId36" Type="http://schemas.openxmlformats.org/officeDocument/2006/relationships/image" Target="../media/image47.png"/><Relationship Id="rId10" Type="http://schemas.openxmlformats.org/officeDocument/2006/relationships/image" Target="../media/image23.png"/><Relationship Id="rId19" Type="http://schemas.openxmlformats.org/officeDocument/2006/relationships/image" Target="../media/image27.png"/><Relationship Id="rId31" Type="http://schemas.openxmlformats.org/officeDocument/2006/relationships/image" Target="../media/image42.png"/><Relationship Id="rId4" Type="http://schemas.openxmlformats.org/officeDocument/2006/relationships/image" Target="../media/image15.jpg"/><Relationship Id="rId9" Type="http://schemas.openxmlformats.org/officeDocument/2006/relationships/image" Target="../media/image22.png"/><Relationship Id="rId14" Type="http://schemas.openxmlformats.org/officeDocument/2006/relationships/image" Target="../media/image16.png"/><Relationship Id="rId22" Type="http://schemas.openxmlformats.org/officeDocument/2006/relationships/image" Target="../media/image33.png"/><Relationship Id="rId27" Type="http://schemas.openxmlformats.org/officeDocument/2006/relationships/image" Target="../media/image38.png"/><Relationship Id="rId30" Type="http://schemas.openxmlformats.org/officeDocument/2006/relationships/image" Target="../media/image41.png"/><Relationship Id="rId35" Type="http://schemas.openxmlformats.org/officeDocument/2006/relationships/image" Target="../media/image46.png"/><Relationship Id="rId8" Type="http://schemas.openxmlformats.org/officeDocument/2006/relationships/image" Target="../media/image21.png"/><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EB71819-99D7-60CD-5F16-69843EA6CCEF}"/>
              </a:ext>
            </a:extLst>
          </p:cNvPr>
          <p:cNvSpPr txBox="1"/>
          <p:nvPr/>
        </p:nvSpPr>
        <p:spPr>
          <a:xfrm>
            <a:off x="2756970" y="5859169"/>
            <a:ext cx="13546760" cy="5108065"/>
          </a:xfrm>
          <a:prstGeom prst="rect">
            <a:avLst/>
          </a:prstGeom>
          <a:noFill/>
        </p:spPr>
        <p:txBody>
          <a:bodyPr wrap="square">
            <a:spAutoFit/>
          </a:bodyPr>
          <a:lstStyle/>
          <a:p>
            <a:pPr algn="just">
              <a:spcAft>
                <a:spcPts val="3599"/>
              </a:spcAft>
            </a:pPr>
            <a:r>
              <a:rPr lang="en-US" altLang="zh-CN" sz="4399" b="1" dirty="0">
                <a:solidFill>
                  <a:srgbClr val="003DA5"/>
                </a:solidFill>
                <a:latin typeface="Arial" panose="020B0604020202020204" pitchFamily="34" charset="0"/>
                <a:ea typeface="Cambria Math" panose="02040503050406030204" pitchFamily="18" charset="0"/>
                <a:cs typeface="Arial" panose="020B0604020202020204" pitchFamily="34" charset="0"/>
              </a:rPr>
              <a:t>Introduction</a:t>
            </a:r>
            <a:endParaRPr lang="zh-CN" altLang="en-US" sz="4399" b="1" dirty="0">
              <a:solidFill>
                <a:srgbClr val="003DA5"/>
              </a:solidFill>
              <a:latin typeface="Arial" panose="020B0604020202020204" pitchFamily="34" charset="0"/>
              <a:cs typeface="Arial" panose="020B0604020202020204" pitchFamily="34" charset="0"/>
            </a:endParaRPr>
          </a:p>
          <a:p>
            <a:pPr algn="just"/>
            <a:r>
              <a:rPr lang="en-US" altLang="zh-CN" sz="3599" dirty="0">
                <a:latin typeface="Arial" panose="020B0604020202020204" pitchFamily="34" charset="0"/>
                <a:ea typeface="Cambria Math" panose="02040503050406030204" pitchFamily="18" charset="0"/>
                <a:cs typeface="Arial" panose="020B0604020202020204" pitchFamily="34" charset="0"/>
              </a:rPr>
              <a:t>In physiology, proprioceptors called spindles, located in the belly of muscles, facilitate physical interactions by sensing self-movement and body position and eliciting muscle contractions in response to stretch. This phenomenon called the stretch reflex [1], serves as a low-level feedback loop. Muscles governed by the stretch reflex act as non-linear springs, adjusting resting lengths while maintaining constant non-linear stiffness [2].</a:t>
            </a:r>
          </a:p>
        </p:txBody>
      </p:sp>
      <p:sp>
        <p:nvSpPr>
          <p:cNvPr id="5" name="TextBox 4">
            <a:extLst>
              <a:ext uri="{FF2B5EF4-FFF2-40B4-BE49-F238E27FC236}">
                <a16:creationId xmlns:a16="http://schemas.microsoft.com/office/drawing/2014/main" id="{F14AA7C3-9889-D518-B7C6-C5B5C1271345}"/>
              </a:ext>
            </a:extLst>
          </p:cNvPr>
          <p:cNvSpPr txBox="1"/>
          <p:nvPr/>
        </p:nvSpPr>
        <p:spPr>
          <a:xfrm>
            <a:off x="6454107" y="1247610"/>
            <a:ext cx="30982981" cy="2308324"/>
          </a:xfrm>
          <a:prstGeom prst="rect">
            <a:avLst/>
          </a:prstGeom>
          <a:noFill/>
        </p:spPr>
        <p:txBody>
          <a:bodyPr wrap="square" rtlCol="0">
            <a:spAutoFit/>
          </a:bodyPr>
          <a:lstStyle/>
          <a:p>
            <a:pPr algn="ctr"/>
            <a:r>
              <a:rPr lang="en-US" altLang="zh-CN" sz="7200" b="1" dirty="0">
                <a:solidFill>
                  <a:srgbClr val="003DA5"/>
                </a:solidFill>
                <a:latin typeface="Arial" panose="020B0604020202020204" pitchFamily="34" charset="0"/>
                <a:cs typeface="Arial" panose="020B0604020202020204" pitchFamily="34" charset="0"/>
              </a:rPr>
              <a:t>Spinal-like stretch reflex enhances impedance modulation range for antagonistic pneumatic artificial muscles</a:t>
            </a:r>
          </a:p>
        </p:txBody>
      </p:sp>
      <p:sp>
        <p:nvSpPr>
          <p:cNvPr id="6" name="TextBox 5">
            <a:extLst>
              <a:ext uri="{FF2B5EF4-FFF2-40B4-BE49-F238E27FC236}">
                <a16:creationId xmlns:a16="http://schemas.microsoft.com/office/drawing/2014/main" id="{D0A95C85-248D-B225-5933-0DBA564BFC41}"/>
              </a:ext>
            </a:extLst>
          </p:cNvPr>
          <p:cNvSpPr txBox="1"/>
          <p:nvPr/>
        </p:nvSpPr>
        <p:spPr>
          <a:xfrm>
            <a:off x="15464466" y="3832373"/>
            <a:ext cx="12973079" cy="769313"/>
          </a:xfrm>
          <a:prstGeom prst="rect">
            <a:avLst/>
          </a:prstGeom>
          <a:noFill/>
        </p:spPr>
        <p:txBody>
          <a:bodyPr wrap="square">
            <a:spAutoFit/>
          </a:bodyPr>
          <a:lstStyle/>
          <a:p>
            <a:pPr algn="ctr"/>
            <a:r>
              <a:rPr lang="en-US" altLang="zh-CN" sz="4399" dirty="0">
                <a:solidFill>
                  <a:srgbClr val="003DA5"/>
                </a:solidFill>
                <a:latin typeface="Arial" panose="020B0604020202020204" pitchFamily="34" charset="0"/>
                <a:ea typeface="Cambria Math" panose="02040503050406030204" pitchFamily="18" charset="0"/>
                <a:cs typeface="Arial" panose="020B0604020202020204" pitchFamily="34" charset="0"/>
              </a:rPr>
              <a:t>Xinyao Wang, </a:t>
            </a:r>
            <a:r>
              <a:rPr lang="en-US" altLang="zh-CN" sz="4399" dirty="0" err="1">
                <a:solidFill>
                  <a:srgbClr val="003DA5"/>
                </a:solidFill>
                <a:latin typeface="Arial" panose="020B0604020202020204" pitchFamily="34" charset="0"/>
                <a:ea typeface="Cambria Math" panose="02040503050406030204" pitchFamily="18" charset="0"/>
                <a:cs typeface="Arial" panose="020B0604020202020204" pitchFamily="34" charset="0"/>
              </a:rPr>
              <a:t>Tuo</a:t>
            </a:r>
            <a:r>
              <a:rPr lang="en-US" altLang="zh-CN" sz="4399" dirty="0">
                <a:solidFill>
                  <a:srgbClr val="003DA5"/>
                </a:solidFill>
                <a:latin typeface="Arial" panose="020B0604020202020204" pitchFamily="34" charset="0"/>
                <a:ea typeface="Cambria Math" panose="02040503050406030204" pitchFamily="18" charset="0"/>
                <a:cs typeface="Arial" panose="020B0604020202020204" pitchFamily="34" charset="0"/>
              </a:rPr>
              <a:t> Liu, Jonathan Realmuto</a:t>
            </a:r>
            <a:endParaRPr lang="zh-CN" altLang="en-US" sz="4399" dirty="0">
              <a:solidFill>
                <a:srgbClr val="003DA5"/>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745E303-CB90-BDCD-F31A-AD3550E4933B}"/>
              </a:ext>
            </a:extLst>
          </p:cNvPr>
          <p:cNvSpPr txBox="1"/>
          <p:nvPr/>
        </p:nvSpPr>
        <p:spPr>
          <a:xfrm>
            <a:off x="2765833" y="18282950"/>
            <a:ext cx="13744450" cy="5661935"/>
          </a:xfrm>
          <a:prstGeom prst="rect">
            <a:avLst/>
          </a:prstGeom>
          <a:noFill/>
        </p:spPr>
        <p:txBody>
          <a:bodyPr wrap="square">
            <a:spAutoFit/>
          </a:bodyPr>
          <a:lstStyle/>
          <a:p>
            <a:pPr algn="just">
              <a:spcAft>
                <a:spcPts val="3599"/>
              </a:spcAft>
            </a:pPr>
            <a:r>
              <a:rPr lang="en-US" altLang="zh-CN" sz="4399" b="1" dirty="0">
                <a:solidFill>
                  <a:srgbClr val="003DA5"/>
                </a:solidFill>
                <a:latin typeface="Arial" panose="020B0604020202020204" pitchFamily="34" charset="0"/>
                <a:ea typeface="Cambria Math" panose="02040503050406030204" pitchFamily="18" charset="0"/>
                <a:cs typeface="Arial" panose="020B0604020202020204" pitchFamily="34" charset="0"/>
              </a:rPr>
              <a:t>Setups and Methods</a:t>
            </a:r>
            <a:endParaRPr lang="en-US" altLang="zh-CN" sz="4399" dirty="0">
              <a:solidFill>
                <a:srgbClr val="003DA5"/>
              </a:solidFill>
              <a:latin typeface="Arial" panose="020B0604020202020204" pitchFamily="34" charset="0"/>
              <a:ea typeface="Cambria Math" panose="02040503050406030204" pitchFamily="18" charset="0"/>
              <a:cs typeface="Arial" panose="020B0604020202020204" pitchFamily="34" charset="0"/>
            </a:endParaRPr>
          </a:p>
          <a:p>
            <a:pPr algn="just"/>
            <a:r>
              <a:rPr lang="en-US" altLang="zh-CN" sz="3599" dirty="0">
                <a:latin typeface="Arial" panose="020B0604020202020204" pitchFamily="34" charset="0"/>
                <a:ea typeface="Cambria Math" panose="02040503050406030204" pitchFamily="18" charset="0"/>
                <a:cs typeface="Arial" panose="020B0604020202020204" pitchFamily="34" charset="0"/>
              </a:rPr>
              <a:t>Data and actuators are collected and controlled by a </a:t>
            </a:r>
            <a:r>
              <a:rPr lang="en-US" altLang="zh-CN" sz="3599" dirty="0" err="1">
                <a:latin typeface="Arial" panose="020B0604020202020204" pitchFamily="34" charset="0"/>
                <a:ea typeface="Cambria Math" panose="02040503050406030204" pitchFamily="18" charset="0"/>
                <a:cs typeface="Arial" panose="020B0604020202020204" pitchFamily="34" charset="0"/>
              </a:rPr>
              <a:t>BeagleBone</a:t>
            </a:r>
            <a:r>
              <a:rPr lang="en-US" altLang="zh-CN" sz="3599" dirty="0">
                <a:latin typeface="Arial" panose="020B0604020202020204" pitchFamily="34" charset="0"/>
                <a:ea typeface="Cambria Math" panose="02040503050406030204" pitchFamily="18" charset="0"/>
                <a:cs typeface="Arial" panose="020B0604020202020204" pitchFamily="34" charset="0"/>
              </a:rPr>
              <a:t> Board.</a:t>
            </a:r>
          </a:p>
          <a:p>
            <a:pPr marL="571500" indent="-571500" algn="just">
              <a:buFont typeface="Arial" panose="020B0604020202020204" pitchFamily="34" charset="0"/>
              <a:buChar char="•"/>
            </a:pPr>
            <a:r>
              <a:rPr lang="en-US" altLang="zh-CN" sz="3599" dirty="0">
                <a:latin typeface="Arial" panose="020B0604020202020204" pitchFamily="34" charset="0"/>
                <a:ea typeface="Cambria Math" panose="02040503050406030204" pitchFamily="18" charset="0"/>
                <a:cs typeface="Arial" panose="020B0604020202020204" pitchFamily="34" charset="0"/>
              </a:rPr>
              <a:t>The single PAM experimental platform consists of a PAM in series with a load cell and a linear actuator.</a:t>
            </a:r>
          </a:p>
          <a:p>
            <a:pPr marL="457200" indent="-457200" algn="just">
              <a:buFont typeface="Arial" panose="020B0604020202020204" pitchFamily="34" charset="0"/>
              <a:buChar char="•"/>
            </a:pPr>
            <a:r>
              <a:rPr lang="en-US" altLang="zh-CN" sz="3599" dirty="0">
                <a:latin typeface="Arial" panose="020B0604020202020204" pitchFamily="34" charset="0"/>
                <a:ea typeface="Cambria Math" panose="02040503050406030204" pitchFamily="18" charset="0"/>
                <a:cs typeface="Arial" panose="020B0604020202020204" pitchFamily="34" charset="0"/>
              </a:rPr>
              <a:t>The antagonistic experimental platform consists of two PAMs configured in opposition coupled via a shaft that is equipped with an encoder and connected to a high bandwidth DC motor</a:t>
            </a:r>
          </a:p>
          <a:p>
            <a:pPr algn="just"/>
            <a:endParaRPr lang="en-US" altLang="zh-CN" sz="3599" dirty="0">
              <a:latin typeface="Arial" panose="020B0604020202020204" pitchFamily="34" charset="0"/>
              <a:ea typeface="Cambria Math" panose="02040503050406030204" pitchFamily="18" charset="0"/>
              <a:cs typeface="Arial" panose="020B0604020202020204" pitchFamily="34" charset="0"/>
            </a:endParaRPr>
          </a:p>
        </p:txBody>
      </p:sp>
      <p:sp>
        <p:nvSpPr>
          <p:cNvPr id="8" name="TextBox 7">
            <a:extLst>
              <a:ext uri="{FF2B5EF4-FFF2-40B4-BE49-F238E27FC236}">
                <a16:creationId xmlns:a16="http://schemas.microsoft.com/office/drawing/2014/main" id="{19C79BC3-2992-7AAF-C48A-7289726F98C7}"/>
              </a:ext>
            </a:extLst>
          </p:cNvPr>
          <p:cNvSpPr txBox="1"/>
          <p:nvPr/>
        </p:nvSpPr>
        <p:spPr>
          <a:xfrm>
            <a:off x="30205465" y="21013496"/>
            <a:ext cx="10642300" cy="4000326"/>
          </a:xfrm>
          <a:prstGeom prst="rect">
            <a:avLst/>
          </a:prstGeom>
          <a:noFill/>
        </p:spPr>
        <p:txBody>
          <a:bodyPr wrap="square">
            <a:spAutoFit/>
          </a:bodyPr>
          <a:lstStyle/>
          <a:p>
            <a:pPr algn="just">
              <a:spcAft>
                <a:spcPts val="3599"/>
              </a:spcAft>
            </a:pPr>
            <a:r>
              <a:rPr lang="en-US" altLang="zh-CN" sz="4399" b="1" dirty="0">
                <a:solidFill>
                  <a:srgbClr val="003DA5"/>
                </a:solidFill>
                <a:latin typeface="Arial" panose="020B0604020202020204" pitchFamily="34" charset="0"/>
                <a:ea typeface="Cambria Math" panose="02040503050406030204" pitchFamily="18" charset="0"/>
                <a:cs typeface="Arial" panose="020B0604020202020204" pitchFamily="34" charset="0"/>
              </a:rPr>
              <a:t>Conclusion</a:t>
            </a:r>
            <a:endParaRPr lang="zh-CN" altLang="en-US" sz="4399" b="1" dirty="0">
              <a:solidFill>
                <a:srgbClr val="003DA5"/>
              </a:solidFill>
              <a:latin typeface="Arial" panose="020B0604020202020204" pitchFamily="34" charset="0"/>
              <a:cs typeface="Arial" panose="020B0604020202020204" pitchFamily="34" charset="0"/>
            </a:endParaRPr>
          </a:p>
          <a:p>
            <a:pPr algn="just"/>
            <a:r>
              <a:rPr lang="en-US" altLang="zh-CN" sz="3599" dirty="0">
                <a:latin typeface="Arial" panose="020B0604020202020204" pitchFamily="34" charset="0"/>
                <a:ea typeface="Cambria Math" panose="02040503050406030204" pitchFamily="18" charset="0"/>
                <a:cs typeface="Arial" panose="020B0604020202020204" pitchFamily="34" charset="0"/>
              </a:rPr>
              <a:t>We developed a stretch reflex controller that can enhance the PAM stiffness while keep the same equilibrium point. The most novel point is that we can design different pressure function to change the stiffness value as we want, </a:t>
            </a:r>
          </a:p>
        </p:txBody>
      </p:sp>
      <p:pic>
        <p:nvPicPr>
          <p:cNvPr id="1026" name="Picture 2">
            <a:extLst>
              <a:ext uri="{FF2B5EF4-FFF2-40B4-BE49-F238E27FC236}">
                <a16:creationId xmlns:a16="http://schemas.microsoft.com/office/drawing/2014/main" id="{A8405699-FE3F-6772-E003-1BEC51DA7D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517" y="1280782"/>
            <a:ext cx="4931946" cy="150091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AC04A2D-67A9-92F8-E87C-E25CA10B88B5}"/>
                  </a:ext>
                </a:extLst>
              </p:cNvPr>
              <p:cNvSpPr txBox="1"/>
              <p:nvPr/>
            </p:nvSpPr>
            <p:spPr>
              <a:xfrm>
                <a:off x="17561168" y="13126030"/>
                <a:ext cx="11776146" cy="6215804"/>
              </a:xfrm>
              <a:prstGeom prst="rect">
                <a:avLst/>
              </a:prstGeom>
              <a:noFill/>
            </p:spPr>
            <p:txBody>
              <a:bodyPr wrap="square">
                <a:spAutoFit/>
              </a:bodyPr>
              <a:lstStyle/>
              <a:p>
                <a:pPr algn="just">
                  <a:spcAft>
                    <a:spcPts val="3599"/>
                  </a:spcAft>
                </a:pPr>
                <a:r>
                  <a:rPr lang="en-US" altLang="zh-CN" sz="4399" b="1" dirty="0">
                    <a:solidFill>
                      <a:srgbClr val="003DA5"/>
                    </a:solidFill>
                    <a:latin typeface="Arial" panose="020B0604020202020204" pitchFamily="34" charset="0"/>
                    <a:ea typeface="Cambria Math" panose="02040503050406030204" pitchFamily="18" charset="0"/>
                    <a:cs typeface="Arial" panose="020B0604020202020204" pitchFamily="34" charset="0"/>
                  </a:rPr>
                  <a:t>Result</a:t>
                </a:r>
                <a:endParaRPr lang="zh-CN" altLang="en-US" sz="4399" b="1" dirty="0">
                  <a:solidFill>
                    <a:srgbClr val="003DA5"/>
                  </a:solidFill>
                  <a:latin typeface="Arial" panose="020B0604020202020204" pitchFamily="34" charset="0"/>
                  <a:cs typeface="Arial" panose="020B0604020202020204" pitchFamily="34" charset="0"/>
                </a:endParaRPr>
              </a:p>
              <a:p>
                <a:pPr algn="just"/>
                <a:r>
                  <a:rPr lang="en-US" altLang="zh-CN" sz="3599" dirty="0">
                    <a:latin typeface="Arial" panose="020B0604020202020204" pitchFamily="34" charset="0"/>
                    <a:ea typeface="Cambria Math" panose="02040503050406030204" pitchFamily="18" charset="0"/>
                    <a:cs typeface="Arial" panose="020B0604020202020204" pitchFamily="34" charset="0"/>
                  </a:rPr>
                  <a:t>The single PAM property surfaces with and without reflex controller are shown in Figure 4, where </a:t>
                </a:r>
                <a14:m>
                  <m:oMath xmlns:m="http://schemas.openxmlformats.org/officeDocument/2006/math">
                    <m:sSub>
                      <m:sSubPr>
                        <m:ctrlPr>
                          <a:rPr lang="en-US" altLang="zh-CN" sz="3599" i="1">
                            <a:latin typeface="Cambria Math" panose="02040503050406030204" pitchFamily="18" charset="0"/>
                            <a:ea typeface="Cambria Math" panose="02040503050406030204" pitchFamily="18" charset="0"/>
                            <a:cs typeface="Arial" panose="020B0604020202020204" pitchFamily="34" charset="0"/>
                          </a:rPr>
                        </m:ctrlPr>
                      </m:sSubPr>
                      <m:e>
                        <m:r>
                          <a:rPr lang="en-US" altLang="zh-CN" sz="3599" i="1">
                            <a:latin typeface="Cambria Math" panose="02040503050406030204" pitchFamily="18" charset="0"/>
                            <a:ea typeface="Cambria Math" panose="02040503050406030204" pitchFamily="18" charset="0"/>
                            <a:cs typeface="Arial" panose="020B0604020202020204" pitchFamily="34" charset="0"/>
                          </a:rPr>
                          <m:t>𝐿</m:t>
                        </m:r>
                      </m:e>
                      <m:sub>
                        <m:r>
                          <a:rPr lang="en-US" altLang="zh-CN" sz="3599" i="1">
                            <a:latin typeface="Cambria Math" panose="02040503050406030204" pitchFamily="18" charset="0"/>
                            <a:ea typeface="Cambria Math" panose="02040503050406030204" pitchFamily="18" charset="0"/>
                            <a:cs typeface="Arial" panose="020B0604020202020204" pitchFamily="34" charset="0"/>
                          </a:rPr>
                          <m:t>𝑑</m:t>
                        </m:r>
                      </m:sub>
                    </m:sSub>
                  </m:oMath>
                </a14:m>
                <a:r>
                  <a:rPr lang="en-US" altLang="zh-CN" sz="3599" dirty="0">
                    <a:latin typeface="Arial" panose="020B0604020202020204" pitchFamily="34" charset="0"/>
                    <a:ea typeface="Cambria Math" panose="02040503050406030204" pitchFamily="18" charset="0"/>
                    <a:cs typeface="Arial" panose="020B0604020202020204" pitchFamily="34" charset="0"/>
                  </a:rPr>
                  <a:t> is the desired length of PAM, force and displacement are transferred to joint torque and angle). The results show that the PAM has more stiffness at the same angle with the same desired length. By combining two PAMs antagonistically as a joint, theoretical joint angle and stiffness models are generated, as shown in Fig.5, the joint stiffness with reflex controller has been enhanced.</a:t>
                </a:r>
                <a:endParaRPr lang="en-US" sz="3599" kern="100" dirty="0">
                  <a:latin typeface="Calibri" panose="020F0502020204030204" pitchFamily="34" charset="0"/>
                  <a:ea typeface="DengXian" panose="02010600030101010101" pitchFamily="2" charset="-122"/>
                  <a:cs typeface="Times New Roman" panose="02020603050405020304" pitchFamily="18" charset="0"/>
                </a:endParaRPr>
              </a:p>
            </p:txBody>
          </p:sp>
        </mc:Choice>
        <mc:Fallback xmlns="">
          <p:sp>
            <p:nvSpPr>
              <p:cNvPr id="21" name="TextBox 20">
                <a:extLst>
                  <a:ext uri="{FF2B5EF4-FFF2-40B4-BE49-F238E27FC236}">
                    <a16:creationId xmlns:a16="http://schemas.microsoft.com/office/drawing/2014/main" id="{6AC04A2D-67A9-92F8-E87C-E25CA10B88B5}"/>
                  </a:ext>
                </a:extLst>
              </p:cNvPr>
              <p:cNvSpPr txBox="1">
                <a:spLocks noRot="1" noChangeAspect="1" noMove="1" noResize="1" noEditPoints="1" noAdjustHandles="1" noChangeArrowheads="1" noChangeShapeType="1" noTextEdit="1"/>
              </p:cNvSpPr>
              <p:nvPr/>
            </p:nvSpPr>
            <p:spPr>
              <a:xfrm>
                <a:off x="17561168" y="13126030"/>
                <a:ext cx="11776146" cy="6215804"/>
              </a:xfrm>
              <a:prstGeom prst="rect">
                <a:avLst/>
              </a:prstGeom>
              <a:blipFill>
                <a:blip r:embed="rId3"/>
                <a:stretch>
                  <a:fillRect l="-2122" t="-2059" r="-1553" b="-2549"/>
                </a:stretch>
              </a:blipFill>
            </p:spPr>
            <p:txBody>
              <a:bodyPr/>
              <a:lstStyle/>
              <a:p>
                <a:r>
                  <a:rPr lang="zh-CN" altLang="en-US">
                    <a:noFill/>
                  </a:rPr>
                  <a:t> </a:t>
                </a:r>
              </a:p>
            </p:txBody>
          </p:sp>
        </mc:Fallback>
      </mc:AlternateContent>
      <p:sp>
        <p:nvSpPr>
          <p:cNvPr id="1112" name="TextBox 1111">
            <a:extLst>
              <a:ext uri="{FF2B5EF4-FFF2-40B4-BE49-F238E27FC236}">
                <a16:creationId xmlns:a16="http://schemas.microsoft.com/office/drawing/2014/main" id="{ECD16B33-F751-833F-BBF2-0D01D409EFBA}"/>
              </a:ext>
            </a:extLst>
          </p:cNvPr>
          <p:cNvSpPr txBox="1"/>
          <p:nvPr/>
        </p:nvSpPr>
        <p:spPr>
          <a:xfrm>
            <a:off x="12092413" y="4623387"/>
            <a:ext cx="19706389" cy="708014"/>
          </a:xfrm>
          <a:prstGeom prst="rect">
            <a:avLst/>
          </a:prstGeom>
          <a:noFill/>
        </p:spPr>
        <p:txBody>
          <a:bodyPr wrap="square">
            <a:spAutoFit/>
          </a:bodyPr>
          <a:lstStyle/>
          <a:p>
            <a:pPr algn="ctr"/>
            <a:r>
              <a:rPr lang="en-US" altLang="zh-CN" sz="4001" dirty="0">
                <a:solidFill>
                  <a:srgbClr val="003DA5"/>
                </a:solidFill>
                <a:latin typeface="Arial" panose="020B0604020202020204" pitchFamily="34" charset="0"/>
                <a:ea typeface="Cambria Math" panose="02040503050406030204" pitchFamily="18" charset="0"/>
                <a:cs typeface="Arial" panose="020B0604020202020204" pitchFamily="34" charset="0"/>
              </a:rPr>
              <a:t>Department of Mechanical Engineering, University of California Riverside, CA,USA</a:t>
            </a:r>
            <a:endParaRPr lang="zh-CN" altLang="en-US" sz="4001" dirty="0">
              <a:solidFill>
                <a:srgbClr val="003DA5"/>
              </a:solidFill>
              <a:latin typeface="Arial" panose="020B0604020202020204" pitchFamily="34" charset="0"/>
              <a:cs typeface="Arial" panose="020B0604020202020204" pitchFamily="34" charset="0"/>
            </a:endParaRPr>
          </a:p>
        </p:txBody>
      </p:sp>
      <p:cxnSp>
        <p:nvCxnSpPr>
          <p:cNvPr id="1114" name="Straight Connector 1113">
            <a:extLst>
              <a:ext uri="{FF2B5EF4-FFF2-40B4-BE49-F238E27FC236}">
                <a16:creationId xmlns:a16="http://schemas.microsoft.com/office/drawing/2014/main" id="{3E80C77A-58A5-93A6-60FA-F2116C618C40}"/>
              </a:ext>
            </a:extLst>
          </p:cNvPr>
          <p:cNvCxnSpPr>
            <a:cxnSpLocks/>
          </p:cNvCxnSpPr>
          <p:nvPr/>
        </p:nvCxnSpPr>
        <p:spPr>
          <a:xfrm>
            <a:off x="6454107" y="6279436"/>
            <a:ext cx="10056176" cy="0"/>
          </a:xfrm>
          <a:prstGeom prst="line">
            <a:avLst/>
          </a:prstGeom>
          <a:ln w="38100">
            <a:solidFill>
              <a:srgbClr val="003DA5"/>
            </a:solidFill>
          </a:ln>
        </p:spPr>
        <p:style>
          <a:lnRef idx="1">
            <a:schemeClr val="accent1"/>
          </a:lnRef>
          <a:fillRef idx="0">
            <a:schemeClr val="accent1"/>
          </a:fillRef>
          <a:effectRef idx="0">
            <a:schemeClr val="accent1"/>
          </a:effectRef>
          <a:fontRef idx="minor">
            <a:schemeClr val="tx1"/>
          </a:fontRef>
        </p:style>
      </p:cxnSp>
      <p:cxnSp>
        <p:nvCxnSpPr>
          <p:cNvPr id="1119" name="Straight Connector 1118">
            <a:extLst>
              <a:ext uri="{FF2B5EF4-FFF2-40B4-BE49-F238E27FC236}">
                <a16:creationId xmlns:a16="http://schemas.microsoft.com/office/drawing/2014/main" id="{578C2927-F0ED-F556-D565-7EFD44F6C1C8}"/>
              </a:ext>
            </a:extLst>
          </p:cNvPr>
          <p:cNvCxnSpPr>
            <a:cxnSpLocks/>
          </p:cNvCxnSpPr>
          <p:nvPr/>
        </p:nvCxnSpPr>
        <p:spPr>
          <a:xfrm>
            <a:off x="8698523" y="18710953"/>
            <a:ext cx="7811760" cy="0"/>
          </a:xfrm>
          <a:prstGeom prst="line">
            <a:avLst/>
          </a:prstGeom>
          <a:ln w="38100">
            <a:solidFill>
              <a:srgbClr val="003DA5"/>
            </a:solidFill>
          </a:ln>
        </p:spPr>
        <p:style>
          <a:lnRef idx="1">
            <a:schemeClr val="accent1"/>
          </a:lnRef>
          <a:fillRef idx="0">
            <a:schemeClr val="accent1"/>
          </a:fillRef>
          <a:effectRef idx="0">
            <a:schemeClr val="accent1"/>
          </a:effectRef>
          <a:fontRef idx="minor">
            <a:schemeClr val="tx1"/>
          </a:fontRef>
        </p:style>
      </p:cxnSp>
      <p:cxnSp>
        <p:nvCxnSpPr>
          <p:cNvPr id="1121" name="Straight Connector 1120">
            <a:extLst>
              <a:ext uri="{FF2B5EF4-FFF2-40B4-BE49-F238E27FC236}">
                <a16:creationId xmlns:a16="http://schemas.microsoft.com/office/drawing/2014/main" id="{B82C0CCB-A817-4743-234A-2608B518C664}"/>
              </a:ext>
            </a:extLst>
          </p:cNvPr>
          <p:cNvCxnSpPr>
            <a:cxnSpLocks/>
          </p:cNvCxnSpPr>
          <p:nvPr/>
        </p:nvCxnSpPr>
        <p:spPr>
          <a:xfrm>
            <a:off x="19858892" y="13520279"/>
            <a:ext cx="21124884" cy="100285"/>
          </a:xfrm>
          <a:prstGeom prst="line">
            <a:avLst/>
          </a:prstGeom>
          <a:ln w="38100">
            <a:solidFill>
              <a:srgbClr val="003DA5"/>
            </a:solidFill>
          </a:ln>
        </p:spPr>
        <p:style>
          <a:lnRef idx="1">
            <a:schemeClr val="accent1"/>
          </a:lnRef>
          <a:fillRef idx="0">
            <a:schemeClr val="accent1"/>
          </a:fillRef>
          <a:effectRef idx="0">
            <a:schemeClr val="accent1"/>
          </a:effectRef>
          <a:fontRef idx="minor">
            <a:schemeClr val="tx1"/>
          </a:fontRef>
        </p:style>
      </p:cxnSp>
      <p:cxnSp>
        <p:nvCxnSpPr>
          <p:cNvPr id="1122" name="Straight Connector 1121">
            <a:extLst>
              <a:ext uri="{FF2B5EF4-FFF2-40B4-BE49-F238E27FC236}">
                <a16:creationId xmlns:a16="http://schemas.microsoft.com/office/drawing/2014/main" id="{CF074203-8D25-4DE6-DF9F-726E268ABF72}"/>
              </a:ext>
            </a:extLst>
          </p:cNvPr>
          <p:cNvCxnSpPr>
            <a:cxnSpLocks/>
          </p:cNvCxnSpPr>
          <p:nvPr/>
        </p:nvCxnSpPr>
        <p:spPr>
          <a:xfrm flipV="1">
            <a:off x="33685316" y="21434405"/>
            <a:ext cx="7308236" cy="149"/>
          </a:xfrm>
          <a:prstGeom prst="line">
            <a:avLst/>
          </a:prstGeom>
          <a:ln w="38100">
            <a:solidFill>
              <a:srgbClr val="003DA5"/>
            </a:solidFill>
          </a:ln>
        </p:spPr>
        <p:style>
          <a:lnRef idx="1">
            <a:schemeClr val="accent1"/>
          </a:lnRef>
          <a:fillRef idx="0">
            <a:schemeClr val="accent1"/>
          </a:fillRef>
          <a:effectRef idx="0">
            <a:schemeClr val="accent1"/>
          </a:effectRef>
          <a:fontRef idx="minor">
            <a:schemeClr val="tx1"/>
          </a:fontRef>
        </p:style>
      </p:cxnSp>
      <p:pic>
        <p:nvPicPr>
          <p:cNvPr id="1068" name="Picture 1067">
            <a:extLst>
              <a:ext uri="{FF2B5EF4-FFF2-40B4-BE49-F238E27FC236}">
                <a16:creationId xmlns:a16="http://schemas.microsoft.com/office/drawing/2014/main" id="{7E84A1E2-3544-A9FA-485C-C29ABECCEB61}"/>
              </a:ext>
            </a:extLst>
          </p:cNvPr>
          <p:cNvPicPr>
            <a:picLocks noChangeAspect="1"/>
          </p:cNvPicPr>
          <p:nvPr/>
        </p:nvPicPr>
        <p:blipFill rotWithShape="1">
          <a:blip r:embed="rId4">
            <a:extLst>
              <a:ext uri="{28A0092B-C50C-407E-A947-70E740481C1C}">
                <a14:useLocalDpi xmlns:a14="http://schemas.microsoft.com/office/drawing/2010/main" val="0"/>
              </a:ext>
            </a:extLst>
          </a:blip>
          <a:srcRect l="1374" r="1068"/>
          <a:stretch/>
        </p:blipFill>
        <p:spPr>
          <a:xfrm>
            <a:off x="3693734" y="11652312"/>
            <a:ext cx="5478398" cy="3842721"/>
          </a:xfrm>
          <a:custGeom>
            <a:avLst/>
            <a:gdLst>
              <a:gd name="connsiteX0" fmla="*/ 91 w 6593542"/>
              <a:gd name="connsiteY0" fmla="*/ 69 h 4962675"/>
              <a:gd name="connsiteX1" fmla="*/ 6593634 w 6593542"/>
              <a:gd name="connsiteY1" fmla="*/ 69 h 4962675"/>
              <a:gd name="connsiteX2" fmla="*/ 6593634 w 6593542"/>
              <a:gd name="connsiteY2" fmla="*/ 4962744 h 4962675"/>
              <a:gd name="connsiteX3" fmla="*/ 91 w 6593542"/>
              <a:gd name="connsiteY3" fmla="*/ 4962744 h 4962675"/>
            </a:gdLst>
            <a:ahLst/>
            <a:cxnLst>
              <a:cxn ang="0">
                <a:pos x="connsiteX0" y="connsiteY0"/>
              </a:cxn>
              <a:cxn ang="0">
                <a:pos x="connsiteX1" y="connsiteY1"/>
              </a:cxn>
              <a:cxn ang="0">
                <a:pos x="connsiteX2" y="connsiteY2"/>
              </a:cxn>
              <a:cxn ang="0">
                <a:pos x="connsiteX3" y="connsiteY3"/>
              </a:cxn>
            </a:cxnLst>
            <a:rect l="l" t="t" r="r" b="b"/>
            <a:pathLst>
              <a:path w="6593542" h="4962675">
                <a:moveTo>
                  <a:pt x="91" y="69"/>
                </a:moveTo>
                <a:lnTo>
                  <a:pt x="6593634" y="69"/>
                </a:lnTo>
                <a:lnTo>
                  <a:pt x="6593634" y="4962744"/>
                </a:lnTo>
                <a:lnTo>
                  <a:pt x="91" y="4962744"/>
                </a:lnTo>
                <a:close/>
              </a:path>
            </a:pathLst>
          </a:custGeom>
        </p:spPr>
      </p:pic>
      <p:pic>
        <p:nvPicPr>
          <p:cNvPr id="16" name="Picture 15">
            <a:extLst>
              <a:ext uri="{FF2B5EF4-FFF2-40B4-BE49-F238E27FC236}">
                <a16:creationId xmlns:a16="http://schemas.microsoft.com/office/drawing/2014/main" id="{31971045-1C69-B234-FF83-F2CDEB2FFA4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602578" y="11398560"/>
            <a:ext cx="5817797" cy="4579215"/>
          </a:xfrm>
          <a:prstGeom prst="rect">
            <a:avLst/>
          </a:prstGeom>
        </p:spPr>
      </p:pic>
      <p:sp>
        <p:nvSpPr>
          <p:cNvPr id="30" name="TextBox 29">
            <a:extLst>
              <a:ext uri="{FF2B5EF4-FFF2-40B4-BE49-F238E27FC236}">
                <a16:creationId xmlns:a16="http://schemas.microsoft.com/office/drawing/2014/main" id="{13E53847-12FB-C86D-3B07-4D4E16BFAC1D}"/>
              </a:ext>
            </a:extLst>
          </p:cNvPr>
          <p:cNvSpPr txBox="1"/>
          <p:nvPr/>
        </p:nvSpPr>
        <p:spPr>
          <a:xfrm>
            <a:off x="2741766" y="15918306"/>
            <a:ext cx="13546760" cy="1815369"/>
          </a:xfrm>
          <a:prstGeom prst="rect">
            <a:avLst/>
          </a:prstGeom>
          <a:noFill/>
        </p:spPr>
        <p:txBody>
          <a:bodyPr wrap="square">
            <a:spAutoFit/>
          </a:bodyPr>
          <a:lstStyle/>
          <a:p>
            <a:pPr algn="just"/>
            <a:r>
              <a:rPr lang="en-US" altLang="zh-CN" sz="2799" b="1" dirty="0">
                <a:solidFill>
                  <a:prstClr val="black"/>
                </a:solidFill>
                <a:latin typeface="Arial" panose="020B0604020202020204" pitchFamily="34" charset="0"/>
                <a:ea typeface="Cambria Math" panose="02040503050406030204" pitchFamily="18" charset="0"/>
                <a:cs typeface="Arial" panose="020B0604020202020204" pitchFamily="34" charset="0"/>
              </a:rPr>
              <a:t>Figure 1. Conceptual illustrates of the proposed reflex method. (a) The artificial reflex mimics the biological reflex loop with an event detection algorithm that directly triggers the valve state.. (b) Comparison of the net stiffness (dashed lines) with (red curves) and without (blue curves) the artificial reflex.</a:t>
            </a:r>
            <a:endParaRPr lang="en-US" sz="1600" b="1" dirty="0"/>
          </a:p>
        </p:txBody>
      </p:sp>
      <p:sp>
        <p:nvSpPr>
          <p:cNvPr id="1127" name="TextBox 1126">
            <a:extLst>
              <a:ext uri="{FF2B5EF4-FFF2-40B4-BE49-F238E27FC236}">
                <a16:creationId xmlns:a16="http://schemas.microsoft.com/office/drawing/2014/main" id="{4FFB371B-177A-DD23-ABFD-2EBA99594BB3}"/>
              </a:ext>
            </a:extLst>
          </p:cNvPr>
          <p:cNvSpPr txBox="1"/>
          <p:nvPr/>
        </p:nvSpPr>
        <p:spPr>
          <a:xfrm>
            <a:off x="3542299" y="11106172"/>
            <a:ext cx="774700" cy="584775"/>
          </a:xfrm>
          <a:prstGeom prst="rect">
            <a:avLst/>
          </a:prstGeom>
          <a:noFill/>
        </p:spPr>
        <p:txBody>
          <a:bodyPr wrap="square">
            <a:spAutoFit/>
          </a:bodyPr>
          <a:lstStyle/>
          <a:p>
            <a:r>
              <a:rPr lang="en-US" altLang="zh-CN" sz="3200" dirty="0">
                <a:solidFill>
                  <a:prstClr val="black"/>
                </a:solidFill>
                <a:latin typeface="Arial" panose="020B0604020202020204" pitchFamily="34" charset="0"/>
                <a:ea typeface="Cambria Math" panose="02040503050406030204" pitchFamily="18" charset="0"/>
                <a:cs typeface="Arial" panose="020B0604020202020204" pitchFamily="34" charset="0"/>
              </a:rPr>
              <a:t>(a)</a:t>
            </a:r>
            <a:endParaRPr lang="en-US" sz="3200" dirty="0"/>
          </a:p>
        </p:txBody>
      </p:sp>
      <p:sp>
        <p:nvSpPr>
          <p:cNvPr id="1128" name="TextBox 1127">
            <a:extLst>
              <a:ext uri="{FF2B5EF4-FFF2-40B4-BE49-F238E27FC236}">
                <a16:creationId xmlns:a16="http://schemas.microsoft.com/office/drawing/2014/main" id="{3931A686-E898-B5F2-0169-28F249DF985B}"/>
              </a:ext>
            </a:extLst>
          </p:cNvPr>
          <p:cNvSpPr txBox="1"/>
          <p:nvPr/>
        </p:nvSpPr>
        <p:spPr>
          <a:xfrm>
            <a:off x="10571030" y="11120335"/>
            <a:ext cx="774700" cy="584775"/>
          </a:xfrm>
          <a:prstGeom prst="rect">
            <a:avLst/>
          </a:prstGeom>
          <a:noFill/>
        </p:spPr>
        <p:txBody>
          <a:bodyPr wrap="square">
            <a:spAutoFit/>
          </a:bodyPr>
          <a:lstStyle/>
          <a:p>
            <a:r>
              <a:rPr lang="en-US" altLang="zh-CN" sz="3200" dirty="0">
                <a:solidFill>
                  <a:prstClr val="black"/>
                </a:solidFill>
                <a:latin typeface="Arial" panose="020B0604020202020204" pitchFamily="34" charset="0"/>
                <a:ea typeface="Cambria Math" panose="02040503050406030204" pitchFamily="18" charset="0"/>
                <a:cs typeface="Arial" panose="020B0604020202020204" pitchFamily="34" charset="0"/>
              </a:rPr>
              <a:t>(b)</a:t>
            </a:r>
            <a:endParaRPr lang="en-US" sz="3200" dirty="0"/>
          </a:p>
        </p:txBody>
      </p:sp>
      <p:sp>
        <p:nvSpPr>
          <p:cNvPr id="1107" name="TextBox 1106">
            <a:extLst>
              <a:ext uri="{FF2B5EF4-FFF2-40B4-BE49-F238E27FC236}">
                <a16:creationId xmlns:a16="http://schemas.microsoft.com/office/drawing/2014/main" id="{C38C5383-8D22-B3D2-C571-465B74050C94}"/>
              </a:ext>
            </a:extLst>
          </p:cNvPr>
          <p:cNvSpPr txBox="1"/>
          <p:nvPr/>
        </p:nvSpPr>
        <p:spPr>
          <a:xfrm>
            <a:off x="30205465" y="19477475"/>
            <a:ext cx="10778311" cy="1384610"/>
          </a:xfrm>
          <a:prstGeom prst="rect">
            <a:avLst/>
          </a:prstGeom>
          <a:noFill/>
        </p:spPr>
        <p:txBody>
          <a:bodyPr wrap="square">
            <a:spAutoFit/>
          </a:bodyPr>
          <a:lstStyle/>
          <a:p>
            <a:pPr algn="just"/>
            <a:r>
              <a:rPr lang="en-US" altLang="zh-CN" sz="2799" b="1" dirty="0">
                <a:solidFill>
                  <a:prstClr val="black"/>
                </a:solidFill>
                <a:latin typeface="Arial" panose="020B0604020202020204" pitchFamily="34" charset="0"/>
                <a:ea typeface="Cambria Math" panose="02040503050406030204" pitchFamily="18" charset="0"/>
                <a:cs typeface="Arial" panose="020B0604020202020204" pitchFamily="34" charset="0"/>
              </a:rPr>
              <a:t>Figure 5. Comparison of theoretical surfaces with and without reflex controller. (a) Joint angle comparison. (b) Joint stiffness comparison.</a:t>
            </a:r>
            <a:endParaRPr lang="en-US" sz="1600" b="1" dirty="0"/>
          </a:p>
        </p:txBody>
      </p:sp>
      <p:sp>
        <p:nvSpPr>
          <p:cNvPr id="1060" name="TextBox 1059">
            <a:extLst>
              <a:ext uri="{FF2B5EF4-FFF2-40B4-BE49-F238E27FC236}">
                <a16:creationId xmlns:a16="http://schemas.microsoft.com/office/drawing/2014/main" id="{6FF6598A-9A50-3F5C-A05E-DBEA511B2A8E}"/>
              </a:ext>
            </a:extLst>
          </p:cNvPr>
          <p:cNvSpPr txBox="1"/>
          <p:nvPr/>
        </p:nvSpPr>
        <p:spPr>
          <a:xfrm>
            <a:off x="30205465" y="30069538"/>
            <a:ext cx="11592042" cy="584775"/>
          </a:xfrm>
          <a:prstGeom prst="rect">
            <a:avLst/>
          </a:prstGeom>
          <a:noFill/>
        </p:spPr>
        <p:txBody>
          <a:bodyPr wrap="square">
            <a:spAutoFit/>
          </a:bodyPr>
          <a:lstStyle/>
          <a:p>
            <a:pPr algn="just"/>
            <a:r>
              <a:rPr lang="en-US" altLang="zh-CN" sz="3200" b="1" dirty="0">
                <a:latin typeface="Arial" panose="020B0604020202020204" pitchFamily="34" charset="0"/>
                <a:ea typeface="Cambria Math" panose="02040503050406030204" pitchFamily="18" charset="0"/>
                <a:cs typeface="Arial" panose="020B0604020202020204" pitchFamily="34" charset="0"/>
              </a:rPr>
              <a:t>This research was supported by NSF award CMMI 2221315.</a:t>
            </a:r>
          </a:p>
        </p:txBody>
      </p:sp>
      <p:grpSp>
        <p:nvGrpSpPr>
          <p:cNvPr id="1160" name="组合 1159">
            <a:extLst>
              <a:ext uri="{FF2B5EF4-FFF2-40B4-BE49-F238E27FC236}">
                <a16:creationId xmlns:a16="http://schemas.microsoft.com/office/drawing/2014/main" id="{0615B6DF-A171-C33C-3951-7EDB99A663D3}"/>
              </a:ext>
            </a:extLst>
          </p:cNvPr>
          <p:cNvGrpSpPr/>
          <p:nvPr/>
        </p:nvGrpSpPr>
        <p:grpSpPr>
          <a:xfrm>
            <a:off x="2741766" y="23619019"/>
            <a:ext cx="13959177" cy="7035294"/>
            <a:chOff x="2741766" y="23619019"/>
            <a:chExt cx="13959177" cy="7035294"/>
          </a:xfrm>
        </p:grpSpPr>
        <p:sp>
          <p:nvSpPr>
            <p:cNvPr id="1058" name="TextBox 1057">
              <a:extLst>
                <a:ext uri="{FF2B5EF4-FFF2-40B4-BE49-F238E27FC236}">
                  <a16:creationId xmlns:a16="http://schemas.microsoft.com/office/drawing/2014/main" id="{3C78A16E-D3A1-2B57-42BC-DD28C257482F}"/>
                </a:ext>
              </a:extLst>
            </p:cNvPr>
            <p:cNvSpPr txBox="1"/>
            <p:nvPr/>
          </p:nvSpPr>
          <p:spPr>
            <a:xfrm>
              <a:off x="2741766" y="29700462"/>
              <a:ext cx="13768517" cy="953851"/>
            </a:xfrm>
            <a:prstGeom prst="rect">
              <a:avLst/>
            </a:prstGeom>
            <a:noFill/>
          </p:spPr>
          <p:txBody>
            <a:bodyPr wrap="square">
              <a:spAutoFit/>
            </a:bodyPr>
            <a:lstStyle/>
            <a:p>
              <a:pPr algn="just"/>
              <a:r>
                <a:rPr lang="en-US" altLang="zh-CN" sz="2799" b="1" dirty="0">
                  <a:solidFill>
                    <a:prstClr val="black"/>
                  </a:solidFill>
                  <a:latin typeface="Arial" panose="020B0604020202020204" pitchFamily="34" charset="0"/>
                  <a:ea typeface="Cambria Math" panose="02040503050406030204" pitchFamily="18" charset="0"/>
                  <a:cs typeface="Arial" panose="020B0604020202020204" pitchFamily="34" charset="0"/>
                </a:rPr>
                <a:t>Figure 2. Experiment setups. (a) Single pneumatic muscle property test setup. (b) Antagonistic setup for system identification. </a:t>
              </a:r>
              <a:endParaRPr lang="en-US" sz="1600" b="1" dirty="0"/>
            </a:p>
          </p:txBody>
        </p:sp>
        <p:pic>
          <p:nvPicPr>
            <p:cNvPr id="26" name="Picture 25">
              <a:extLst>
                <a:ext uri="{FF2B5EF4-FFF2-40B4-BE49-F238E27FC236}">
                  <a16:creationId xmlns:a16="http://schemas.microsoft.com/office/drawing/2014/main" id="{AB9C5A28-0797-CC2C-CC33-86E9FD6C16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09147" y="23686311"/>
              <a:ext cx="6836440" cy="5799451"/>
            </a:xfrm>
            <a:prstGeom prst="rect">
              <a:avLst/>
            </a:prstGeom>
          </p:spPr>
        </p:pic>
        <p:pic>
          <p:nvPicPr>
            <p:cNvPr id="31" name="Picture 30">
              <a:extLst>
                <a:ext uri="{FF2B5EF4-FFF2-40B4-BE49-F238E27FC236}">
                  <a16:creationId xmlns:a16="http://schemas.microsoft.com/office/drawing/2014/main" id="{FAE91AC9-30B1-686C-99A8-A06336C38EF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455625" y="23619019"/>
              <a:ext cx="7245318" cy="5749844"/>
            </a:xfrm>
            <a:prstGeom prst="rect">
              <a:avLst/>
            </a:prstGeom>
          </p:spPr>
        </p:pic>
        <p:sp>
          <p:nvSpPr>
            <p:cNvPr id="37" name="TextBox 36">
              <a:extLst>
                <a:ext uri="{FF2B5EF4-FFF2-40B4-BE49-F238E27FC236}">
                  <a16:creationId xmlns:a16="http://schemas.microsoft.com/office/drawing/2014/main" id="{6C312E17-30C1-EA41-0FBE-6FA8E9B4DA54}"/>
                </a:ext>
              </a:extLst>
            </p:cNvPr>
            <p:cNvSpPr txBox="1"/>
            <p:nvPr/>
          </p:nvSpPr>
          <p:spPr>
            <a:xfrm>
              <a:off x="2919034" y="23652497"/>
              <a:ext cx="774700" cy="584775"/>
            </a:xfrm>
            <a:prstGeom prst="rect">
              <a:avLst/>
            </a:prstGeom>
            <a:noFill/>
          </p:spPr>
          <p:txBody>
            <a:bodyPr wrap="square">
              <a:spAutoFit/>
            </a:bodyPr>
            <a:lstStyle/>
            <a:p>
              <a:r>
                <a:rPr lang="en-US" altLang="zh-CN" sz="3200" dirty="0">
                  <a:solidFill>
                    <a:prstClr val="black"/>
                  </a:solidFill>
                  <a:latin typeface="Arial" panose="020B0604020202020204" pitchFamily="34" charset="0"/>
                  <a:ea typeface="Cambria Math" panose="02040503050406030204" pitchFamily="18" charset="0"/>
                  <a:cs typeface="Arial" panose="020B0604020202020204" pitchFamily="34" charset="0"/>
                </a:rPr>
                <a:t>(a)</a:t>
              </a:r>
              <a:endParaRPr lang="en-US" sz="3200" dirty="0"/>
            </a:p>
          </p:txBody>
        </p:sp>
        <p:sp>
          <p:nvSpPr>
            <p:cNvPr id="38" name="TextBox 37">
              <a:extLst>
                <a:ext uri="{FF2B5EF4-FFF2-40B4-BE49-F238E27FC236}">
                  <a16:creationId xmlns:a16="http://schemas.microsoft.com/office/drawing/2014/main" id="{A849B938-5815-5EF7-1B1B-E15B997DE61A}"/>
                </a:ext>
              </a:extLst>
            </p:cNvPr>
            <p:cNvSpPr txBox="1"/>
            <p:nvPr/>
          </p:nvSpPr>
          <p:spPr>
            <a:xfrm>
              <a:off x="9796330" y="23652497"/>
              <a:ext cx="774700" cy="584775"/>
            </a:xfrm>
            <a:prstGeom prst="rect">
              <a:avLst/>
            </a:prstGeom>
            <a:noFill/>
          </p:spPr>
          <p:txBody>
            <a:bodyPr wrap="square">
              <a:spAutoFit/>
            </a:bodyPr>
            <a:lstStyle/>
            <a:p>
              <a:r>
                <a:rPr lang="en-US" altLang="zh-CN" sz="3200" dirty="0">
                  <a:solidFill>
                    <a:prstClr val="black"/>
                  </a:solidFill>
                  <a:latin typeface="Arial" panose="020B0604020202020204" pitchFamily="34" charset="0"/>
                  <a:ea typeface="Cambria Math" panose="02040503050406030204" pitchFamily="18" charset="0"/>
                  <a:cs typeface="Arial" panose="020B0604020202020204" pitchFamily="34" charset="0"/>
                </a:rPr>
                <a:t>(b)</a:t>
              </a:r>
              <a:endParaRPr lang="en-US" sz="3200" dirty="0"/>
            </a:p>
          </p:txBody>
        </p:sp>
      </p:gr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78A51501-3334-18EE-0B51-75D113BD5AED}"/>
                  </a:ext>
                </a:extLst>
              </p:cNvPr>
              <p:cNvSpPr txBox="1"/>
              <p:nvPr/>
            </p:nvSpPr>
            <p:spPr>
              <a:xfrm>
                <a:off x="17561169" y="5859169"/>
                <a:ext cx="23573060" cy="2307811"/>
              </a:xfrm>
              <a:prstGeom prst="rect">
                <a:avLst/>
              </a:prstGeom>
              <a:noFill/>
            </p:spPr>
            <p:txBody>
              <a:bodyPr wrap="square">
                <a:spAutoFit/>
              </a:bodyPr>
              <a:lstStyle/>
              <a:p>
                <a:pPr lvl="0" algn="just">
                  <a:defRPr/>
                </a:pPr>
                <a:r>
                  <a:rPr lang="en-US" altLang="zh-CN" sz="3599" dirty="0">
                    <a:solidFill>
                      <a:prstClr val="black"/>
                    </a:solidFill>
                    <a:latin typeface="Arial" panose="020B0604020202020204" pitchFamily="34" charset="0"/>
                    <a:ea typeface="Cambria Math" panose="02040503050406030204" pitchFamily="18" charset="0"/>
                    <a:cs typeface="Arial" panose="020B0604020202020204" pitchFamily="34" charset="0"/>
                  </a:rPr>
                  <a:t>The stretch reflex controller is as shown in Fig. 3. The controller takes the current PAM length as input and assesses how far it deviates from the desired PAM muscle length. The error signal goes through an activation function. The output of activation function, </a:t>
                </a:r>
                <a14:m>
                  <m:oMath xmlns:m="http://schemas.openxmlformats.org/officeDocument/2006/math">
                    <m:r>
                      <a:rPr lang="en-US" altLang="zh-CN" sz="3599" i="1" dirty="0" smtClean="0">
                        <a:solidFill>
                          <a:prstClr val="black"/>
                        </a:solidFill>
                        <a:latin typeface="Cambria Math" panose="02040503050406030204" pitchFamily="18" charset="0"/>
                        <a:ea typeface="Cambria Math" panose="02040503050406030204" pitchFamily="18" charset="0"/>
                        <a:cs typeface="Arial" panose="020B0604020202020204" pitchFamily="34" charset="0"/>
                      </a:rPr>
                      <m:t>𝑎</m:t>
                    </m:r>
                  </m:oMath>
                </a14:m>
                <a:r>
                  <a:rPr lang="en-US" altLang="zh-CN" sz="3599" dirty="0">
                    <a:solidFill>
                      <a:prstClr val="black"/>
                    </a:solidFill>
                    <a:latin typeface="Arial" panose="020B0604020202020204" pitchFamily="34" charset="0"/>
                    <a:ea typeface="Cambria Math" panose="02040503050406030204" pitchFamily="18" charset="0"/>
                    <a:cs typeface="Arial" panose="020B0604020202020204" pitchFamily="34" charset="0"/>
                  </a:rPr>
                  <a:t>, is compared to a threshold to determine the appropriate reflex action to calculate the new desired pressure and send it to PAM valve.</a:t>
                </a:r>
              </a:p>
            </p:txBody>
          </p:sp>
        </mc:Choice>
        <mc:Fallback xmlns="">
          <p:sp>
            <p:nvSpPr>
              <p:cNvPr id="22" name="文本框 21">
                <a:extLst>
                  <a:ext uri="{FF2B5EF4-FFF2-40B4-BE49-F238E27FC236}">
                    <a16:creationId xmlns:a16="http://schemas.microsoft.com/office/drawing/2014/main" id="{78A51501-3334-18EE-0B51-75D113BD5AED}"/>
                  </a:ext>
                </a:extLst>
              </p:cNvPr>
              <p:cNvSpPr txBox="1">
                <a:spLocks noRot="1" noChangeAspect="1" noMove="1" noResize="1" noEditPoints="1" noAdjustHandles="1" noChangeArrowheads="1" noChangeShapeType="1" noTextEdit="1"/>
              </p:cNvSpPr>
              <p:nvPr/>
            </p:nvSpPr>
            <p:spPr>
              <a:xfrm>
                <a:off x="17561169" y="5859169"/>
                <a:ext cx="23573060" cy="2307811"/>
              </a:xfrm>
              <a:prstGeom prst="rect">
                <a:avLst/>
              </a:prstGeom>
              <a:blipFill>
                <a:blip r:embed="rId8"/>
                <a:stretch>
                  <a:fillRect l="-802" t="-3958" r="-776" b="-8971"/>
                </a:stretch>
              </a:blipFill>
            </p:spPr>
            <p:txBody>
              <a:bodyPr/>
              <a:lstStyle/>
              <a:p>
                <a:r>
                  <a:rPr lang="zh-CN" altLang="en-US">
                    <a:noFill/>
                  </a:rPr>
                  <a:t> </a:t>
                </a:r>
              </a:p>
            </p:txBody>
          </p:sp>
        </mc:Fallback>
      </mc:AlternateContent>
      <p:pic>
        <p:nvPicPr>
          <p:cNvPr id="1117" name="图片 1116">
            <a:extLst>
              <a:ext uri="{FF2B5EF4-FFF2-40B4-BE49-F238E27FC236}">
                <a16:creationId xmlns:a16="http://schemas.microsoft.com/office/drawing/2014/main" id="{3EABEBD8-92CA-6DDC-1A11-79FF0F5BD6E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803481" y="8472846"/>
            <a:ext cx="20037552" cy="3291840"/>
          </a:xfrm>
          <a:prstGeom prst="rect">
            <a:avLst/>
          </a:prstGeom>
        </p:spPr>
      </p:pic>
      <p:sp>
        <p:nvSpPr>
          <p:cNvPr id="1118" name="TextBox 1057">
            <a:extLst>
              <a:ext uri="{FF2B5EF4-FFF2-40B4-BE49-F238E27FC236}">
                <a16:creationId xmlns:a16="http://schemas.microsoft.com/office/drawing/2014/main" id="{F8471E09-0FD2-787C-34BD-09674403BBC7}"/>
              </a:ext>
            </a:extLst>
          </p:cNvPr>
          <p:cNvSpPr txBox="1"/>
          <p:nvPr/>
        </p:nvSpPr>
        <p:spPr>
          <a:xfrm>
            <a:off x="18803481" y="11967463"/>
            <a:ext cx="20037552" cy="953851"/>
          </a:xfrm>
          <a:prstGeom prst="rect">
            <a:avLst/>
          </a:prstGeom>
          <a:noFill/>
        </p:spPr>
        <p:txBody>
          <a:bodyPr wrap="square">
            <a:spAutoFit/>
          </a:bodyPr>
          <a:lstStyle/>
          <a:p>
            <a:pPr algn="just"/>
            <a:r>
              <a:rPr lang="en-US" altLang="zh-CN" sz="2799" b="1" dirty="0">
                <a:solidFill>
                  <a:prstClr val="black"/>
                </a:solidFill>
                <a:latin typeface="Arial" panose="020B0604020202020204" pitchFamily="34" charset="0"/>
                <a:ea typeface="Cambria Math" panose="02040503050406030204" pitchFamily="18" charset="0"/>
                <a:cs typeface="Arial" panose="020B0604020202020204" pitchFamily="34" charset="0"/>
              </a:rPr>
              <a:t>Figure 3. The stretch reflex controller flowchart. Threshold crossings result in feed-forward reflex actions, when the reflex action is completed the reflex finite-state machine returns to the 'threshold detection' state.</a:t>
            </a:r>
            <a:endParaRPr lang="en-US" sz="1600" b="1" dirty="0"/>
          </a:p>
        </p:txBody>
      </p:sp>
      <p:grpSp>
        <p:nvGrpSpPr>
          <p:cNvPr id="1159" name="组合 1158">
            <a:extLst>
              <a:ext uri="{FF2B5EF4-FFF2-40B4-BE49-F238E27FC236}">
                <a16:creationId xmlns:a16="http://schemas.microsoft.com/office/drawing/2014/main" id="{4F579062-3803-7286-7E0F-787B8407D8F4}"/>
              </a:ext>
            </a:extLst>
          </p:cNvPr>
          <p:cNvGrpSpPr/>
          <p:nvPr/>
        </p:nvGrpSpPr>
        <p:grpSpPr>
          <a:xfrm>
            <a:off x="17561168" y="19866172"/>
            <a:ext cx="12075094" cy="10788141"/>
            <a:chOff x="17561168" y="19866172"/>
            <a:chExt cx="12075094" cy="10788141"/>
          </a:xfrm>
        </p:grpSpPr>
        <p:pic>
          <p:nvPicPr>
            <p:cNvPr id="1156" name="图片 1155">
              <a:extLst>
                <a:ext uri="{FF2B5EF4-FFF2-40B4-BE49-F238E27FC236}">
                  <a16:creationId xmlns:a16="http://schemas.microsoft.com/office/drawing/2014/main" id="{F4E1FAF2-BD44-220B-4E29-3B05C5DBAEC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498577" y="24559838"/>
              <a:ext cx="5912949" cy="4434712"/>
            </a:xfrm>
            <a:prstGeom prst="rect">
              <a:avLst/>
            </a:prstGeom>
          </p:spPr>
        </p:pic>
        <p:pic>
          <p:nvPicPr>
            <p:cNvPr id="1154" name="图片 1153">
              <a:extLst>
                <a:ext uri="{FF2B5EF4-FFF2-40B4-BE49-F238E27FC236}">
                  <a16:creationId xmlns:a16="http://schemas.microsoft.com/office/drawing/2014/main" id="{603215FA-B3EE-A84F-9C3A-2E77CABD8BE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3498578" y="19866172"/>
              <a:ext cx="5912949" cy="4434712"/>
            </a:xfrm>
            <a:prstGeom prst="rect">
              <a:avLst/>
            </a:prstGeom>
          </p:spPr>
        </p:pic>
        <p:pic>
          <p:nvPicPr>
            <p:cNvPr id="1158" name="图片 1157">
              <a:extLst>
                <a:ext uri="{FF2B5EF4-FFF2-40B4-BE49-F238E27FC236}">
                  <a16:creationId xmlns:a16="http://schemas.microsoft.com/office/drawing/2014/main" id="{10B08AB2-2066-8E41-4D77-CB1452820B1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7585630" y="24559839"/>
              <a:ext cx="5912949" cy="4434712"/>
            </a:xfrm>
            <a:prstGeom prst="rect">
              <a:avLst/>
            </a:prstGeom>
          </p:spPr>
        </p:pic>
        <p:pic>
          <p:nvPicPr>
            <p:cNvPr id="1152" name="图片 1151">
              <a:extLst>
                <a:ext uri="{FF2B5EF4-FFF2-40B4-BE49-F238E27FC236}">
                  <a16:creationId xmlns:a16="http://schemas.microsoft.com/office/drawing/2014/main" id="{44386BF0-D9F5-46F8-9B4A-7BD365DEBF3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7585630" y="19866172"/>
              <a:ext cx="5912948" cy="4434711"/>
            </a:xfrm>
            <a:prstGeom prst="rect">
              <a:avLst/>
            </a:prstGeom>
          </p:spPr>
        </p:pic>
        <p:sp>
          <p:nvSpPr>
            <p:cNvPr id="29" name="TextBox 28">
              <a:extLst>
                <a:ext uri="{FF2B5EF4-FFF2-40B4-BE49-F238E27FC236}">
                  <a16:creationId xmlns:a16="http://schemas.microsoft.com/office/drawing/2014/main" id="{BAAF1638-6E4B-4073-45F5-9CBE4B34E961}"/>
                </a:ext>
              </a:extLst>
            </p:cNvPr>
            <p:cNvSpPr txBox="1"/>
            <p:nvPr/>
          </p:nvSpPr>
          <p:spPr>
            <a:xfrm>
              <a:off x="17561168" y="29700462"/>
              <a:ext cx="12075094" cy="953851"/>
            </a:xfrm>
            <a:prstGeom prst="rect">
              <a:avLst/>
            </a:prstGeom>
            <a:noFill/>
          </p:spPr>
          <p:txBody>
            <a:bodyPr wrap="square">
              <a:spAutoFit/>
            </a:bodyPr>
            <a:lstStyle/>
            <a:p>
              <a:pPr algn="just"/>
              <a:r>
                <a:rPr lang="en-US" altLang="zh-CN" sz="2799" b="1" dirty="0">
                  <a:solidFill>
                    <a:prstClr val="black"/>
                  </a:solidFill>
                  <a:latin typeface="Arial" panose="020B0604020202020204" pitchFamily="34" charset="0"/>
                  <a:ea typeface="Cambria Math" panose="02040503050406030204" pitchFamily="18" charset="0"/>
                  <a:cs typeface="Arial" panose="020B0604020202020204" pitchFamily="34" charset="0"/>
                </a:rPr>
                <a:t>Figure 4. 3D surfaces of PAM properties for force (joint torque), and displacement (joint angle) with different desired length.</a:t>
              </a:r>
              <a:endParaRPr lang="en-US" sz="1600" b="1" dirty="0"/>
            </a:p>
          </p:txBody>
        </p:sp>
        <p:sp>
          <p:nvSpPr>
            <p:cNvPr id="1129" name="TextBox 1128">
              <a:extLst>
                <a:ext uri="{FF2B5EF4-FFF2-40B4-BE49-F238E27FC236}">
                  <a16:creationId xmlns:a16="http://schemas.microsoft.com/office/drawing/2014/main" id="{A0207DE0-7384-F89D-C808-79D92E14AB38}"/>
                </a:ext>
              </a:extLst>
            </p:cNvPr>
            <p:cNvSpPr txBox="1"/>
            <p:nvPr/>
          </p:nvSpPr>
          <p:spPr>
            <a:xfrm>
              <a:off x="18304707" y="20092271"/>
              <a:ext cx="774700" cy="584775"/>
            </a:xfrm>
            <a:prstGeom prst="rect">
              <a:avLst/>
            </a:prstGeom>
            <a:noFill/>
          </p:spPr>
          <p:txBody>
            <a:bodyPr wrap="square">
              <a:spAutoFit/>
            </a:bodyPr>
            <a:lstStyle/>
            <a:p>
              <a:r>
                <a:rPr lang="en-US" altLang="zh-CN" sz="3200" dirty="0">
                  <a:solidFill>
                    <a:prstClr val="black"/>
                  </a:solidFill>
                  <a:latin typeface="Arial" panose="020B0604020202020204" pitchFamily="34" charset="0"/>
                  <a:ea typeface="Cambria Math" panose="02040503050406030204" pitchFamily="18" charset="0"/>
                  <a:cs typeface="Arial" panose="020B0604020202020204" pitchFamily="34" charset="0"/>
                </a:rPr>
                <a:t>(a)</a:t>
              </a:r>
              <a:endParaRPr lang="en-US" sz="3200" dirty="0"/>
            </a:p>
          </p:txBody>
        </p:sp>
        <p:sp>
          <p:nvSpPr>
            <p:cNvPr id="1130" name="TextBox 1129">
              <a:extLst>
                <a:ext uri="{FF2B5EF4-FFF2-40B4-BE49-F238E27FC236}">
                  <a16:creationId xmlns:a16="http://schemas.microsoft.com/office/drawing/2014/main" id="{81AD00A4-F028-769B-1510-354C2DA6C378}"/>
                </a:ext>
              </a:extLst>
            </p:cNvPr>
            <p:cNvSpPr txBox="1"/>
            <p:nvPr/>
          </p:nvSpPr>
          <p:spPr>
            <a:xfrm>
              <a:off x="24292516" y="20092270"/>
              <a:ext cx="774700" cy="584775"/>
            </a:xfrm>
            <a:prstGeom prst="rect">
              <a:avLst/>
            </a:prstGeom>
            <a:noFill/>
          </p:spPr>
          <p:txBody>
            <a:bodyPr wrap="square">
              <a:spAutoFit/>
            </a:bodyPr>
            <a:lstStyle/>
            <a:p>
              <a:r>
                <a:rPr lang="en-US" altLang="zh-CN" sz="3200" dirty="0">
                  <a:solidFill>
                    <a:prstClr val="black"/>
                  </a:solidFill>
                  <a:latin typeface="Arial" panose="020B0604020202020204" pitchFamily="34" charset="0"/>
                  <a:ea typeface="Cambria Math" panose="02040503050406030204" pitchFamily="18" charset="0"/>
                  <a:cs typeface="Arial" panose="020B0604020202020204" pitchFamily="34" charset="0"/>
                </a:rPr>
                <a:t>(b)</a:t>
              </a:r>
              <a:endParaRPr lang="en-US" sz="3200" dirty="0"/>
            </a:p>
          </p:txBody>
        </p:sp>
        <p:sp>
          <p:nvSpPr>
            <p:cNvPr id="1145" name="TextBox 1128">
              <a:extLst>
                <a:ext uri="{FF2B5EF4-FFF2-40B4-BE49-F238E27FC236}">
                  <a16:creationId xmlns:a16="http://schemas.microsoft.com/office/drawing/2014/main" id="{61C67206-14C5-F099-1595-E7F105E6AC69}"/>
                </a:ext>
              </a:extLst>
            </p:cNvPr>
            <p:cNvSpPr txBox="1"/>
            <p:nvPr/>
          </p:nvSpPr>
          <p:spPr>
            <a:xfrm>
              <a:off x="18304707" y="24595870"/>
              <a:ext cx="774700" cy="584775"/>
            </a:xfrm>
            <a:prstGeom prst="rect">
              <a:avLst/>
            </a:prstGeom>
            <a:noFill/>
          </p:spPr>
          <p:txBody>
            <a:bodyPr wrap="square">
              <a:spAutoFit/>
            </a:bodyPr>
            <a:lstStyle/>
            <a:p>
              <a:r>
                <a:rPr lang="en-US" altLang="zh-CN" sz="3200" dirty="0">
                  <a:solidFill>
                    <a:prstClr val="black"/>
                  </a:solidFill>
                  <a:latin typeface="Arial" panose="020B0604020202020204" pitchFamily="34" charset="0"/>
                  <a:ea typeface="Cambria Math" panose="02040503050406030204" pitchFamily="18" charset="0"/>
                  <a:cs typeface="Arial" panose="020B0604020202020204" pitchFamily="34" charset="0"/>
                </a:rPr>
                <a:t>(c)</a:t>
              </a:r>
              <a:endParaRPr lang="en-US" sz="3200" dirty="0"/>
            </a:p>
          </p:txBody>
        </p:sp>
        <p:sp>
          <p:nvSpPr>
            <p:cNvPr id="1146" name="TextBox 1129">
              <a:extLst>
                <a:ext uri="{FF2B5EF4-FFF2-40B4-BE49-F238E27FC236}">
                  <a16:creationId xmlns:a16="http://schemas.microsoft.com/office/drawing/2014/main" id="{26178F4E-B9A8-16D8-3548-10E43FFF2CEB}"/>
                </a:ext>
              </a:extLst>
            </p:cNvPr>
            <p:cNvSpPr txBox="1"/>
            <p:nvPr/>
          </p:nvSpPr>
          <p:spPr>
            <a:xfrm>
              <a:off x="24292516" y="24752461"/>
              <a:ext cx="774700" cy="584775"/>
            </a:xfrm>
            <a:prstGeom prst="rect">
              <a:avLst/>
            </a:prstGeom>
            <a:noFill/>
          </p:spPr>
          <p:txBody>
            <a:bodyPr wrap="square">
              <a:spAutoFit/>
            </a:bodyPr>
            <a:lstStyle/>
            <a:p>
              <a:r>
                <a:rPr lang="en-US" altLang="zh-CN" sz="3200" dirty="0">
                  <a:solidFill>
                    <a:prstClr val="black"/>
                  </a:solidFill>
                  <a:latin typeface="Arial" panose="020B0604020202020204" pitchFamily="34" charset="0"/>
                  <a:ea typeface="Cambria Math" panose="02040503050406030204" pitchFamily="18" charset="0"/>
                  <a:cs typeface="Arial" panose="020B0604020202020204" pitchFamily="34" charset="0"/>
                </a:rPr>
                <a:t>(d)</a:t>
              </a:r>
              <a:endParaRPr lang="en-US" sz="3200" dirty="0"/>
            </a:p>
          </p:txBody>
        </p:sp>
      </p:grpSp>
      <p:pic>
        <p:nvPicPr>
          <p:cNvPr id="1162" name="图片 1161">
            <a:extLst>
              <a:ext uri="{FF2B5EF4-FFF2-40B4-BE49-F238E27FC236}">
                <a16:creationId xmlns:a16="http://schemas.microsoft.com/office/drawing/2014/main" id="{3A40F2BA-94C1-429B-D180-C74153491C1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9971611" y="13779898"/>
            <a:ext cx="5912948" cy="4434711"/>
          </a:xfrm>
          <a:prstGeom prst="rect">
            <a:avLst/>
          </a:prstGeom>
        </p:spPr>
      </p:pic>
      <p:pic>
        <p:nvPicPr>
          <p:cNvPr id="1164" name="图片 1163">
            <a:extLst>
              <a:ext uri="{FF2B5EF4-FFF2-40B4-BE49-F238E27FC236}">
                <a16:creationId xmlns:a16="http://schemas.microsoft.com/office/drawing/2014/main" id="{C5FEB6E5-4FB9-C034-8F6F-90B2DF40800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5884559" y="13779898"/>
            <a:ext cx="5912948" cy="4434711"/>
          </a:xfrm>
          <a:prstGeom prst="rect">
            <a:avLst/>
          </a:prstGeom>
        </p:spPr>
      </p:pic>
      <p:sp>
        <p:nvSpPr>
          <p:cNvPr id="1169" name="TextBox 7">
            <a:extLst>
              <a:ext uri="{FF2B5EF4-FFF2-40B4-BE49-F238E27FC236}">
                <a16:creationId xmlns:a16="http://schemas.microsoft.com/office/drawing/2014/main" id="{CCA5EBB3-F44A-E2B0-92A5-99C4ABA81FD8}"/>
              </a:ext>
            </a:extLst>
          </p:cNvPr>
          <p:cNvSpPr txBox="1"/>
          <p:nvPr/>
        </p:nvSpPr>
        <p:spPr>
          <a:xfrm>
            <a:off x="30205465" y="25165233"/>
            <a:ext cx="10778310" cy="4554965"/>
          </a:xfrm>
          <a:prstGeom prst="rect">
            <a:avLst/>
          </a:prstGeom>
          <a:noFill/>
        </p:spPr>
        <p:txBody>
          <a:bodyPr wrap="square">
            <a:spAutoFit/>
          </a:bodyPr>
          <a:lstStyle/>
          <a:p>
            <a:pPr algn="just">
              <a:spcAft>
                <a:spcPts val="3599"/>
              </a:spcAft>
            </a:pPr>
            <a:r>
              <a:rPr lang="en-US" altLang="zh-CN" sz="4399" b="1" dirty="0">
                <a:solidFill>
                  <a:srgbClr val="003DA5"/>
                </a:solidFill>
                <a:latin typeface="Arial" panose="020B0604020202020204" pitchFamily="34" charset="0"/>
                <a:ea typeface="Cambria Math" panose="02040503050406030204" pitchFamily="18" charset="0"/>
                <a:cs typeface="Arial" panose="020B0604020202020204" pitchFamily="34" charset="0"/>
              </a:rPr>
              <a:t>References</a:t>
            </a:r>
            <a:endParaRPr lang="zh-CN" altLang="en-US" sz="4399" b="1" dirty="0">
              <a:solidFill>
                <a:srgbClr val="003DA5"/>
              </a:solidFill>
              <a:latin typeface="Arial" panose="020B0604020202020204" pitchFamily="34" charset="0"/>
              <a:cs typeface="Arial" panose="020B0604020202020204" pitchFamily="34" charset="0"/>
            </a:endParaRPr>
          </a:p>
          <a:p>
            <a:pPr algn="just"/>
            <a:r>
              <a:rPr lang="en-US" altLang="zh-CN" sz="3600" dirty="0">
                <a:latin typeface="Arial" panose="020B0604020202020204" pitchFamily="34" charset="0"/>
                <a:ea typeface="Cambria Math" panose="02040503050406030204" pitchFamily="18" charset="0"/>
                <a:cs typeface="Arial" panose="020B0604020202020204" pitchFamily="34" charset="0"/>
              </a:rPr>
              <a:t>[1] Uwe Windhorst. “Muscle proprioceptive feedback and spinal networks”. In: Brain research bulletin 73.4-6 (2007), pp. 155–202.</a:t>
            </a:r>
          </a:p>
          <a:p>
            <a:pPr algn="just"/>
            <a:r>
              <a:rPr lang="en-US" altLang="zh-CN" sz="3600" dirty="0">
                <a:latin typeface="Arial" panose="020B0604020202020204" pitchFamily="34" charset="0"/>
                <a:ea typeface="Cambria Math" panose="02040503050406030204" pitchFamily="18" charset="0"/>
                <a:cs typeface="Arial" panose="020B0604020202020204" pitchFamily="34" charset="0"/>
              </a:rPr>
              <a:t>[2] P. Matthews. “A study of certain factors influencing the stretch reflex of the decerebrate cat”. In: The Journal of physiology 147.3 (1959), p. 547.</a:t>
            </a:r>
          </a:p>
        </p:txBody>
      </p:sp>
      <p:cxnSp>
        <p:nvCxnSpPr>
          <p:cNvPr id="1170" name="Straight Connector 1121">
            <a:extLst>
              <a:ext uri="{FF2B5EF4-FFF2-40B4-BE49-F238E27FC236}">
                <a16:creationId xmlns:a16="http://schemas.microsoft.com/office/drawing/2014/main" id="{A9E5479D-9BEE-FE9E-851B-2951A589C086}"/>
              </a:ext>
            </a:extLst>
          </p:cNvPr>
          <p:cNvCxnSpPr>
            <a:cxnSpLocks/>
          </p:cNvCxnSpPr>
          <p:nvPr/>
        </p:nvCxnSpPr>
        <p:spPr>
          <a:xfrm flipV="1">
            <a:off x="33685316" y="25586142"/>
            <a:ext cx="7308236" cy="149"/>
          </a:xfrm>
          <a:prstGeom prst="line">
            <a:avLst/>
          </a:prstGeom>
          <a:ln w="38100">
            <a:solidFill>
              <a:srgbClr val="003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7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1" name="Group 80">
            <a:extLst>
              <a:ext uri="{FF2B5EF4-FFF2-40B4-BE49-F238E27FC236}">
                <a16:creationId xmlns:a16="http://schemas.microsoft.com/office/drawing/2014/main" id="{8065B33D-876E-005D-1C8F-630E50532DC3}"/>
              </a:ext>
            </a:extLst>
          </p:cNvPr>
          <p:cNvGrpSpPr/>
          <p:nvPr/>
        </p:nvGrpSpPr>
        <p:grpSpPr>
          <a:xfrm>
            <a:off x="5410962" y="10404548"/>
            <a:ext cx="5210654" cy="3550977"/>
            <a:chOff x="3359319" y="2576593"/>
            <a:chExt cx="5210654" cy="3550975"/>
          </a:xfrm>
        </p:grpSpPr>
        <p:sp>
          <p:nvSpPr>
            <p:cNvPr id="5" name="Rectangle 4">
              <a:extLst>
                <a:ext uri="{FF2B5EF4-FFF2-40B4-BE49-F238E27FC236}">
                  <a16:creationId xmlns:a16="http://schemas.microsoft.com/office/drawing/2014/main" id="{AC07EECB-C97A-9FBE-C476-3FC6579BA8A3}"/>
                </a:ext>
              </a:extLst>
            </p:cNvPr>
            <p:cNvSpPr/>
            <p:nvPr/>
          </p:nvSpPr>
          <p:spPr>
            <a:xfrm>
              <a:off x="3724841" y="5051167"/>
              <a:ext cx="207154" cy="460562"/>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dirty="0"/>
            </a:p>
          </p:txBody>
        </p:sp>
        <p:cxnSp>
          <p:nvCxnSpPr>
            <p:cNvPr id="9" name="Straight Connector 8">
              <a:extLst>
                <a:ext uri="{FF2B5EF4-FFF2-40B4-BE49-F238E27FC236}">
                  <a16:creationId xmlns:a16="http://schemas.microsoft.com/office/drawing/2014/main" id="{E010157E-A4D3-D85A-08FE-9791CD7AFAD5}"/>
                </a:ext>
              </a:extLst>
            </p:cNvPr>
            <p:cNvCxnSpPr>
              <a:cxnSpLocks/>
              <a:stCxn id="5" idx="0"/>
            </p:cNvCxnSpPr>
            <p:nvPr/>
          </p:nvCxnSpPr>
          <p:spPr>
            <a:xfrm flipV="1">
              <a:off x="3828418" y="2738683"/>
              <a:ext cx="5424" cy="231248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D7C98998-2A1F-E4F3-2BE2-B225ECF6C34B}"/>
                </a:ext>
              </a:extLst>
            </p:cNvPr>
            <p:cNvSpPr/>
            <p:nvPr/>
          </p:nvSpPr>
          <p:spPr>
            <a:xfrm>
              <a:off x="3696670" y="2986485"/>
              <a:ext cx="275945" cy="1472699"/>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11" name="Rectangle 10">
              <a:extLst>
                <a:ext uri="{FF2B5EF4-FFF2-40B4-BE49-F238E27FC236}">
                  <a16:creationId xmlns:a16="http://schemas.microsoft.com/office/drawing/2014/main" id="{9B2C08ED-3EFA-C821-1D19-AAD4D679F3E9}"/>
                </a:ext>
              </a:extLst>
            </p:cNvPr>
            <p:cNvSpPr/>
            <p:nvPr/>
          </p:nvSpPr>
          <p:spPr>
            <a:xfrm>
              <a:off x="3639618" y="4597791"/>
              <a:ext cx="377140" cy="231966"/>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cxnSp>
          <p:nvCxnSpPr>
            <p:cNvPr id="14" name="Straight Connector 13">
              <a:extLst>
                <a:ext uri="{FF2B5EF4-FFF2-40B4-BE49-F238E27FC236}">
                  <a16:creationId xmlns:a16="http://schemas.microsoft.com/office/drawing/2014/main" id="{337B3D7B-609E-CB5D-2786-33794893EC8F}"/>
                </a:ext>
              </a:extLst>
            </p:cNvPr>
            <p:cNvCxnSpPr>
              <a:cxnSpLocks/>
            </p:cNvCxnSpPr>
            <p:nvPr/>
          </p:nvCxnSpPr>
          <p:spPr>
            <a:xfrm flipH="1">
              <a:off x="3359319" y="5943890"/>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6F99806-9DCE-F283-708F-C84DC690C780}"/>
                </a:ext>
              </a:extLst>
            </p:cNvPr>
            <p:cNvCxnSpPr>
              <a:cxnSpLocks/>
            </p:cNvCxnSpPr>
            <p:nvPr/>
          </p:nvCxnSpPr>
          <p:spPr>
            <a:xfrm flipH="1">
              <a:off x="3538288" y="5943890"/>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B63AC09-4021-4A4D-BFFE-2F533DFFB87D}"/>
                </a:ext>
              </a:extLst>
            </p:cNvPr>
            <p:cNvCxnSpPr>
              <a:cxnSpLocks/>
            </p:cNvCxnSpPr>
            <p:nvPr/>
          </p:nvCxnSpPr>
          <p:spPr>
            <a:xfrm flipH="1">
              <a:off x="3696670" y="5954268"/>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63CE57B-22AA-D498-6E2B-233410B42486}"/>
                </a:ext>
              </a:extLst>
            </p:cNvPr>
            <p:cNvCxnSpPr>
              <a:cxnSpLocks/>
            </p:cNvCxnSpPr>
            <p:nvPr/>
          </p:nvCxnSpPr>
          <p:spPr>
            <a:xfrm flipH="1">
              <a:off x="3870215" y="5943890"/>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85A86D-63DE-4762-4A2A-4BFE1BC08554}"/>
                </a:ext>
              </a:extLst>
            </p:cNvPr>
            <p:cNvCxnSpPr>
              <a:cxnSpLocks/>
            </p:cNvCxnSpPr>
            <p:nvPr/>
          </p:nvCxnSpPr>
          <p:spPr>
            <a:xfrm flipH="1">
              <a:off x="4024968" y="5943890"/>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012A812-11AD-C5D7-25D4-52431EE8FEFE}"/>
                </a:ext>
              </a:extLst>
            </p:cNvPr>
            <p:cNvCxnSpPr>
              <a:cxnSpLocks/>
            </p:cNvCxnSpPr>
            <p:nvPr/>
          </p:nvCxnSpPr>
          <p:spPr>
            <a:xfrm flipH="1">
              <a:off x="3359319" y="2747302"/>
              <a:ext cx="98388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14CD3D1-884B-DB2C-E803-971A889D8D89}"/>
                </a:ext>
              </a:extLst>
            </p:cNvPr>
            <p:cNvCxnSpPr>
              <a:cxnSpLocks/>
            </p:cNvCxnSpPr>
            <p:nvPr/>
          </p:nvCxnSpPr>
          <p:spPr>
            <a:xfrm flipH="1">
              <a:off x="3491067" y="2582421"/>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6632134-CE30-547B-EBEB-3AFD4E95666B}"/>
                </a:ext>
              </a:extLst>
            </p:cNvPr>
            <p:cNvCxnSpPr>
              <a:cxnSpLocks/>
            </p:cNvCxnSpPr>
            <p:nvPr/>
          </p:nvCxnSpPr>
          <p:spPr>
            <a:xfrm flipH="1">
              <a:off x="3670036" y="2582421"/>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8B7A3D2-2563-FB6D-5AF9-F140E54893E6}"/>
                </a:ext>
              </a:extLst>
            </p:cNvPr>
            <p:cNvCxnSpPr>
              <a:cxnSpLocks/>
            </p:cNvCxnSpPr>
            <p:nvPr/>
          </p:nvCxnSpPr>
          <p:spPr>
            <a:xfrm flipH="1">
              <a:off x="3828418" y="2592799"/>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2A92BB9-22D2-6B33-DEDE-FB1077F6DABF}"/>
                </a:ext>
              </a:extLst>
            </p:cNvPr>
            <p:cNvCxnSpPr>
              <a:cxnSpLocks/>
            </p:cNvCxnSpPr>
            <p:nvPr/>
          </p:nvCxnSpPr>
          <p:spPr>
            <a:xfrm flipH="1">
              <a:off x="4001963" y="2582421"/>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1EDE1E9-47A8-CBCC-647A-D0DF0F368BB9}"/>
                </a:ext>
              </a:extLst>
            </p:cNvPr>
            <p:cNvCxnSpPr>
              <a:cxnSpLocks/>
            </p:cNvCxnSpPr>
            <p:nvPr/>
          </p:nvCxnSpPr>
          <p:spPr>
            <a:xfrm flipH="1">
              <a:off x="4156716" y="2582421"/>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AF9C575-8DFD-793B-4DA4-32B59B98E835}"/>
                </a:ext>
              </a:extLst>
            </p:cNvPr>
            <p:cNvSpPr txBox="1"/>
            <p:nvPr/>
          </p:nvSpPr>
          <p:spPr>
            <a:xfrm>
              <a:off x="4122236" y="4609943"/>
              <a:ext cx="983883" cy="215444"/>
            </a:xfrm>
            <a:prstGeom prst="rect">
              <a:avLst/>
            </a:prstGeom>
            <a:noFill/>
          </p:spPr>
          <p:txBody>
            <a:bodyPr wrap="square" lIns="0" tIns="0" rIns="0" bIns="0" rtlCol="0">
              <a:spAutoFit/>
            </a:bodyPr>
            <a:lstStyle/>
            <a:p>
              <a:r>
                <a:rPr lang="en-US" sz="1400" dirty="0">
                  <a:latin typeface="Arial" panose="020B0604020202020204" pitchFamily="34" charset="0"/>
                  <a:ea typeface="Fira Sans" panose="020B0503050000020004" pitchFamily="34" charset="0"/>
                  <a:cs typeface="Arial" panose="020B0604020202020204" pitchFamily="34" charset="0"/>
                </a:rPr>
                <a:t>Load Cell</a:t>
              </a:r>
            </a:p>
          </p:txBody>
        </p:sp>
        <p:sp>
          <p:nvSpPr>
            <p:cNvPr id="26" name="TextBox 25">
              <a:extLst>
                <a:ext uri="{FF2B5EF4-FFF2-40B4-BE49-F238E27FC236}">
                  <a16:creationId xmlns:a16="http://schemas.microsoft.com/office/drawing/2014/main" id="{C73F93C9-7C01-E2B4-7196-F1A80DE165D9}"/>
                </a:ext>
              </a:extLst>
            </p:cNvPr>
            <p:cNvSpPr txBox="1"/>
            <p:nvPr/>
          </p:nvSpPr>
          <p:spPr>
            <a:xfrm>
              <a:off x="4083867" y="5439533"/>
              <a:ext cx="1306347" cy="215444"/>
            </a:xfrm>
            <a:prstGeom prst="rect">
              <a:avLst/>
            </a:prstGeom>
            <a:noFill/>
          </p:spPr>
          <p:txBody>
            <a:bodyPr wrap="square" lIns="0" tIns="0" rIns="0" bIns="0" rtlCol="0">
              <a:spAutoFit/>
            </a:bodyPr>
            <a:lstStyle/>
            <a:p>
              <a:r>
                <a:rPr lang="en-US" sz="1400" dirty="0">
                  <a:latin typeface="Arial" panose="020B0604020202020204" pitchFamily="34" charset="0"/>
                  <a:ea typeface="Fira Sans" panose="020B0503050000020004" pitchFamily="34" charset="0"/>
                  <a:cs typeface="Arial" panose="020B0604020202020204" pitchFamily="34" charset="0"/>
                </a:rPr>
                <a:t>Linear Actuator</a:t>
              </a:r>
            </a:p>
          </p:txBody>
        </p:sp>
        <p:sp>
          <p:nvSpPr>
            <p:cNvPr id="27" name="TextBox 26">
              <a:extLst>
                <a:ext uri="{FF2B5EF4-FFF2-40B4-BE49-F238E27FC236}">
                  <a16:creationId xmlns:a16="http://schemas.microsoft.com/office/drawing/2014/main" id="{E1CA5E9E-38AF-6130-F014-DC768DAD365A}"/>
                </a:ext>
              </a:extLst>
            </p:cNvPr>
            <p:cNvSpPr txBox="1"/>
            <p:nvPr/>
          </p:nvSpPr>
          <p:spPr>
            <a:xfrm>
              <a:off x="4455333" y="3173277"/>
              <a:ext cx="1700155" cy="215444"/>
            </a:xfrm>
            <a:prstGeom prst="rect">
              <a:avLst/>
            </a:prstGeom>
            <a:noFill/>
          </p:spPr>
          <p:txBody>
            <a:bodyPr wrap="square" lIns="0" tIns="0" rIns="0" bIns="0" rtlCol="0">
              <a:spAutoFit/>
            </a:bodyPr>
            <a:lstStyle/>
            <a:p>
              <a:pPr algn="ctr"/>
              <a:r>
                <a:rPr lang="en-US" sz="1400" dirty="0">
                  <a:latin typeface="Arial" panose="020B0604020202020204" pitchFamily="34" charset="0"/>
                  <a:ea typeface="Fira Sans" panose="020B0503050000020004" pitchFamily="34" charset="0"/>
                  <a:cs typeface="Arial" panose="020B0604020202020204" pitchFamily="34" charset="0"/>
                </a:rPr>
                <a:t>Pneumatic Actuators</a:t>
              </a:r>
            </a:p>
          </p:txBody>
        </p:sp>
        <p:cxnSp>
          <p:nvCxnSpPr>
            <p:cNvPr id="30" name="Straight Arrow Connector 29">
              <a:extLst>
                <a:ext uri="{FF2B5EF4-FFF2-40B4-BE49-F238E27FC236}">
                  <a16:creationId xmlns:a16="http://schemas.microsoft.com/office/drawing/2014/main" id="{C6A66EAB-8282-7276-05B0-646F4A53F845}"/>
                </a:ext>
              </a:extLst>
            </p:cNvPr>
            <p:cNvCxnSpPr>
              <a:cxnSpLocks/>
            </p:cNvCxnSpPr>
            <p:nvPr/>
          </p:nvCxnSpPr>
          <p:spPr>
            <a:xfrm flipV="1">
              <a:off x="3559570" y="5170706"/>
              <a:ext cx="0" cy="4532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65AA252-9CE0-3853-AF0A-A0D4E6C133AC}"/>
                </a:ext>
              </a:extLst>
            </p:cNvPr>
            <p:cNvCxnSpPr>
              <a:cxnSpLocks/>
            </p:cNvCxnSpPr>
            <p:nvPr/>
          </p:nvCxnSpPr>
          <p:spPr>
            <a:xfrm>
              <a:off x="3561652" y="5257066"/>
              <a:ext cx="0" cy="46801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F1466B13-3CF9-FB1C-99A8-78CFDF9E3667}"/>
                </a:ext>
              </a:extLst>
            </p:cNvPr>
            <p:cNvSpPr/>
            <p:nvPr/>
          </p:nvSpPr>
          <p:spPr>
            <a:xfrm>
              <a:off x="3669287" y="5467847"/>
              <a:ext cx="318374" cy="460562"/>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dirty="0"/>
            </a:p>
          </p:txBody>
        </p:sp>
        <p:cxnSp>
          <p:nvCxnSpPr>
            <p:cNvPr id="13" name="Straight Connector 12">
              <a:extLst>
                <a:ext uri="{FF2B5EF4-FFF2-40B4-BE49-F238E27FC236}">
                  <a16:creationId xmlns:a16="http://schemas.microsoft.com/office/drawing/2014/main" id="{5D2FC2AC-AFE2-5D27-F232-BE5459B91F44}"/>
                </a:ext>
              </a:extLst>
            </p:cNvPr>
            <p:cNvCxnSpPr>
              <a:cxnSpLocks/>
            </p:cNvCxnSpPr>
            <p:nvPr/>
          </p:nvCxnSpPr>
          <p:spPr>
            <a:xfrm flipH="1">
              <a:off x="3359319" y="5937028"/>
              <a:ext cx="98388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1AC9228-B38D-D38D-EF53-2A4D7EF86D5B}"/>
                </a:ext>
              </a:extLst>
            </p:cNvPr>
            <p:cNvCxnSpPr>
              <a:cxnSpLocks/>
            </p:cNvCxnSpPr>
            <p:nvPr/>
          </p:nvCxnSpPr>
          <p:spPr>
            <a:xfrm flipV="1">
              <a:off x="6618598" y="2740958"/>
              <a:ext cx="0" cy="276644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961D55E5-D829-A0C0-C574-A6BBDFEDCB81}"/>
                </a:ext>
              </a:extLst>
            </p:cNvPr>
            <p:cNvSpPr/>
            <p:nvPr/>
          </p:nvSpPr>
          <p:spPr>
            <a:xfrm>
              <a:off x="6471748" y="3305114"/>
              <a:ext cx="275945" cy="1472699"/>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cxnSp>
          <p:nvCxnSpPr>
            <p:cNvPr id="37" name="Straight Connector 36">
              <a:extLst>
                <a:ext uri="{FF2B5EF4-FFF2-40B4-BE49-F238E27FC236}">
                  <a16:creationId xmlns:a16="http://schemas.microsoft.com/office/drawing/2014/main" id="{8D15D0E2-3B99-7B35-9B21-F84D82651A9D}"/>
                </a:ext>
              </a:extLst>
            </p:cNvPr>
            <p:cNvCxnSpPr>
              <a:cxnSpLocks/>
            </p:cNvCxnSpPr>
            <p:nvPr/>
          </p:nvCxnSpPr>
          <p:spPr>
            <a:xfrm flipH="1">
              <a:off x="7583202" y="5907066"/>
              <a:ext cx="98388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41E09F2-1EF3-927A-A2BD-6136FE697612}"/>
                </a:ext>
              </a:extLst>
            </p:cNvPr>
            <p:cNvCxnSpPr>
              <a:cxnSpLocks/>
            </p:cNvCxnSpPr>
            <p:nvPr/>
          </p:nvCxnSpPr>
          <p:spPr>
            <a:xfrm flipH="1">
              <a:off x="7583202" y="5913928"/>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781F38-CF81-031E-1BF5-A8197A251788}"/>
                </a:ext>
              </a:extLst>
            </p:cNvPr>
            <p:cNvCxnSpPr>
              <a:cxnSpLocks/>
            </p:cNvCxnSpPr>
            <p:nvPr/>
          </p:nvCxnSpPr>
          <p:spPr>
            <a:xfrm flipH="1">
              <a:off x="7762171" y="5913928"/>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28FD56-525E-0146-38CC-FA23ED4A0FD3}"/>
                </a:ext>
              </a:extLst>
            </p:cNvPr>
            <p:cNvCxnSpPr>
              <a:cxnSpLocks/>
            </p:cNvCxnSpPr>
            <p:nvPr/>
          </p:nvCxnSpPr>
          <p:spPr>
            <a:xfrm flipH="1">
              <a:off x="7920553" y="5924306"/>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A34FC03-E719-6E45-9B56-2D94FAAA2756}"/>
                </a:ext>
              </a:extLst>
            </p:cNvPr>
            <p:cNvCxnSpPr>
              <a:cxnSpLocks/>
            </p:cNvCxnSpPr>
            <p:nvPr/>
          </p:nvCxnSpPr>
          <p:spPr>
            <a:xfrm flipH="1">
              <a:off x="8094098" y="5913928"/>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8EF702-E1B3-AF80-59D3-CFD9D0839E4C}"/>
                </a:ext>
              </a:extLst>
            </p:cNvPr>
            <p:cNvCxnSpPr>
              <a:cxnSpLocks/>
            </p:cNvCxnSpPr>
            <p:nvPr/>
          </p:nvCxnSpPr>
          <p:spPr>
            <a:xfrm flipH="1">
              <a:off x="8248851" y="5913928"/>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F411AFD-0721-DE30-BE29-DB8A3908CDF9}"/>
                </a:ext>
              </a:extLst>
            </p:cNvPr>
            <p:cNvCxnSpPr>
              <a:cxnSpLocks/>
            </p:cNvCxnSpPr>
            <p:nvPr/>
          </p:nvCxnSpPr>
          <p:spPr>
            <a:xfrm flipH="1">
              <a:off x="6329708" y="2746336"/>
              <a:ext cx="98388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41AC3ED-C834-7B2C-2C2A-03C2F153A17A}"/>
                </a:ext>
              </a:extLst>
            </p:cNvPr>
            <p:cNvCxnSpPr>
              <a:cxnSpLocks/>
            </p:cNvCxnSpPr>
            <p:nvPr/>
          </p:nvCxnSpPr>
          <p:spPr>
            <a:xfrm flipH="1">
              <a:off x="6461456" y="2581455"/>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CC33AFD-7C94-A01B-8284-562B7658FEE6}"/>
                </a:ext>
              </a:extLst>
            </p:cNvPr>
            <p:cNvCxnSpPr>
              <a:cxnSpLocks/>
            </p:cNvCxnSpPr>
            <p:nvPr/>
          </p:nvCxnSpPr>
          <p:spPr>
            <a:xfrm flipH="1">
              <a:off x="6640425" y="2581455"/>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CF19C1B-E5F2-E975-E853-00B1E6083ED7}"/>
                </a:ext>
              </a:extLst>
            </p:cNvPr>
            <p:cNvCxnSpPr>
              <a:cxnSpLocks/>
            </p:cNvCxnSpPr>
            <p:nvPr/>
          </p:nvCxnSpPr>
          <p:spPr>
            <a:xfrm flipH="1">
              <a:off x="6814047" y="2576593"/>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8987408-F847-60FA-6D24-51AE0AAB5A2D}"/>
                </a:ext>
              </a:extLst>
            </p:cNvPr>
            <p:cNvCxnSpPr>
              <a:cxnSpLocks/>
            </p:cNvCxnSpPr>
            <p:nvPr/>
          </p:nvCxnSpPr>
          <p:spPr>
            <a:xfrm flipH="1">
              <a:off x="6972352" y="2581455"/>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9204736-8BE3-1ED9-9171-46B7791BFD78}"/>
                </a:ext>
              </a:extLst>
            </p:cNvPr>
            <p:cNvCxnSpPr>
              <a:cxnSpLocks/>
            </p:cNvCxnSpPr>
            <p:nvPr/>
          </p:nvCxnSpPr>
          <p:spPr>
            <a:xfrm flipH="1">
              <a:off x="7127105" y="2581455"/>
              <a:ext cx="163806" cy="1733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4BEA10C9-FFCE-879B-DCAA-2D43CF4DE32C}"/>
                </a:ext>
              </a:extLst>
            </p:cNvPr>
            <p:cNvSpPr txBox="1"/>
            <p:nvPr/>
          </p:nvSpPr>
          <p:spPr>
            <a:xfrm>
              <a:off x="5823811" y="5450120"/>
              <a:ext cx="983883" cy="215444"/>
            </a:xfrm>
            <a:prstGeom prst="rect">
              <a:avLst/>
            </a:prstGeom>
            <a:noFill/>
          </p:spPr>
          <p:txBody>
            <a:bodyPr wrap="square" lIns="0" tIns="0" rIns="0" bIns="0" rtlCol="0">
              <a:spAutoFit/>
            </a:bodyPr>
            <a:lstStyle/>
            <a:p>
              <a:r>
                <a:rPr lang="en-US" sz="1400" dirty="0">
                  <a:latin typeface="Arial" panose="020B0604020202020204" pitchFamily="34" charset="0"/>
                  <a:ea typeface="Fira Sans" panose="020B0503050000020004" pitchFamily="34" charset="0"/>
                  <a:cs typeface="Arial" panose="020B0604020202020204" pitchFamily="34" charset="0"/>
                </a:rPr>
                <a:t>Encoder</a:t>
              </a:r>
            </a:p>
          </p:txBody>
        </p:sp>
        <p:cxnSp>
          <p:nvCxnSpPr>
            <p:cNvPr id="50" name="Straight Arrow Connector 49">
              <a:extLst>
                <a:ext uri="{FF2B5EF4-FFF2-40B4-BE49-F238E27FC236}">
                  <a16:creationId xmlns:a16="http://schemas.microsoft.com/office/drawing/2014/main" id="{C5054EB0-30DA-6B9A-ED32-68BA1D65693E}"/>
                </a:ext>
              </a:extLst>
            </p:cNvPr>
            <p:cNvCxnSpPr>
              <a:cxnSpLocks/>
            </p:cNvCxnSpPr>
            <p:nvPr/>
          </p:nvCxnSpPr>
          <p:spPr>
            <a:xfrm flipV="1">
              <a:off x="7313592" y="3943680"/>
              <a:ext cx="0" cy="45325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4A9638F5-C1E4-BE7F-1FBD-A46531707B64}"/>
                </a:ext>
              </a:extLst>
            </p:cNvPr>
            <p:cNvCxnSpPr>
              <a:cxnSpLocks/>
            </p:cNvCxnSpPr>
            <p:nvPr/>
          </p:nvCxnSpPr>
          <p:spPr>
            <a:xfrm>
              <a:off x="6336730" y="3943680"/>
              <a:ext cx="0" cy="46801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CCD7FF4-AFA1-C0C6-8BE7-71200BC96CEE}"/>
                </a:ext>
              </a:extLst>
            </p:cNvPr>
            <p:cNvCxnSpPr>
              <a:cxnSpLocks/>
            </p:cNvCxnSpPr>
            <p:nvPr/>
          </p:nvCxnSpPr>
          <p:spPr>
            <a:xfrm flipV="1">
              <a:off x="7043882" y="2760133"/>
              <a:ext cx="0" cy="276644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96959AA4-744D-5EC1-2994-F018ABB025AA}"/>
                </a:ext>
              </a:extLst>
            </p:cNvPr>
            <p:cNvSpPr/>
            <p:nvPr/>
          </p:nvSpPr>
          <p:spPr>
            <a:xfrm>
              <a:off x="6906193" y="3298286"/>
              <a:ext cx="275945" cy="1472699"/>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54" name="Oval 53">
              <a:extLst>
                <a:ext uri="{FF2B5EF4-FFF2-40B4-BE49-F238E27FC236}">
                  <a16:creationId xmlns:a16="http://schemas.microsoft.com/office/drawing/2014/main" id="{B706B121-1FDC-02A2-1EE5-D2AEB8F87895}"/>
                </a:ext>
              </a:extLst>
            </p:cNvPr>
            <p:cNvSpPr/>
            <p:nvPr/>
          </p:nvSpPr>
          <p:spPr>
            <a:xfrm>
              <a:off x="6552885" y="5272935"/>
              <a:ext cx="548640" cy="548640"/>
            </a:xfrm>
            <a:prstGeom prst="ellipse">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55" name="Oval 54">
              <a:extLst>
                <a:ext uri="{FF2B5EF4-FFF2-40B4-BE49-F238E27FC236}">
                  <a16:creationId xmlns:a16="http://schemas.microsoft.com/office/drawing/2014/main" id="{429A8EF0-96B4-8EB3-1841-2BAAABDF3EC8}"/>
                </a:ext>
              </a:extLst>
            </p:cNvPr>
            <p:cNvSpPr/>
            <p:nvPr/>
          </p:nvSpPr>
          <p:spPr>
            <a:xfrm>
              <a:off x="6645462" y="5364375"/>
              <a:ext cx="365760" cy="365760"/>
            </a:xfrm>
            <a:prstGeom prst="ellipse">
              <a:avLst/>
            </a:prstGeom>
            <a:solidFill>
              <a:schemeClr val="accent3">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56" name="Rectangle: Rounded Corners 55">
              <a:extLst>
                <a:ext uri="{FF2B5EF4-FFF2-40B4-BE49-F238E27FC236}">
                  <a16:creationId xmlns:a16="http://schemas.microsoft.com/office/drawing/2014/main" id="{8AB90DC6-84E3-24B0-238E-81985940D05C}"/>
                </a:ext>
              </a:extLst>
            </p:cNvPr>
            <p:cNvSpPr/>
            <p:nvPr/>
          </p:nvSpPr>
          <p:spPr>
            <a:xfrm>
              <a:off x="6787566" y="5496212"/>
              <a:ext cx="1172155" cy="103816"/>
            </a:xfrm>
            <a:prstGeom prst="roundRect">
              <a:avLst>
                <a:gd name="adj" fmla="val 50000"/>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57" name="Rectangle: Rounded Corners 56">
              <a:extLst>
                <a:ext uri="{FF2B5EF4-FFF2-40B4-BE49-F238E27FC236}">
                  <a16:creationId xmlns:a16="http://schemas.microsoft.com/office/drawing/2014/main" id="{D037EB01-513D-8D2F-1B59-DEC4327766EF}"/>
                </a:ext>
              </a:extLst>
            </p:cNvPr>
            <p:cNvSpPr/>
            <p:nvPr/>
          </p:nvSpPr>
          <p:spPr>
            <a:xfrm>
              <a:off x="7479257" y="5205940"/>
              <a:ext cx="1090716" cy="693762"/>
            </a:xfrm>
            <a:prstGeom prst="roundRect">
              <a:avLst>
                <a:gd name="adj" fmla="val 50000"/>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58" name="Oval 57">
              <a:extLst>
                <a:ext uri="{FF2B5EF4-FFF2-40B4-BE49-F238E27FC236}">
                  <a16:creationId xmlns:a16="http://schemas.microsoft.com/office/drawing/2014/main" id="{E569213C-9DCB-2C3A-2069-095198112C77}"/>
                </a:ext>
              </a:extLst>
            </p:cNvPr>
            <p:cNvSpPr/>
            <p:nvPr/>
          </p:nvSpPr>
          <p:spPr>
            <a:xfrm>
              <a:off x="8067355" y="5205940"/>
              <a:ext cx="502618" cy="693762"/>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1"/>
            </a:p>
          </p:txBody>
        </p:sp>
        <p:sp>
          <p:nvSpPr>
            <p:cNvPr id="59" name="TextBox 58">
              <a:extLst>
                <a:ext uri="{FF2B5EF4-FFF2-40B4-BE49-F238E27FC236}">
                  <a16:creationId xmlns:a16="http://schemas.microsoft.com/office/drawing/2014/main" id="{6AD44506-CE94-E252-58C8-A4AAAEC3E52D}"/>
                </a:ext>
              </a:extLst>
            </p:cNvPr>
            <p:cNvSpPr txBox="1"/>
            <p:nvPr/>
          </p:nvSpPr>
          <p:spPr>
            <a:xfrm>
              <a:off x="7548770" y="5439533"/>
              <a:ext cx="548639" cy="215444"/>
            </a:xfrm>
            <a:prstGeom prst="rect">
              <a:avLst/>
            </a:prstGeom>
            <a:noFill/>
          </p:spPr>
          <p:txBody>
            <a:bodyPr wrap="square" lIns="0" tIns="0" rIns="0" bIns="0" rtlCol="0">
              <a:spAutoFit/>
            </a:bodyPr>
            <a:lstStyle/>
            <a:p>
              <a:r>
                <a:rPr lang="en-US" sz="1400" dirty="0">
                  <a:latin typeface="Arial" panose="020B0604020202020204" pitchFamily="34" charset="0"/>
                  <a:ea typeface="Fira Sans" panose="020B0503050000020004" pitchFamily="34" charset="0"/>
                  <a:cs typeface="Arial" panose="020B0604020202020204" pitchFamily="34" charset="0"/>
                </a:rPr>
                <a:t>Motor</a:t>
              </a:r>
            </a:p>
          </p:txBody>
        </p:sp>
        <p:sp>
          <p:nvSpPr>
            <p:cNvPr id="60" name="Arc 59">
              <a:extLst>
                <a:ext uri="{FF2B5EF4-FFF2-40B4-BE49-F238E27FC236}">
                  <a16:creationId xmlns:a16="http://schemas.microsoft.com/office/drawing/2014/main" id="{8A4EA508-1F3D-2105-0726-9E95DE0EB4C4}"/>
                </a:ext>
              </a:extLst>
            </p:cNvPr>
            <p:cNvSpPr/>
            <p:nvPr/>
          </p:nvSpPr>
          <p:spPr>
            <a:xfrm rot="9810648">
              <a:off x="6461707" y="5195635"/>
              <a:ext cx="800795" cy="735335"/>
            </a:xfrm>
            <a:prstGeom prst="arc">
              <a:avLst>
                <a:gd name="adj1" fmla="val 16200000"/>
                <a:gd name="adj2" fmla="val 21496238"/>
              </a:avLst>
            </a:prstGeom>
            <a:ln w="19050">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801">
                <a:ln w="28575">
                  <a:solidFill>
                    <a:schemeClr val="tx1"/>
                  </a:solidFill>
                </a:ln>
              </a:endParaRP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E55F81AE-9E6D-583E-4B9B-458E7AE01312}"/>
                    </a:ext>
                  </a:extLst>
                </p:cNvPr>
                <p:cNvSpPr txBox="1"/>
                <p:nvPr/>
              </p:nvSpPr>
              <p:spPr>
                <a:xfrm>
                  <a:off x="6141008" y="5722701"/>
                  <a:ext cx="610245" cy="30764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999" i="1">
                            <a:latin typeface="Cambria Math" panose="02040503050406030204" pitchFamily="18" charset="0"/>
                            <a:ea typeface="Cambria Math" panose="02040503050406030204" pitchFamily="18" charset="0"/>
                            <a:cs typeface="Arial" panose="020B0604020202020204" pitchFamily="34" charset="0"/>
                          </a:rPr>
                          <m:t>𝜃</m:t>
                        </m:r>
                      </m:oMath>
                    </m:oMathPara>
                  </a14:m>
                  <a:endParaRPr lang="en-US" sz="1999" dirty="0">
                    <a:latin typeface="Arial" panose="020B0604020202020204" pitchFamily="34" charset="0"/>
                    <a:ea typeface="Fira Sans" panose="020B0503050000020004" pitchFamily="34" charset="0"/>
                    <a:cs typeface="Arial" panose="020B0604020202020204" pitchFamily="34" charset="0"/>
                  </a:endParaRPr>
                </a:p>
              </p:txBody>
            </p:sp>
          </mc:Choice>
          <mc:Fallback xmlns="">
            <p:sp>
              <p:nvSpPr>
                <p:cNvPr id="61" name="TextBox 60">
                  <a:extLst>
                    <a:ext uri="{FF2B5EF4-FFF2-40B4-BE49-F238E27FC236}">
                      <a16:creationId xmlns:a16="http://schemas.microsoft.com/office/drawing/2014/main" id="{E55F81AE-9E6D-583E-4B9B-458E7AE01312}"/>
                    </a:ext>
                  </a:extLst>
                </p:cNvPr>
                <p:cNvSpPr txBox="1">
                  <a:spLocks noRot="1" noChangeAspect="1" noMove="1" noResize="1" noEditPoints="1" noAdjustHandles="1" noChangeArrowheads="1" noChangeShapeType="1" noTextEdit="1"/>
                </p:cNvSpPr>
                <p:nvPr/>
              </p:nvSpPr>
              <p:spPr>
                <a:xfrm>
                  <a:off x="6141008" y="5722701"/>
                  <a:ext cx="610245" cy="307648"/>
                </a:xfrm>
                <a:prstGeom prst="rect">
                  <a:avLst/>
                </a:prstGeom>
                <a:blipFill>
                  <a:blip r:embed="rId2"/>
                  <a:stretch>
                    <a:fillRect b="-12000"/>
                  </a:stretch>
                </a:blipFill>
              </p:spPr>
              <p:txBody>
                <a:bodyPr/>
                <a:lstStyle/>
                <a:p>
                  <a:r>
                    <a:rPr lang="zh-CN" altLang="en-US">
                      <a:noFill/>
                    </a:rPr>
                    <a:t> </a:t>
                  </a:r>
                </a:p>
              </p:txBody>
            </p:sp>
          </mc:Fallback>
        </mc:AlternateContent>
        <p:cxnSp>
          <p:nvCxnSpPr>
            <p:cNvPr id="67" name="Straight Arrow Connector 66">
              <a:extLst>
                <a:ext uri="{FF2B5EF4-FFF2-40B4-BE49-F238E27FC236}">
                  <a16:creationId xmlns:a16="http://schemas.microsoft.com/office/drawing/2014/main" id="{1E8C1FA3-6FC2-FA5B-006C-5725AF9131D2}"/>
                </a:ext>
              </a:extLst>
            </p:cNvPr>
            <p:cNvCxnSpPr>
              <a:cxnSpLocks/>
            </p:cNvCxnSpPr>
            <p:nvPr/>
          </p:nvCxnSpPr>
          <p:spPr>
            <a:xfrm flipH="1">
              <a:off x="4104363" y="3454319"/>
              <a:ext cx="722271" cy="37622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A390CDDA-E1F9-1493-E3D2-E5D834FAC72E}"/>
                </a:ext>
              </a:extLst>
            </p:cNvPr>
            <p:cNvCxnSpPr>
              <a:cxnSpLocks/>
            </p:cNvCxnSpPr>
            <p:nvPr/>
          </p:nvCxnSpPr>
          <p:spPr>
            <a:xfrm>
              <a:off x="5598160" y="3448124"/>
              <a:ext cx="715088" cy="349467"/>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2" name="Group 81">
            <a:extLst>
              <a:ext uri="{FF2B5EF4-FFF2-40B4-BE49-F238E27FC236}">
                <a16:creationId xmlns:a16="http://schemas.microsoft.com/office/drawing/2014/main" id="{47D293BC-D503-B45A-1773-6148C3EEAD9B}"/>
              </a:ext>
            </a:extLst>
          </p:cNvPr>
          <p:cNvGrpSpPr/>
          <p:nvPr/>
        </p:nvGrpSpPr>
        <p:grpSpPr>
          <a:xfrm>
            <a:off x="15917690" y="23467315"/>
            <a:ext cx="12343289" cy="6733514"/>
            <a:chOff x="15917682" y="23670510"/>
            <a:chExt cx="12343290" cy="6733513"/>
          </a:xfrm>
        </p:grpSpPr>
        <p:grpSp>
          <p:nvGrpSpPr>
            <p:cNvPr id="83" name="Group 82">
              <a:extLst>
                <a:ext uri="{FF2B5EF4-FFF2-40B4-BE49-F238E27FC236}">
                  <a16:creationId xmlns:a16="http://schemas.microsoft.com/office/drawing/2014/main" id="{D0FD9611-BF68-11C0-80DB-CC670C4CA9E8}"/>
                </a:ext>
              </a:extLst>
            </p:cNvPr>
            <p:cNvGrpSpPr/>
            <p:nvPr/>
          </p:nvGrpSpPr>
          <p:grpSpPr>
            <a:xfrm>
              <a:off x="15917682" y="23670510"/>
              <a:ext cx="12343290" cy="6733513"/>
              <a:chOff x="16652431" y="23419126"/>
              <a:chExt cx="12343290" cy="6733513"/>
            </a:xfrm>
          </p:grpSpPr>
          <p:pic>
            <p:nvPicPr>
              <p:cNvPr id="86" name="Picture 85">
                <a:extLst>
                  <a:ext uri="{FF2B5EF4-FFF2-40B4-BE49-F238E27FC236}">
                    <a16:creationId xmlns:a16="http://schemas.microsoft.com/office/drawing/2014/main" id="{C08AE93D-9462-6F8A-9B24-DAFBE830B23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701381" y="23419126"/>
                <a:ext cx="5817798" cy="5041618"/>
              </a:xfrm>
              <a:prstGeom prst="rect">
                <a:avLst/>
              </a:prstGeom>
            </p:spPr>
          </p:pic>
          <p:pic>
            <p:nvPicPr>
              <p:cNvPr id="87" name="Picture 86">
                <a:extLst>
                  <a:ext uri="{FF2B5EF4-FFF2-40B4-BE49-F238E27FC236}">
                    <a16:creationId xmlns:a16="http://schemas.microsoft.com/office/drawing/2014/main" id="{70443728-D135-1ABE-15EE-423C0A4583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89194" y="23546127"/>
                <a:ext cx="6606527" cy="5041618"/>
              </a:xfrm>
              <a:prstGeom prst="rect">
                <a:avLst/>
              </a:prstGeom>
            </p:spPr>
          </p:pic>
          <p:sp>
            <p:nvSpPr>
              <p:cNvPr id="88" name="TextBox 87">
                <a:extLst>
                  <a:ext uri="{FF2B5EF4-FFF2-40B4-BE49-F238E27FC236}">
                    <a16:creationId xmlns:a16="http://schemas.microsoft.com/office/drawing/2014/main" id="{40029B8A-B3ED-2952-2299-193238D32106}"/>
                  </a:ext>
                </a:extLst>
              </p:cNvPr>
              <p:cNvSpPr txBox="1"/>
              <p:nvPr/>
            </p:nvSpPr>
            <p:spPr>
              <a:xfrm>
                <a:off x="16652431" y="28768029"/>
                <a:ext cx="12075093" cy="1384610"/>
              </a:xfrm>
              <a:prstGeom prst="rect">
                <a:avLst/>
              </a:prstGeom>
              <a:noFill/>
            </p:spPr>
            <p:txBody>
              <a:bodyPr wrap="square">
                <a:spAutoFit/>
              </a:bodyPr>
              <a:lstStyle/>
              <a:p>
                <a:pPr algn="just"/>
                <a:r>
                  <a:rPr lang="en-US" altLang="zh-CN" sz="2799" b="1" dirty="0">
                    <a:solidFill>
                      <a:prstClr val="black"/>
                    </a:solidFill>
                    <a:latin typeface="Arial" panose="020B0604020202020204" pitchFamily="34" charset="0"/>
                    <a:ea typeface="Cambria Math" panose="02040503050406030204" pitchFamily="18" charset="0"/>
                    <a:cs typeface="Arial" panose="020B0604020202020204" pitchFamily="34" charset="0"/>
                  </a:rPr>
                  <a:t>Figure 3. Force-deflection curves for antagonistically configured contraction-type soft pneumatic muscle. (a) theoretical curves. (b) curves comparing with experimental hysteresis loop and stiffness.</a:t>
                </a:r>
                <a:endParaRPr lang="en-US" sz="1600" b="1" dirty="0"/>
              </a:p>
            </p:txBody>
          </p:sp>
        </p:grpSp>
        <p:sp>
          <p:nvSpPr>
            <p:cNvPr id="84" name="TextBox 83">
              <a:extLst>
                <a:ext uri="{FF2B5EF4-FFF2-40B4-BE49-F238E27FC236}">
                  <a16:creationId xmlns:a16="http://schemas.microsoft.com/office/drawing/2014/main" id="{61B50588-FE81-DFD4-5F76-2AA7E1A8E9D3}"/>
                </a:ext>
              </a:extLst>
            </p:cNvPr>
            <p:cNvSpPr txBox="1"/>
            <p:nvPr/>
          </p:nvSpPr>
          <p:spPr>
            <a:xfrm>
              <a:off x="20836060" y="23865918"/>
              <a:ext cx="774700" cy="584775"/>
            </a:xfrm>
            <a:prstGeom prst="rect">
              <a:avLst/>
            </a:prstGeom>
            <a:noFill/>
          </p:spPr>
          <p:txBody>
            <a:bodyPr wrap="square">
              <a:spAutoFit/>
            </a:bodyPr>
            <a:lstStyle/>
            <a:p>
              <a:r>
                <a:rPr lang="en-US" altLang="zh-CN" sz="3200" dirty="0">
                  <a:solidFill>
                    <a:prstClr val="black"/>
                  </a:solidFill>
                  <a:latin typeface="Arial" panose="020B0604020202020204" pitchFamily="34" charset="0"/>
                  <a:ea typeface="Cambria Math" panose="02040503050406030204" pitchFamily="18" charset="0"/>
                  <a:cs typeface="Arial" panose="020B0604020202020204" pitchFamily="34" charset="0"/>
                </a:rPr>
                <a:t>(a)</a:t>
              </a:r>
              <a:endParaRPr lang="en-US" sz="3200" dirty="0"/>
            </a:p>
          </p:txBody>
        </p:sp>
        <p:sp>
          <p:nvSpPr>
            <p:cNvPr id="85" name="TextBox 84">
              <a:extLst>
                <a:ext uri="{FF2B5EF4-FFF2-40B4-BE49-F238E27FC236}">
                  <a16:creationId xmlns:a16="http://schemas.microsoft.com/office/drawing/2014/main" id="{B06D128C-6D87-6E6C-F387-10244C7CBB92}"/>
                </a:ext>
              </a:extLst>
            </p:cNvPr>
            <p:cNvSpPr txBox="1"/>
            <p:nvPr/>
          </p:nvSpPr>
          <p:spPr>
            <a:xfrm>
              <a:off x="26905305" y="23865915"/>
              <a:ext cx="774700" cy="584775"/>
            </a:xfrm>
            <a:prstGeom prst="rect">
              <a:avLst/>
            </a:prstGeom>
            <a:noFill/>
          </p:spPr>
          <p:txBody>
            <a:bodyPr wrap="square">
              <a:spAutoFit/>
            </a:bodyPr>
            <a:lstStyle/>
            <a:p>
              <a:r>
                <a:rPr lang="en-US" altLang="zh-CN" sz="3200" dirty="0">
                  <a:solidFill>
                    <a:prstClr val="black"/>
                  </a:solidFill>
                  <a:latin typeface="Arial" panose="020B0604020202020204" pitchFamily="34" charset="0"/>
                  <a:ea typeface="Cambria Math" panose="02040503050406030204" pitchFamily="18" charset="0"/>
                  <a:cs typeface="Arial" panose="020B0604020202020204" pitchFamily="34" charset="0"/>
                </a:rPr>
                <a:t>(b)</a:t>
              </a:r>
              <a:endParaRPr lang="en-US" sz="3200" dirty="0"/>
            </a:p>
          </p:txBody>
        </p:sp>
      </p:grpSp>
      <p:grpSp>
        <p:nvGrpSpPr>
          <p:cNvPr id="89" name="Group 88">
            <a:extLst>
              <a:ext uri="{FF2B5EF4-FFF2-40B4-BE49-F238E27FC236}">
                <a16:creationId xmlns:a16="http://schemas.microsoft.com/office/drawing/2014/main" id="{67049DB2-6BBD-298E-566B-3A0CE4000B22}"/>
              </a:ext>
            </a:extLst>
          </p:cNvPr>
          <p:cNvGrpSpPr/>
          <p:nvPr/>
        </p:nvGrpSpPr>
        <p:grpSpPr>
          <a:xfrm>
            <a:off x="14393358" y="9871790"/>
            <a:ext cx="11569955" cy="12849927"/>
            <a:chOff x="-2329703" y="-2335865"/>
            <a:chExt cx="11569955" cy="12849927"/>
          </a:xfrm>
        </p:grpSpPr>
        <p:sp>
          <p:nvSpPr>
            <p:cNvPr id="90" name="Arc 89">
              <a:extLst>
                <a:ext uri="{FF2B5EF4-FFF2-40B4-BE49-F238E27FC236}">
                  <a16:creationId xmlns:a16="http://schemas.microsoft.com/office/drawing/2014/main" id="{D9D05BC6-732E-D126-10B4-A77B4DBBDCFD}"/>
                </a:ext>
              </a:extLst>
            </p:cNvPr>
            <p:cNvSpPr/>
            <p:nvPr/>
          </p:nvSpPr>
          <p:spPr>
            <a:xfrm>
              <a:off x="2553120" y="-586104"/>
              <a:ext cx="5443206" cy="4667934"/>
            </a:xfrm>
            <a:prstGeom prst="arc">
              <a:avLst>
                <a:gd name="adj1" fmla="val 5421064"/>
                <a:gd name="adj2" fmla="val 10104832"/>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999"/>
            </a:p>
          </p:txBody>
        </p:sp>
        <p:grpSp>
          <p:nvGrpSpPr>
            <p:cNvPr id="91" name="Group 90">
              <a:extLst>
                <a:ext uri="{FF2B5EF4-FFF2-40B4-BE49-F238E27FC236}">
                  <a16:creationId xmlns:a16="http://schemas.microsoft.com/office/drawing/2014/main" id="{4E8141A6-8281-AD50-4830-2D9B261C1138}"/>
                </a:ext>
              </a:extLst>
            </p:cNvPr>
            <p:cNvGrpSpPr/>
            <p:nvPr/>
          </p:nvGrpSpPr>
          <p:grpSpPr>
            <a:xfrm>
              <a:off x="-2329703" y="-2335865"/>
              <a:ext cx="11569955" cy="12849927"/>
              <a:chOff x="-2329703" y="-2335865"/>
              <a:chExt cx="11569955" cy="12849927"/>
            </a:xfrm>
          </p:grpSpPr>
          <p:grpSp>
            <p:nvGrpSpPr>
              <p:cNvPr id="92" name="Group 91">
                <a:extLst>
                  <a:ext uri="{FF2B5EF4-FFF2-40B4-BE49-F238E27FC236}">
                    <a16:creationId xmlns:a16="http://schemas.microsoft.com/office/drawing/2014/main" id="{994B0061-C1C7-64F0-0A02-AB25F459934A}"/>
                  </a:ext>
                </a:extLst>
              </p:cNvPr>
              <p:cNvGrpSpPr/>
              <p:nvPr/>
            </p:nvGrpSpPr>
            <p:grpSpPr>
              <a:xfrm>
                <a:off x="-2329703" y="-2335865"/>
                <a:ext cx="11569955" cy="12849927"/>
                <a:chOff x="-2329703" y="-2335865"/>
                <a:chExt cx="11569955" cy="12849927"/>
              </a:xfrm>
            </p:grpSpPr>
            <p:sp>
              <p:nvSpPr>
                <p:cNvPr id="106" name="Arc 105">
                  <a:extLst>
                    <a:ext uri="{FF2B5EF4-FFF2-40B4-BE49-F238E27FC236}">
                      <a16:creationId xmlns:a16="http://schemas.microsoft.com/office/drawing/2014/main" id="{793F82D2-2F63-22E3-F508-8EE4A8D5319A}"/>
                    </a:ext>
                  </a:extLst>
                </p:cNvPr>
                <p:cNvSpPr/>
                <p:nvPr/>
              </p:nvSpPr>
              <p:spPr>
                <a:xfrm rot="10800000">
                  <a:off x="-1072681" y="4097966"/>
                  <a:ext cx="5443206" cy="4667934"/>
                </a:xfrm>
                <a:prstGeom prst="arc">
                  <a:avLst>
                    <a:gd name="adj1" fmla="val 5421064"/>
                    <a:gd name="adj2" fmla="val 10104832"/>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799"/>
                </a:p>
              </p:txBody>
            </p:sp>
            <p:grpSp>
              <p:nvGrpSpPr>
                <p:cNvPr id="107" name="Group 106">
                  <a:extLst>
                    <a:ext uri="{FF2B5EF4-FFF2-40B4-BE49-F238E27FC236}">
                      <a16:creationId xmlns:a16="http://schemas.microsoft.com/office/drawing/2014/main" id="{83945729-556C-9418-44DE-E52A0E250151}"/>
                    </a:ext>
                  </a:extLst>
                </p:cNvPr>
                <p:cNvGrpSpPr/>
                <p:nvPr/>
              </p:nvGrpSpPr>
              <p:grpSpPr>
                <a:xfrm>
                  <a:off x="-2329703" y="-2335865"/>
                  <a:ext cx="11569955" cy="12849927"/>
                  <a:chOff x="-2329703" y="-2335865"/>
                  <a:chExt cx="11569955" cy="12849927"/>
                </a:xfrm>
              </p:grpSpPr>
              <p:grpSp>
                <p:nvGrpSpPr>
                  <p:cNvPr id="108" name="Group 107">
                    <a:extLst>
                      <a:ext uri="{FF2B5EF4-FFF2-40B4-BE49-F238E27FC236}">
                        <a16:creationId xmlns:a16="http://schemas.microsoft.com/office/drawing/2014/main" id="{400B262B-AD10-CFA8-9515-C81F2D8F496E}"/>
                      </a:ext>
                    </a:extLst>
                  </p:cNvPr>
                  <p:cNvGrpSpPr/>
                  <p:nvPr/>
                </p:nvGrpSpPr>
                <p:grpSpPr>
                  <a:xfrm>
                    <a:off x="-2329703" y="-2335865"/>
                    <a:ext cx="11569955" cy="12849927"/>
                    <a:chOff x="-1059167" y="-760299"/>
                    <a:chExt cx="8589578" cy="9017892"/>
                  </a:xfrm>
                </p:grpSpPr>
                <p:grpSp>
                  <p:nvGrpSpPr>
                    <p:cNvPr id="115" name="Group 114">
                      <a:extLst>
                        <a:ext uri="{FF2B5EF4-FFF2-40B4-BE49-F238E27FC236}">
                          <a16:creationId xmlns:a16="http://schemas.microsoft.com/office/drawing/2014/main" id="{CB64E235-57F3-3BF7-CF77-A6E3530639EF}"/>
                        </a:ext>
                      </a:extLst>
                    </p:cNvPr>
                    <p:cNvGrpSpPr/>
                    <p:nvPr/>
                  </p:nvGrpSpPr>
                  <p:grpSpPr>
                    <a:xfrm>
                      <a:off x="1402210" y="-760299"/>
                      <a:ext cx="6128201" cy="5898333"/>
                      <a:chOff x="1717933" y="-440129"/>
                      <a:chExt cx="6128201" cy="5898333"/>
                    </a:xfrm>
                  </p:grpSpPr>
                  <p:grpSp>
                    <p:nvGrpSpPr>
                      <p:cNvPr id="117" name="Group 116">
                        <a:extLst>
                          <a:ext uri="{FF2B5EF4-FFF2-40B4-BE49-F238E27FC236}">
                            <a16:creationId xmlns:a16="http://schemas.microsoft.com/office/drawing/2014/main" id="{DCC1F724-6B4B-4E5D-F808-8546DB9730EC}"/>
                          </a:ext>
                        </a:extLst>
                      </p:cNvPr>
                      <p:cNvGrpSpPr/>
                      <p:nvPr/>
                    </p:nvGrpSpPr>
                    <p:grpSpPr>
                      <a:xfrm>
                        <a:off x="1729307" y="2629653"/>
                        <a:ext cx="3589238" cy="2828551"/>
                        <a:chOff x="1729307" y="2629653"/>
                        <a:chExt cx="3589238" cy="2828551"/>
                      </a:xfrm>
                    </p:grpSpPr>
                    <p:cxnSp>
                      <p:nvCxnSpPr>
                        <p:cNvPr id="124" name="Straight Arrow Connector 123">
                          <a:extLst>
                            <a:ext uri="{FF2B5EF4-FFF2-40B4-BE49-F238E27FC236}">
                              <a16:creationId xmlns:a16="http://schemas.microsoft.com/office/drawing/2014/main" id="{168C8E30-6A4A-1AFF-91E9-FC078645E681}"/>
                            </a:ext>
                          </a:extLst>
                        </p:cNvPr>
                        <p:cNvCxnSpPr>
                          <a:cxnSpLocks/>
                        </p:cNvCxnSpPr>
                        <p:nvPr/>
                      </p:nvCxnSpPr>
                      <p:spPr>
                        <a:xfrm flipV="1">
                          <a:off x="1985197" y="2629653"/>
                          <a:ext cx="0" cy="282855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1BCCFC0F-2984-8099-1FBE-52B7F0AFF04A}"/>
                            </a:ext>
                          </a:extLst>
                        </p:cNvPr>
                        <p:cNvCxnSpPr>
                          <a:cxnSpLocks/>
                        </p:cNvCxnSpPr>
                        <p:nvPr/>
                      </p:nvCxnSpPr>
                      <p:spPr>
                        <a:xfrm flipV="1">
                          <a:off x="1729307" y="4063716"/>
                          <a:ext cx="3589238" cy="43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8" name="Group 117">
                        <a:extLst>
                          <a:ext uri="{FF2B5EF4-FFF2-40B4-BE49-F238E27FC236}">
                            <a16:creationId xmlns:a16="http://schemas.microsoft.com/office/drawing/2014/main" id="{67C0F9C2-784E-7C00-F9DA-073425E40863}"/>
                          </a:ext>
                        </a:extLst>
                      </p:cNvPr>
                      <p:cNvGrpSpPr/>
                      <p:nvPr/>
                    </p:nvGrpSpPr>
                    <p:grpSpPr>
                      <a:xfrm>
                        <a:off x="1717933" y="-440129"/>
                        <a:ext cx="6128201" cy="4773176"/>
                        <a:chOff x="1717933" y="-440129"/>
                        <a:chExt cx="6128201" cy="4773176"/>
                      </a:xfrm>
                    </p:grpSpPr>
                    <p:grpSp>
                      <p:nvGrpSpPr>
                        <p:cNvPr id="119" name="Group 118">
                          <a:extLst>
                            <a:ext uri="{FF2B5EF4-FFF2-40B4-BE49-F238E27FC236}">
                              <a16:creationId xmlns:a16="http://schemas.microsoft.com/office/drawing/2014/main" id="{9E3D47EB-F8C2-0E73-D732-F165556300AA}"/>
                            </a:ext>
                          </a:extLst>
                        </p:cNvPr>
                        <p:cNvGrpSpPr/>
                        <p:nvPr/>
                      </p:nvGrpSpPr>
                      <p:grpSpPr>
                        <a:xfrm>
                          <a:off x="2678124" y="-440129"/>
                          <a:ext cx="5168010" cy="4554772"/>
                          <a:chOff x="2678124" y="-440129"/>
                          <a:chExt cx="5168010" cy="4554772"/>
                        </a:xfrm>
                      </p:grpSpPr>
                      <p:sp>
                        <p:nvSpPr>
                          <p:cNvPr id="122" name="Oval 121">
                            <a:extLst>
                              <a:ext uri="{FF2B5EF4-FFF2-40B4-BE49-F238E27FC236}">
                                <a16:creationId xmlns:a16="http://schemas.microsoft.com/office/drawing/2014/main" id="{85E708AF-A07E-78E6-8644-5068FF111A7D}"/>
                              </a:ext>
                            </a:extLst>
                          </p:cNvPr>
                          <p:cNvSpPr/>
                          <p:nvPr/>
                        </p:nvSpPr>
                        <p:spPr>
                          <a:xfrm>
                            <a:off x="3496661" y="4023203"/>
                            <a:ext cx="91440" cy="91440"/>
                          </a:xfrm>
                          <a:prstGeom prst="ellipse">
                            <a:avLst/>
                          </a:prstGeom>
                          <a:solidFill>
                            <a:schemeClr val="bg2">
                              <a:lumMod val="9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99"/>
                          </a:p>
                        </p:txBody>
                      </p:sp>
                      <p:sp>
                        <p:nvSpPr>
                          <p:cNvPr id="123" name="Arc 122">
                            <a:extLst>
                              <a:ext uri="{FF2B5EF4-FFF2-40B4-BE49-F238E27FC236}">
                                <a16:creationId xmlns:a16="http://schemas.microsoft.com/office/drawing/2014/main" id="{5AC97440-55B6-2059-B0A0-21633F940B8C}"/>
                              </a:ext>
                            </a:extLst>
                          </p:cNvPr>
                          <p:cNvSpPr/>
                          <p:nvPr/>
                        </p:nvSpPr>
                        <p:spPr>
                          <a:xfrm>
                            <a:off x="2678124" y="-440129"/>
                            <a:ext cx="5168010" cy="4528742"/>
                          </a:xfrm>
                          <a:prstGeom prst="arc">
                            <a:avLst>
                              <a:gd name="adj1" fmla="val 5947434"/>
                              <a:gd name="adj2" fmla="val 9366748"/>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799"/>
                          </a:p>
                        </p:txBody>
                      </p:sp>
                    </p:grpSp>
                    <p:sp>
                      <p:nvSpPr>
                        <p:cNvPr id="120" name="TextBox 119">
                          <a:extLst>
                            <a:ext uri="{FF2B5EF4-FFF2-40B4-BE49-F238E27FC236}">
                              <a16:creationId xmlns:a16="http://schemas.microsoft.com/office/drawing/2014/main" id="{197DCF22-F28E-D048-A43F-C4C5C20B11A4}"/>
                            </a:ext>
                          </a:extLst>
                        </p:cNvPr>
                        <p:cNvSpPr txBox="1"/>
                        <p:nvPr/>
                      </p:nvSpPr>
                      <p:spPr>
                        <a:xfrm>
                          <a:off x="4825771" y="4117144"/>
                          <a:ext cx="532012" cy="215903"/>
                        </a:xfrm>
                        <a:prstGeom prst="rect">
                          <a:avLst/>
                        </a:prstGeom>
                        <a:noFill/>
                      </p:spPr>
                      <p:txBody>
                        <a:bodyPr wrap="square" lIns="0" tIns="0" rIns="0" bIns="0" rtlCol="0">
                          <a:spAutoFit/>
                        </a:bodyPr>
                        <a:lstStyle/>
                        <a:p>
                          <a:pPr algn="ctr"/>
                          <a:r>
                            <a:rPr lang="en-US" sz="1999" dirty="0">
                              <a:latin typeface="Arial" panose="020B0604020202020204" pitchFamily="34" charset="0"/>
                              <a:ea typeface="Fira Sans" panose="020B0503050000020004" pitchFamily="34" charset="0"/>
                              <a:cs typeface="Arial" panose="020B0604020202020204" pitchFamily="34" charset="0"/>
                            </a:rPr>
                            <a:t>Angle</a:t>
                          </a:r>
                        </a:p>
                      </p:txBody>
                    </p:sp>
                    <p:sp>
                      <p:nvSpPr>
                        <p:cNvPr id="121" name="TextBox 120">
                          <a:extLst>
                            <a:ext uri="{FF2B5EF4-FFF2-40B4-BE49-F238E27FC236}">
                              <a16:creationId xmlns:a16="http://schemas.microsoft.com/office/drawing/2014/main" id="{84515453-885E-18AB-7AC0-D04D80E61FE7}"/>
                            </a:ext>
                          </a:extLst>
                        </p:cNvPr>
                        <p:cNvSpPr txBox="1"/>
                        <p:nvPr/>
                      </p:nvSpPr>
                      <p:spPr>
                        <a:xfrm rot="16200000">
                          <a:off x="1551178" y="2850780"/>
                          <a:ext cx="561909" cy="228399"/>
                        </a:xfrm>
                        <a:prstGeom prst="rect">
                          <a:avLst/>
                        </a:prstGeom>
                        <a:noFill/>
                      </p:spPr>
                      <p:txBody>
                        <a:bodyPr wrap="square" lIns="0" tIns="0" rIns="0" bIns="0" rtlCol="0">
                          <a:spAutoFit/>
                        </a:bodyPr>
                        <a:lstStyle/>
                        <a:p>
                          <a:pPr algn="ctr"/>
                          <a:r>
                            <a:rPr lang="en-US" sz="1999" dirty="0">
                              <a:latin typeface="Arial" panose="020B0604020202020204" pitchFamily="34" charset="0"/>
                              <a:ea typeface="Fira Sans" panose="020B0503050000020004" pitchFamily="34" charset="0"/>
                              <a:cs typeface="Arial" panose="020B0604020202020204" pitchFamily="34" charset="0"/>
                            </a:rPr>
                            <a:t>Torque</a:t>
                          </a:r>
                        </a:p>
                      </p:txBody>
                    </p:sp>
                  </p:grpSp>
                </p:grpSp>
                <p:sp>
                  <p:nvSpPr>
                    <p:cNvPr id="116" name="Arc 115">
                      <a:extLst>
                        <a:ext uri="{FF2B5EF4-FFF2-40B4-BE49-F238E27FC236}">
                          <a16:creationId xmlns:a16="http://schemas.microsoft.com/office/drawing/2014/main" id="{D98F049E-FCDA-CC22-0347-92BA3D890CFF}"/>
                        </a:ext>
                      </a:extLst>
                    </p:cNvPr>
                    <p:cNvSpPr/>
                    <p:nvPr/>
                  </p:nvSpPr>
                  <p:spPr>
                    <a:xfrm rot="10800000">
                      <a:off x="-1059167" y="3728851"/>
                      <a:ext cx="5168010" cy="4528742"/>
                    </a:xfrm>
                    <a:prstGeom prst="arc">
                      <a:avLst>
                        <a:gd name="adj1" fmla="val 5947434"/>
                        <a:gd name="adj2" fmla="val 9366748"/>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799"/>
                    </a:p>
                  </p:txBody>
                </p:sp>
              </p:grp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E5AB4C6A-60D2-DB6A-2F09-B7E87652D2AB}"/>
                          </a:ext>
                        </a:extLst>
                      </p:cNvPr>
                      <p:cNvSpPr txBox="1"/>
                      <p:nvPr/>
                    </p:nvSpPr>
                    <p:spPr>
                      <a:xfrm>
                        <a:off x="2367417" y="3414144"/>
                        <a:ext cx="200375" cy="3076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999" i="1">
                                  <a:latin typeface="Cambria Math" panose="02040503050406030204" pitchFamily="18" charset="0"/>
                                </a:rPr>
                                <m:t>2</m:t>
                              </m:r>
                            </m:oMath>
                          </m:oMathPara>
                        </a14:m>
                        <a:endParaRPr lang="en-US" sz="1999" dirty="0"/>
                      </a:p>
                    </p:txBody>
                  </p:sp>
                </mc:Choice>
                <mc:Fallback xmlns="">
                  <p:sp>
                    <p:nvSpPr>
                      <p:cNvPr id="109" name="TextBox 108">
                        <a:extLst>
                          <a:ext uri="{FF2B5EF4-FFF2-40B4-BE49-F238E27FC236}">
                            <a16:creationId xmlns:a16="http://schemas.microsoft.com/office/drawing/2014/main" id="{E5AB4C6A-60D2-DB6A-2F09-B7E87652D2AB}"/>
                          </a:ext>
                        </a:extLst>
                      </p:cNvPr>
                      <p:cNvSpPr txBox="1">
                        <a:spLocks noRot="1" noChangeAspect="1" noMove="1" noResize="1" noEditPoints="1" noAdjustHandles="1" noChangeArrowheads="1" noChangeShapeType="1" noTextEdit="1"/>
                      </p:cNvSpPr>
                      <p:nvPr/>
                    </p:nvSpPr>
                    <p:spPr>
                      <a:xfrm>
                        <a:off x="2367417" y="3414144"/>
                        <a:ext cx="200375" cy="307648"/>
                      </a:xfrm>
                      <a:prstGeom prst="rect">
                        <a:avLst/>
                      </a:prstGeom>
                      <a:blipFill>
                        <a:blip r:embed="rId5"/>
                        <a:stretch>
                          <a:fillRect l="-30303" r="-27273" b="-6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03A0FC41-6AE6-04F7-A240-6C2E4C235911}"/>
                          </a:ext>
                        </a:extLst>
                      </p:cNvPr>
                      <p:cNvSpPr txBox="1"/>
                      <p:nvPr/>
                    </p:nvSpPr>
                    <p:spPr>
                      <a:xfrm>
                        <a:off x="4353813" y="4469239"/>
                        <a:ext cx="134072" cy="30764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999" i="1">
                                  <a:latin typeface="Cambria Math" panose="02040503050406030204" pitchFamily="18" charset="0"/>
                                </a:rPr>
                                <m:t>4</m:t>
                              </m:r>
                            </m:oMath>
                          </m:oMathPara>
                        </a14:m>
                        <a:endParaRPr lang="en-US" sz="1999" dirty="0"/>
                      </a:p>
                    </p:txBody>
                  </p:sp>
                </mc:Choice>
                <mc:Fallback xmlns="">
                  <p:sp>
                    <p:nvSpPr>
                      <p:cNvPr id="110" name="TextBox 109">
                        <a:extLst>
                          <a:ext uri="{FF2B5EF4-FFF2-40B4-BE49-F238E27FC236}">
                            <a16:creationId xmlns:a16="http://schemas.microsoft.com/office/drawing/2014/main" id="{03A0FC41-6AE6-04F7-A240-6C2E4C235911}"/>
                          </a:ext>
                        </a:extLst>
                      </p:cNvPr>
                      <p:cNvSpPr txBox="1">
                        <a:spLocks noRot="1" noChangeAspect="1" noMove="1" noResize="1" noEditPoints="1" noAdjustHandles="1" noChangeArrowheads="1" noChangeShapeType="1" noTextEdit="1"/>
                      </p:cNvSpPr>
                      <p:nvPr/>
                    </p:nvSpPr>
                    <p:spPr>
                      <a:xfrm>
                        <a:off x="4353813" y="4469239"/>
                        <a:ext cx="134072" cy="307648"/>
                      </a:xfrm>
                      <a:prstGeom prst="rect">
                        <a:avLst/>
                      </a:prstGeom>
                      <a:blipFill>
                        <a:blip r:embed="rId6"/>
                        <a:stretch>
                          <a:fillRect l="-63636" r="-72727" b="-6000"/>
                        </a:stretch>
                      </a:blipFill>
                    </p:spPr>
                    <p:txBody>
                      <a:bodyPr/>
                      <a:lstStyle/>
                      <a:p>
                        <a:r>
                          <a:rPr lang="zh-CN" altLang="en-US">
                            <a:noFill/>
                          </a:rPr>
                          <a:t> </a:t>
                        </a:r>
                      </a:p>
                    </p:txBody>
                  </p:sp>
                </mc:Fallback>
              </mc:AlternateContent>
              <p:sp>
                <p:nvSpPr>
                  <p:cNvPr id="111" name="Isosceles Triangle 110">
                    <a:extLst>
                      <a:ext uri="{FF2B5EF4-FFF2-40B4-BE49-F238E27FC236}">
                        <a16:creationId xmlns:a16="http://schemas.microsoft.com/office/drawing/2014/main" id="{7F3C81BB-D792-0EF1-8EF0-63C7B3C88486}"/>
                      </a:ext>
                    </a:extLst>
                  </p:cNvPr>
                  <p:cNvSpPr/>
                  <p:nvPr/>
                </p:nvSpPr>
                <p:spPr>
                  <a:xfrm rot="18971617">
                    <a:off x="2896640" y="3105339"/>
                    <a:ext cx="60325" cy="14446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a:p>
                </p:txBody>
              </p:sp>
              <p:sp>
                <p:nvSpPr>
                  <p:cNvPr id="112" name="Isosceles Triangle 111">
                    <a:extLst>
                      <a:ext uri="{FF2B5EF4-FFF2-40B4-BE49-F238E27FC236}">
                        <a16:creationId xmlns:a16="http://schemas.microsoft.com/office/drawing/2014/main" id="{D2130824-185E-BA7B-39DB-23B8264E62E9}"/>
                      </a:ext>
                    </a:extLst>
                  </p:cNvPr>
                  <p:cNvSpPr/>
                  <p:nvPr/>
                </p:nvSpPr>
                <p:spPr>
                  <a:xfrm rot="8244620">
                    <a:off x="2614003" y="3469660"/>
                    <a:ext cx="60325" cy="14446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a:p>
                </p:txBody>
              </p:sp>
              <p:sp>
                <p:nvSpPr>
                  <p:cNvPr id="113" name="Isosceles Triangle 112">
                    <a:extLst>
                      <a:ext uri="{FF2B5EF4-FFF2-40B4-BE49-F238E27FC236}">
                        <a16:creationId xmlns:a16="http://schemas.microsoft.com/office/drawing/2014/main" id="{C6B87506-67EC-5EE8-97B9-369E4B567788}"/>
                      </a:ext>
                    </a:extLst>
                  </p:cNvPr>
                  <p:cNvSpPr/>
                  <p:nvPr/>
                </p:nvSpPr>
                <p:spPr>
                  <a:xfrm rot="18933006">
                    <a:off x="4243649" y="4581272"/>
                    <a:ext cx="60325" cy="14446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a:p>
                </p:txBody>
              </p:sp>
              <p:sp>
                <p:nvSpPr>
                  <p:cNvPr id="114" name="Isosceles Triangle 113">
                    <a:extLst>
                      <a:ext uri="{FF2B5EF4-FFF2-40B4-BE49-F238E27FC236}">
                        <a16:creationId xmlns:a16="http://schemas.microsoft.com/office/drawing/2014/main" id="{7AEEEB08-541F-E440-73B2-E729FF6E8D9C}"/>
                      </a:ext>
                    </a:extLst>
                  </p:cNvPr>
                  <p:cNvSpPr/>
                  <p:nvPr/>
                </p:nvSpPr>
                <p:spPr>
                  <a:xfrm rot="8393500">
                    <a:off x="3944451" y="4920037"/>
                    <a:ext cx="60325" cy="144462"/>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9"/>
                  </a:p>
                </p:txBody>
              </p:sp>
            </p:grpSp>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4AA2AE86-A180-9D71-B47C-AF490E1885F3}"/>
                      </a:ext>
                    </a:extLst>
                  </p:cNvPr>
                  <p:cNvSpPr txBox="1"/>
                  <p:nvPr/>
                </p:nvSpPr>
                <p:spPr>
                  <a:xfrm>
                    <a:off x="1311423" y="4091959"/>
                    <a:ext cx="825772" cy="4246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999" i="1">
                                  <a:latin typeface="Cambria Math" panose="02040503050406030204" pitchFamily="18" charset="0"/>
                                </a:rPr>
                              </m:ctrlPr>
                            </m:sSubPr>
                            <m:e>
                              <m:r>
                                <a:rPr lang="en-US" sz="1999" i="1">
                                  <a:latin typeface="Cambria Math" panose="02040503050406030204" pitchFamily="18" charset="0"/>
                                </a:rPr>
                                <m:t>𝑃</m:t>
                              </m:r>
                            </m:e>
                            <m:sub>
                              <m:r>
                                <a:rPr lang="en-US" sz="1999" i="1">
                                  <a:latin typeface="Cambria Math" panose="02040503050406030204" pitchFamily="18" charset="0"/>
                                </a:rPr>
                                <m:t>𝑙𝑒𝑓𝑡</m:t>
                              </m:r>
                              <m:r>
                                <a:rPr lang="en-US" sz="1999" i="1">
                                  <a:latin typeface="Cambria Math" panose="02040503050406030204" pitchFamily="18" charset="0"/>
                                </a:rPr>
                                <m:t> </m:t>
                              </m:r>
                              <m:r>
                                <a:rPr lang="en-US" sz="1999" i="1">
                                  <a:latin typeface="Cambria Math" panose="02040503050406030204" pitchFamily="18" charset="0"/>
                                </a:rPr>
                                <m:t>𝑙𝑜𝑤</m:t>
                              </m:r>
                            </m:sub>
                          </m:sSub>
                        </m:oMath>
                      </m:oMathPara>
                    </a14:m>
                    <a:endParaRPr lang="en-US" sz="1999" dirty="0"/>
                  </a:p>
                </p:txBody>
              </p:sp>
            </mc:Choice>
            <mc:Fallback xmlns="">
              <p:sp>
                <p:nvSpPr>
                  <p:cNvPr id="93" name="TextBox 92">
                    <a:extLst>
                      <a:ext uri="{FF2B5EF4-FFF2-40B4-BE49-F238E27FC236}">
                        <a16:creationId xmlns:a16="http://schemas.microsoft.com/office/drawing/2014/main" id="{4AA2AE86-A180-9D71-B47C-AF490E1885F3}"/>
                      </a:ext>
                    </a:extLst>
                  </p:cNvPr>
                  <p:cNvSpPr txBox="1">
                    <a:spLocks noRot="1" noChangeAspect="1" noMove="1" noResize="1" noEditPoints="1" noAdjustHandles="1" noChangeArrowheads="1" noChangeShapeType="1" noTextEdit="1"/>
                  </p:cNvSpPr>
                  <p:nvPr/>
                </p:nvSpPr>
                <p:spPr>
                  <a:xfrm>
                    <a:off x="1311423" y="4091959"/>
                    <a:ext cx="825772" cy="424668"/>
                  </a:xfrm>
                  <a:prstGeom prst="rect">
                    <a:avLst/>
                  </a:prstGeom>
                  <a:blipFill>
                    <a:blip r:embed="rId7"/>
                    <a:stretch>
                      <a:fillRect r="-23529" b="-101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2274F0B3-727C-CF0B-8EC2-D956D9747FEE}"/>
                      </a:ext>
                    </a:extLst>
                  </p:cNvPr>
                  <p:cNvSpPr txBox="1"/>
                  <p:nvPr/>
                </p:nvSpPr>
                <p:spPr>
                  <a:xfrm>
                    <a:off x="4652028" y="3570322"/>
                    <a:ext cx="1316441" cy="42505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999" i="1">
                                  <a:latin typeface="Cambria Math" panose="02040503050406030204" pitchFamily="18" charset="0"/>
                                </a:rPr>
                              </m:ctrlPr>
                            </m:sSubPr>
                            <m:e>
                              <m:r>
                                <a:rPr lang="en-US" sz="1999" i="1">
                                  <a:latin typeface="Cambria Math" panose="02040503050406030204" pitchFamily="18" charset="0"/>
                                </a:rPr>
                                <m:t>𝑃</m:t>
                              </m:r>
                            </m:e>
                            <m:sub>
                              <m:r>
                                <a:rPr lang="en-US" sz="1999" i="1">
                                  <a:latin typeface="Cambria Math" panose="02040503050406030204" pitchFamily="18" charset="0"/>
                                </a:rPr>
                                <m:t>𝑟𝑖𝑔h𝑡</m:t>
                              </m:r>
                              <m:r>
                                <a:rPr lang="en-US" sz="1999" i="1">
                                  <a:latin typeface="Cambria Math" panose="02040503050406030204" pitchFamily="18" charset="0"/>
                                </a:rPr>
                                <m:t> </m:t>
                              </m:r>
                              <m:r>
                                <a:rPr lang="en-US" sz="1999" i="1">
                                  <a:latin typeface="Cambria Math" panose="02040503050406030204" pitchFamily="18" charset="0"/>
                                </a:rPr>
                                <m:t>𝑙𝑜𝑤</m:t>
                              </m:r>
                            </m:sub>
                          </m:sSub>
                        </m:oMath>
                      </m:oMathPara>
                    </a14:m>
                    <a:endParaRPr lang="en-US" sz="1999" dirty="0"/>
                  </a:p>
                </p:txBody>
              </p:sp>
            </mc:Choice>
            <mc:Fallback xmlns="">
              <p:sp>
                <p:nvSpPr>
                  <p:cNvPr id="94" name="TextBox 93">
                    <a:extLst>
                      <a:ext uri="{FF2B5EF4-FFF2-40B4-BE49-F238E27FC236}">
                        <a16:creationId xmlns:a16="http://schemas.microsoft.com/office/drawing/2014/main" id="{2274F0B3-727C-CF0B-8EC2-D956D9747FEE}"/>
                      </a:ext>
                    </a:extLst>
                  </p:cNvPr>
                  <p:cNvSpPr txBox="1">
                    <a:spLocks noRot="1" noChangeAspect="1" noMove="1" noResize="1" noEditPoints="1" noAdjustHandles="1" noChangeArrowheads="1" noChangeShapeType="1" noTextEdit="1"/>
                  </p:cNvSpPr>
                  <p:nvPr/>
                </p:nvSpPr>
                <p:spPr>
                  <a:xfrm>
                    <a:off x="4652028" y="3570322"/>
                    <a:ext cx="1316441" cy="425053"/>
                  </a:xfrm>
                  <a:prstGeom prst="rect">
                    <a:avLst/>
                  </a:prstGeom>
                  <a:blipFill>
                    <a:blip r:embed="rId8"/>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42C9D29B-D09A-C1A6-3210-12E2AD8F3001}"/>
                      </a:ext>
                    </a:extLst>
                  </p:cNvPr>
                  <p:cNvSpPr txBox="1"/>
                  <p:nvPr/>
                </p:nvSpPr>
                <p:spPr>
                  <a:xfrm>
                    <a:off x="1486267" y="5251988"/>
                    <a:ext cx="1833900" cy="554254"/>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lang="en-US" sz="1801" i="1">
                              <a:solidFill>
                                <a:srgbClr val="FF0000"/>
                              </a:solidFill>
                              <a:latin typeface="Cambria Math" panose="02040503050406030204" pitchFamily="18" charset="0"/>
                            </a:rPr>
                            <m:t>𝑅𝑒𝑑</m:t>
                          </m:r>
                          <m:r>
                            <a:rPr lang="en-US" sz="1801" i="1">
                              <a:solidFill>
                                <a:srgbClr val="FF0000"/>
                              </a:solidFill>
                              <a:latin typeface="Cambria Math" panose="02040503050406030204" pitchFamily="18" charset="0"/>
                            </a:rPr>
                            <m:t>:</m:t>
                          </m:r>
                          <m:r>
                            <a:rPr lang="en-US" sz="1801" i="1">
                              <a:solidFill>
                                <a:srgbClr val="FF0000"/>
                              </a:solidFill>
                              <a:latin typeface="Cambria Math" panose="02040503050406030204" pitchFamily="18" charset="0"/>
                            </a:rPr>
                            <m:t>𝑙𝑒𝑛𝑔𝑡h𝑒𝑛𝑖𝑛𝑔</m:t>
                          </m:r>
                        </m:oMath>
                      </m:oMathPara>
                    </a14:m>
                    <a:endParaRPr lang="en-US" sz="1801" i="1" dirty="0">
                      <a:solidFill>
                        <a:srgbClr val="FF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1801" i="1">
                              <a:solidFill>
                                <a:schemeClr val="accent1"/>
                              </a:solidFill>
                              <a:latin typeface="Cambria Math" panose="02040503050406030204" pitchFamily="18" charset="0"/>
                            </a:rPr>
                            <m:t>𝐵𝑙𝑢𝑒</m:t>
                          </m:r>
                          <m:r>
                            <a:rPr lang="en-US" sz="1801" i="1">
                              <a:solidFill>
                                <a:schemeClr val="accent1"/>
                              </a:solidFill>
                              <a:latin typeface="Cambria Math" panose="02040503050406030204" pitchFamily="18" charset="0"/>
                            </a:rPr>
                            <m:t>:</m:t>
                          </m:r>
                          <m:r>
                            <a:rPr lang="en-US" sz="1801" i="1">
                              <a:solidFill>
                                <a:schemeClr val="accent1"/>
                              </a:solidFill>
                              <a:latin typeface="Cambria Math" panose="02040503050406030204" pitchFamily="18" charset="0"/>
                            </a:rPr>
                            <m:t>𝑠h𝑜𝑟𝑡𝑒𝑛𝑖𝑛𝑔</m:t>
                          </m:r>
                        </m:oMath>
                      </m:oMathPara>
                    </a14:m>
                    <a:endParaRPr lang="en-US" sz="1801" dirty="0">
                      <a:solidFill>
                        <a:schemeClr val="accent1"/>
                      </a:solidFill>
                    </a:endParaRPr>
                  </a:p>
                </p:txBody>
              </p:sp>
            </mc:Choice>
            <mc:Fallback xmlns="">
              <p:sp>
                <p:nvSpPr>
                  <p:cNvPr id="95" name="TextBox 94">
                    <a:extLst>
                      <a:ext uri="{FF2B5EF4-FFF2-40B4-BE49-F238E27FC236}">
                        <a16:creationId xmlns:a16="http://schemas.microsoft.com/office/drawing/2014/main" id="{42C9D29B-D09A-C1A6-3210-12E2AD8F3001}"/>
                      </a:ext>
                    </a:extLst>
                  </p:cNvPr>
                  <p:cNvSpPr txBox="1">
                    <a:spLocks noRot="1" noChangeAspect="1" noMove="1" noResize="1" noEditPoints="1" noAdjustHandles="1" noChangeArrowheads="1" noChangeShapeType="1" noTextEdit="1"/>
                  </p:cNvSpPr>
                  <p:nvPr/>
                </p:nvSpPr>
                <p:spPr>
                  <a:xfrm>
                    <a:off x="1486267" y="5251988"/>
                    <a:ext cx="1833900" cy="554254"/>
                  </a:xfrm>
                  <a:prstGeom prst="rect">
                    <a:avLst/>
                  </a:prstGeom>
                  <a:blipFill>
                    <a:blip r:embed="rId9"/>
                    <a:stretch>
                      <a:fillRect l="-4651" r="-2326" b="-16484"/>
                    </a:stretch>
                  </a:blipFill>
                </p:spPr>
                <p:txBody>
                  <a:bodyPr/>
                  <a:lstStyle/>
                  <a:p>
                    <a:r>
                      <a:rPr lang="zh-CN" altLang="en-US">
                        <a:noFill/>
                      </a:rPr>
                      <a:t> </a:t>
                    </a:r>
                  </a:p>
                </p:txBody>
              </p:sp>
            </mc:Fallback>
          </mc:AlternateContent>
          <p:cxnSp>
            <p:nvCxnSpPr>
              <p:cNvPr id="96" name="Straight Connector 95">
                <a:extLst>
                  <a:ext uri="{FF2B5EF4-FFF2-40B4-BE49-F238E27FC236}">
                    <a16:creationId xmlns:a16="http://schemas.microsoft.com/office/drawing/2014/main" id="{B3B34A74-1D18-B3BB-49D2-8AE747A48A35}"/>
                  </a:ext>
                </a:extLst>
              </p:cNvPr>
              <p:cNvCxnSpPr/>
              <p:nvPr/>
            </p:nvCxnSpPr>
            <p:spPr>
              <a:xfrm>
                <a:off x="2496998" y="2705176"/>
                <a:ext cx="2220111" cy="244094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67838D0F-5DBD-488B-0731-11EA3AFDC6AA}"/>
                  </a:ext>
                </a:extLst>
              </p:cNvPr>
              <p:cNvCxnSpPr/>
              <p:nvPr/>
            </p:nvCxnSpPr>
            <p:spPr>
              <a:xfrm>
                <a:off x="2140254" y="2981351"/>
                <a:ext cx="2220111" cy="244094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AF410A45-975A-2C2D-FCD5-EB9405ADE6D6}"/>
                      </a:ext>
                    </a:extLst>
                  </p:cNvPr>
                  <p:cNvSpPr txBox="1"/>
                  <p:nvPr/>
                </p:nvSpPr>
                <p:spPr>
                  <a:xfrm>
                    <a:off x="4008527" y="4824157"/>
                    <a:ext cx="134072" cy="30764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999" i="1">
                              <a:latin typeface="Cambria Math" panose="02040503050406030204" pitchFamily="18" charset="0"/>
                            </a:rPr>
                            <m:t>3</m:t>
                          </m:r>
                        </m:oMath>
                      </m:oMathPara>
                    </a14:m>
                    <a:endParaRPr lang="en-US" sz="1999" dirty="0"/>
                  </a:p>
                </p:txBody>
              </p:sp>
            </mc:Choice>
            <mc:Fallback xmlns="">
              <p:sp>
                <p:nvSpPr>
                  <p:cNvPr id="98" name="TextBox 97">
                    <a:extLst>
                      <a:ext uri="{FF2B5EF4-FFF2-40B4-BE49-F238E27FC236}">
                        <a16:creationId xmlns:a16="http://schemas.microsoft.com/office/drawing/2014/main" id="{AF410A45-975A-2C2D-FCD5-EB9405ADE6D6}"/>
                      </a:ext>
                    </a:extLst>
                  </p:cNvPr>
                  <p:cNvSpPr txBox="1">
                    <a:spLocks noRot="1" noChangeAspect="1" noMove="1" noResize="1" noEditPoints="1" noAdjustHandles="1" noChangeArrowheads="1" noChangeShapeType="1" noTextEdit="1"/>
                  </p:cNvSpPr>
                  <p:nvPr/>
                </p:nvSpPr>
                <p:spPr>
                  <a:xfrm>
                    <a:off x="4008527" y="4824157"/>
                    <a:ext cx="134072" cy="307648"/>
                  </a:xfrm>
                  <a:prstGeom prst="rect">
                    <a:avLst/>
                  </a:prstGeom>
                  <a:blipFill>
                    <a:blip r:embed="rId10"/>
                    <a:stretch>
                      <a:fillRect l="-68182" r="-68182" b="-6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3EF444F5-2B96-526C-2D57-F8BF824BE82D}"/>
                      </a:ext>
                    </a:extLst>
                  </p:cNvPr>
                  <p:cNvSpPr txBox="1"/>
                  <p:nvPr/>
                </p:nvSpPr>
                <p:spPr>
                  <a:xfrm>
                    <a:off x="2568092" y="2927507"/>
                    <a:ext cx="134072" cy="30764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999" i="1">
                              <a:latin typeface="Cambria Math" panose="02040503050406030204" pitchFamily="18" charset="0"/>
                            </a:rPr>
                            <m:t>1</m:t>
                          </m:r>
                        </m:oMath>
                      </m:oMathPara>
                    </a14:m>
                    <a:endParaRPr lang="en-US" sz="1999" dirty="0"/>
                  </a:p>
                </p:txBody>
              </p:sp>
            </mc:Choice>
            <mc:Fallback xmlns="">
              <p:sp>
                <p:nvSpPr>
                  <p:cNvPr id="99" name="TextBox 98">
                    <a:extLst>
                      <a:ext uri="{FF2B5EF4-FFF2-40B4-BE49-F238E27FC236}">
                        <a16:creationId xmlns:a16="http://schemas.microsoft.com/office/drawing/2014/main" id="{3EF444F5-2B96-526C-2D57-F8BF824BE82D}"/>
                      </a:ext>
                    </a:extLst>
                  </p:cNvPr>
                  <p:cNvSpPr txBox="1">
                    <a:spLocks noRot="1" noChangeAspect="1" noMove="1" noResize="1" noEditPoints="1" noAdjustHandles="1" noChangeArrowheads="1" noChangeShapeType="1" noTextEdit="1"/>
                  </p:cNvSpPr>
                  <p:nvPr/>
                </p:nvSpPr>
                <p:spPr>
                  <a:xfrm>
                    <a:off x="2568092" y="2927507"/>
                    <a:ext cx="134072" cy="307648"/>
                  </a:xfrm>
                  <a:prstGeom prst="rect">
                    <a:avLst/>
                  </a:prstGeom>
                  <a:blipFill>
                    <a:blip r:embed="rId11"/>
                    <a:stretch>
                      <a:fillRect l="-68182" r="-68182" b="-6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2C57CF97-9F4A-3891-F821-944BB1A76C08}"/>
                      </a:ext>
                    </a:extLst>
                  </p:cNvPr>
                  <p:cNvSpPr txBox="1"/>
                  <p:nvPr/>
                </p:nvSpPr>
                <p:spPr>
                  <a:xfrm>
                    <a:off x="1345711" y="3102313"/>
                    <a:ext cx="1031945" cy="3999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999" i="1">
                              <a:latin typeface="Cambria Math" panose="02040503050406030204" pitchFamily="18" charset="0"/>
                              <a:ea typeface="Cambria Math" panose="02040503050406030204" pitchFamily="18" charset="0"/>
                            </a:rPr>
                            <m:t>𝑇𝑛𝑒𝑡</m:t>
                          </m:r>
                          <m:r>
                            <a:rPr lang="en-US" altLang="zh-CN" sz="1999" i="1">
                              <a:latin typeface="Cambria Math" panose="02040503050406030204" pitchFamily="18" charset="0"/>
                              <a:ea typeface="Cambria Math" panose="02040503050406030204" pitchFamily="18" charset="0"/>
                            </a:rPr>
                            <m:t>23</m:t>
                          </m:r>
                        </m:oMath>
                      </m:oMathPara>
                    </a14:m>
                    <a:endParaRPr lang="en-US" sz="1999" dirty="0"/>
                  </a:p>
                </p:txBody>
              </p:sp>
            </mc:Choice>
            <mc:Fallback xmlns="">
              <p:sp>
                <p:nvSpPr>
                  <p:cNvPr id="100" name="TextBox 99">
                    <a:extLst>
                      <a:ext uri="{FF2B5EF4-FFF2-40B4-BE49-F238E27FC236}">
                        <a16:creationId xmlns:a16="http://schemas.microsoft.com/office/drawing/2014/main" id="{2C57CF97-9F4A-3891-F821-944BB1A76C08}"/>
                      </a:ext>
                    </a:extLst>
                  </p:cNvPr>
                  <p:cNvSpPr txBox="1">
                    <a:spLocks noRot="1" noChangeAspect="1" noMove="1" noResize="1" noEditPoints="1" noAdjustHandles="1" noChangeArrowheads="1" noChangeShapeType="1" noTextEdit="1"/>
                  </p:cNvSpPr>
                  <p:nvPr/>
                </p:nvSpPr>
                <p:spPr>
                  <a:xfrm>
                    <a:off x="1345711" y="3102313"/>
                    <a:ext cx="1031945" cy="399981"/>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5310DF34-2A45-F104-6ACE-160010CAD631}"/>
                      </a:ext>
                    </a:extLst>
                  </p:cNvPr>
                  <p:cNvSpPr txBox="1"/>
                  <p:nvPr/>
                </p:nvSpPr>
                <p:spPr>
                  <a:xfrm>
                    <a:off x="4533267" y="4726239"/>
                    <a:ext cx="1031945" cy="3999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999" i="1">
                              <a:latin typeface="Cambria Math" panose="02040503050406030204" pitchFamily="18" charset="0"/>
                              <a:ea typeface="Cambria Math" panose="02040503050406030204" pitchFamily="18" charset="0"/>
                            </a:rPr>
                            <m:t>𝑇𝑛𝑒𝑡</m:t>
                          </m:r>
                          <m:r>
                            <a:rPr lang="en-US" altLang="zh-CN" sz="1999" i="1">
                              <a:latin typeface="Cambria Math" panose="02040503050406030204" pitchFamily="18" charset="0"/>
                              <a:ea typeface="Cambria Math" panose="02040503050406030204" pitchFamily="18" charset="0"/>
                            </a:rPr>
                            <m:t>14</m:t>
                          </m:r>
                        </m:oMath>
                      </m:oMathPara>
                    </a14:m>
                    <a:endParaRPr lang="en-US" sz="1999" dirty="0"/>
                  </a:p>
                </p:txBody>
              </p:sp>
            </mc:Choice>
            <mc:Fallback xmlns="">
              <p:sp>
                <p:nvSpPr>
                  <p:cNvPr id="101" name="TextBox 100">
                    <a:extLst>
                      <a:ext uri="{FF2B5EF4-FFF2-40B4-BE49-F238E27FC236}">
                        <a16:creationId xmlns:a16="http://schemas.microsoft.com/office/drawing/2014/main" id="{5310DF34-2A45-F104-6ACE-160010CAD631}"/>
                      </a:ext>
                    </a:extLst>
                  </p:cNvPr>
                  <p:cNvSpPr txBox="1">
                    <a:spLocks noRot="1" noChangeAspect="1" noMove="1" noResize="1" noEditPoints="1" noAdjustHandles="1" noChangeArrowheads="1" noChangeShapeType="1" noTextEdit="1"/>
                  </p:cNvSpPr>
                  <p:nvPr/>
                </p:nvSpPr>
                <p:spPr>
                  <a:xfrm>
                    <a:off x="4533267" y="4726239"/>
                    <a:ext cx="1031945" cy="399981"/>
                  </a:xfrm>
                  <a:prstGeom prst="rect">
                    <a:avLst/>
                  </a:prstGeom>
                  <a:blipFill>
                    <a:blip r:embed="rId13"/>
                    <a:stretch>
                      <a:fillRect/>
                    </a:stretch>
                  </a:blipFill>
                </p:spPr>
                <p:txBody>
                  <a:bodyPr/>
                  <a:lstStyle/>
                  <a:p>
                    <a:r>
                      <a:rPr lang="zh-CN" altLang="en-US">
                        <a:noFill/>
                      </a:rPr>
                      <a:t> </a:t>
                    </a:r>
                  </a:p>
                </p:txBody>
              </p:sp>
            </mc:Fallback>
          </mc:AlternateContent>
          <p:sp>
            <p:nvSpPr>
              <p:cNvPr id="102" name="Arc 101">
                <a:extLst>
                  <a:ext uri="{FF2B5EF4-FFF2-40B4-BE49-F238E27FC236}">
                    <a16:creationId xmlns:a16="http://schemas.microsoft.com/office/drawing/2014/main" id="{72C7078D-21BD-C9CE-8A16-9AC2396C68B8}"/>
                  </a:ext>
                </a:extLst>
              </p:cNvPr>
              <p:cNvSpPr/>
              <p:nvPr/>
            </p:nvSpPr>
            <p:spPr>
              <a:xfrm rot="5869655">
                <a:off x="4288893" y="5008556"/>
                <a:ext cx="475663" cy="438725"/>
              </a:xfrm>
              <a:prstGeom prst="arc">
                <a:avLst>
                  <a:gd name="adj1" fmla="val 16200000"/>
                  <a:gd name="adj2" fmla="val 21496238"/>
                </a:avLst>
              </a:prstGeom>
              <a:noFill/>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799">
                  <a:ln w="28575">
                    <a:solidFill>
                      <a:schemeClr val="tx1"/>
                    </a:solidFill>
                  </a:ln>
                </a:endParaRPr>
              </a:p>
            </p:txBody>
          </p:sp>
          <p:sp>
            <p:nvSpPr>
              <p:cNvPr id="103" name="Arc 102">
                <a:extLst>
                  <a:ext uri="{FF2B5EF4-FFF2-40B4-BE49-F238E27FC236}">
                    <a16:creationId xmlns:a16="http://schemas.microsoft.com/office/drawing/2014/main" id="{29339DF9-D4D0-5E25-FC90-AE49BCAC4294}"/>
                  </a:ext>
                </a:extLst>
              </p:cNvPr>
              <p:cNvSpPr/>
              <p:nvPr/>
            </p:nvSpPr>
            <p:spPr>
              <a:xfrm rot="16903822">
                <a:off x="2115839" y="2702723"/>
                <a:ext cx="475663" cy="438725"/>
              </a:xfrm>
              <a:prstGeom prst="arc">
                <a:avLst>
                  <a:gd name="adj1" fmla="val 16200000"/>
                  <a:gd name="adj2" fmla="val 21496238"/>
                </a:avLst>
              </a:prstGeom>
              <a:noFill/>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799">
                  <a:ln w="28575">
                    <a:solidFill>
                      <a:schemeClr val="tx1"/>
                    </a:solidFill>
                  </a:ln>
                </a:endParaRPr>
              </a:p>
            </p:txBody>
          </p:sp>
          <p:sp>
            <p:nvSpPr>
              <p:cNvPr id="104" name="Oval 103">
                <a:extLst>
                  <a:ext uri="{FF2B5EF4-FFF2-40B4-BE49-F238E27FC236}">
                    <a16:creationId xmlns:a16="http://schemas.microsoft.com/office/drawing/2014/main" id="{1770CCF8-CB50-2E06-CDCE-3E3EE596BA63}"/>
                  </a:ext>
                </a:extLst>
              </p:cNvPr>
              <p:cNvSpPr/>
              <p:nvPr/>
            </p:nvSpPr>
            <p:spPr>
              <a:xfrm>
                <a:off x="5208683" y="4043059"/>
                <a:ext cx="91440" cy="89840"/>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99"/>
              </a:p>
            </p:txBody>
          </p:sp>
          <p:sp>
            <p:nvSpPr>
              <p:cNvPr id="105" name="Oval 104">
                <a:extLst>
                  <a:ext uri="{FF2B5EF4-FFF2-40B4-BE49-F238E27FC236}">
                    <a16:creationId xmlns:a16="http://schemas.microsoft.com/office/drawing/2014/main" id="{3307D523-B36A-6A6C-78F6-CF77A75CB2DB}"/>
                  </a:ext>
                </a:extLst>
              </p:cNvPr>
              <p:cNvSpPr/>
              <p:nvPr/>
            </p:nvSpPr>
            <p:spPr>
              <a:xfrm>
                <a:off x="1632642" y="4042342"/>
                <a:ext cx="91440" cy="89840"/>
              </a:xfrm>
              <a:prstGeom prst="ellipse">
                <a:avLst/>
              </a:prstGeom>
              <a:solidFill>
                <a:srgbClr val="FF0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99"/>
              </a:p>
            </p:txBody>
          </p:sp>
        </p:grpSp>
      </p:grpSp>
      <p:grpSp>
        <p:nvGrpSpPr>
          <p:cNvPr id="213" name="Group 212">
            <a:extLst>
              <a:ext uri="{FF2B5EF4-FFF2-40B4-BE49-F238E27FC236}">
                <a16:creationId xmlns:a16="http://schemas.microsoft.com/office/drawing/2014/main" id="{7E4153A3-FE79-6B00-27CD-52F5A8C7CA3E}"/>
              </a:ext>
            </a:extLst>
          </p:cNvPr>
          <p:cNvGrpSpPr/>
          <p:nvPr/>
        </p:nvGrpSpPr>
        <p:grpSpPr>
          <a:xfrm>
            <a:off x="13682268" y="14455759"/>
            <a:ext cx="4142138" cy="3616849"/>
            <a:chOff x="23098633" y="14455751"/>
            <a:chExt cx="4142138" cy="3616847"/>
          </a:xfrm>
        </p:grpSpPr>
        <p:pic>
          <p:nvPicPr>
            <p:cNvPr id="199" name="Picture 198">
              <a:extLst>
                <a:ext uri="{FF2B5EF4-FFF2-40B4-BE49-F238E27FC236}">
                  <a16:creationId xmlns:a16="http://schemas.microsoft.com/office/drawing/2014/main" id="{795AF95E-CBEC-197A-734D-7C521EB02BDF}"/>
                </a:ext>
              </a:extLst>
            </p:cNvPr>
            <p:cNvPicPr>
              <a:picLocks noChangeAspect="1"/>
            </p:cNvPicPr>
            <p:nvPr/>
          </p:nvPicPr>
          <p:blipFill rotWithShape="1">
            <a:blip r:embed="rId14">
              <a:extLst>
                <a:ext uri="{28A0092B-C50C-407E-A947-70E740481C1C}">
                  <a14:useLocalDpi xmlns:a14="http://schemas.microsoft.com/office/drawing/2010/main" val="0"/>
                </a:ext>
              </a:extLst>
            </a:blip>
            <a:srcRect r="13327"/>
            <a:stretch/>
          </p:blipFill>
          <p:spPr>
            <a:xfrm>
              <a:off x="23098633" y="14455751"/>
              <a:ext cx="4142138" cy="3588491"/>
            </a:xfrm>
            <a:prstGeom prst="rect">
              <a:avLst/>
            </a:prstGeom>
          </p:spPr>
        </p:pic>
        <p:cxnSp>
          <p:nvCxnSpPr>
            <p:cNvPr id="130" name="Straight Connector 129">
              <a:extLst>
                <a:ext uri="{FF2B5EF4-FFF2-40B4-BE49-F238E27FC236}">
                  <a16:creationId xmlns:a16="http://schemas.microsoft.com/office/drawing/2014/main" id="{38FEF9FC-CBB9-AE6C-455F-1727F9795112}"/>
                </a:ext>
              </a:extLst>
            </p:cNvPr>
            <p:cNvCxnSpPr>
              <a:cxnSpLocks/>
            </p:cNvCxnSpPr>
            <p:nvPr/>
          </p:nvCxnSpPr>
          <p:spPr>
            <a:xfrm>
              <a:off x="23942988" y="15348472"/>
              <a:ext cx="1212472" cy="198531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1" name="Group 160">
              <a:extLst>
                <a:ext uri="{FF2B5EF4-FFF2-40B4-BE49-F238E27FC236}">
                  <a16:creationId xmlns:a16="http://schemas.microsoft.com/office/drawing/2014/main" id="{5A124029-CA10-E998-6B4F-65E4D7459BCF}"/>
                </a:ext>
              </a:extLst>
            </p:cNvPr>
            <p:cNvGrpSpPr/>
            <p:nvPr/>
          </p:nvGrpSpPr>
          <p:grpSpPr>
            <a:xfrm rot="19127713">
              <a:off x="24624956" y="14978190"/>
              <a:ext cx="338170" cy="2392173"/>
              <a:chOff x="25856226" y="15537237"/>
              <a:chExt cx="290512" cy="2507536"/>
            </a:xfrm>
          </p:grpSpPr>
          <p:cxnSp>
            <p:nvCxnSpPr>
              <p:cNvPr id="135" name="Straight Connector 134">
                <a:extLst>
                  <a:ext uri="{FF2B5EF4-FFF2-40B4-BE49-F238E27FC236}">
                    <a16:creationId xmlns:a16="http://schemas.microsoft.com/office/drawing/2014/main" id="{71E1B2FD-F144-A74B-89FA-C4D9FEB0A175}"/>
                  </a:ext>
                </a:extLst>
              </p:cNvPr>
              <p:cNvCxnSpPr>
                <a:cxnSpLocks/>
              </p:cNvCxnSpPr>
              <p:nvPr/>
            </p:nvCxnSpPr>
            <p:spPr>
              <a:xfrm>
                <a:off x="26008048" y="15537237"/>
                <a:ext cx="0" cy="888086"/>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F68B7F10-9102-21D8-B656-2CCBE528ACC2}"/>
                  </a:ext>
                </a:extLst>
              </p:cNvPr>
              <p:cNvCxnSpPr>
                <a:cxnSpLocks/>
              </p:cNvCxnSpPr>
              <p:nvPr/>
            </p:nvCxnSpPr>
            <p:spPr>
              <a:xfrm flipH="1">
                <a:off x="26001482" y="16959847"/>
                <a:ext cx="6566" cy="1084926"/>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71AE340B-E33F-60B0-B8A4-2AC7F0A349BC}"/>
                  </a:ext>
                </a:extLst>
              </p:cNvPr>
              <p:cNvCxnSpPr>
                <a:cxnSpLocks/>
              </p:cNvCxnSpPr>
              <p:nvPr/>
            </p:nvCxnSpPr>
            <p:spPr>
              <a:xfrm flipH="1" flipV="1">
                <a:off x="25856226" y="16904342"/>
                <a:ext cx="145256" cy="52627"/>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5B42369-D504-B5E6-FB9B-CC6E32B2F70E}"/>
                  </a:ext>
                </a:extLst>
              </p:cNvPr>
              <p:cNvCxnSpPr>
                <a:cxnSpLocks/>
              </p:cNvCxnSpPr>
              <p:nvPr/>
            </p:nvCxnSpPr>
            <p:spPr>
              <a:xfrm flipH="1" flipV="1">
                <a:off x="26008048" y="16425324"/>
                <a:ext cx="138690" cy="61788"/>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64B3E045-3755-30C7-37CD-2E692EBD942A}"/>
                  </a:ext>
                </a:extLst>
              </p:cNvPr>
              <p:cNvCxnSpPr>
                <a:cxnSpLocks/>
              </p:cNvCxnSpPr>
              <p:nvPr/>
            </p:nvCxnSpPr>
            <p:spPr>
              <a:xfrm flipH="1" flipV="1">
                <a:off x="25856226" y="16733637"/>
                <a:ext cx="290512" cy="91162"/>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872F245F-5423-E35B-FE94-10AEA10D2164}"/>
                  </a:ext>
                </a:extLst>
              </p:cNvPr>
              <p:cNvCxnSpPr>
                <a:cxnSpLocks/>
              </p:cNvCxnSpPr>
              <p:nvPr/>
            </p:nvCxnSpPr>
            <p:spPr>
              <a:xfrm flipH="1" flipV="1">
                <a:off x="25856226" y="16567119"/>
                <a:ext cx="290512" cy="91162"/>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8AF1D244-1B4B-81DC-EAA2-0E7BD7508B26}"/>
                  </a:ext>
                </a:extLst>
              </p:cNvPr>
              <p:cNvCxnSpPr>
                <a:cxnSpLocks/>
              </p:cNvCxnSpPr>
              <p:nvPr/>
            </p:nvCxnSpPr>
            <p:spPr>
              <a:xfrm flipH="1">
                <a:off x="25856226" y="16660542"/>
                <a:ext cx="290512" cy="7309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D1708F57-320A-D1DF-BF27-7D9570D67FF0}"/>
                  </a:ext>
                </a:extLst>
              </p:cNvPr>
              <p:cNvCxnSpPr>
                <a:cxnSpLocks/>
              </p:cNvCxnSpPr>
              <p:nvPr/>
            </p:nvCxnSpPr>
            <p:spPr>
              <a:xfrm flipH="1">
                <a:off x="25856226" y="16828023"/>
                <a:ext cx="290512" cy="7309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038AF98C-A7C1-9000-37B0-99A817964BB8}"/>
                  </a:ext>
                </a:extLst>
              </p:cNvPr>
              <p:cNvCxnSpPr>
                <a:cxnSpLocks/>
              </p:cNvCxnSpPr>
              <p:nvPr/>
            </p:nvCxnSpPr>
            <p:spPr>
              <a:xfrm flipH="1">
                <a:off x="25856226" y="16490568"/>
                <a:ext cx="290512" cy="7309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7" name="Group 166">
              <a:extLst>
                <a:ext uri="{FF2B5EF4-FFF2-40B4-BE49-F238E27FC236}">
                  <a16:creationId xmlns:a16="http://schemas.microsoft.com/office/drawing/2014/main" id="{13D46DD4-BE07-8057-2051-06B66FFE5E1D}"/>
                </a:ext>
              </a:extLst>
            </p:cNvPr>
            <p:cNvGrpSpPr/>
            <p:nvPr/>
          </p:nvGrpSpPr>
          <p:grpSpPr>
            <a:xfrm rot="20180225">
              <a:off x="24236024" y="15284044"/>
              <a:ext cx="210565" cy="2480590"/>
              <a:chOff x="25856226" y="15910965"/>
              <a:chExt cx="290512" cy="1554659"/>
            </a:xfrm>
          </p:grpSpPr>
          <p:cxnSp>
            <p:nvCxnSpPr>
              <p:cNvPr id="168" name="Straight Connector 167">
                <a:extLst>
                  <a:ext uri="{FF2B5EF4-FFF2-40B4-BE49-F238E27FC236}">
                    <a16:creationId xmlns:a16="http://schemas.microsoft.com/office/drawing/2014/main" id="{1A4529A3-063F-9E60-76A0-050B20176CB7}"/>
                  </a:ext>
                </a:extLst>
              </p:cNvPr>
              <p:cNvCxnSpPr>
                <a:cxnSpLocks/>
              </p:cNvCxnSpPr>
              <p:nvPr/>
            </p:nvCxnSpPr>
            <p:spPr>
              <a:xfrm>
                <a:off x="26001482" y="15910965"/>
                <a:ext cx="6566" cy="514359"/>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EE344CCB-8A79-7F25-40B7-984378AF2050}"/>
                  </a:ext>
                </a:extLst>
              </p:cNvPr>
              <p:cNvCxnSpPr>
                <a:cxnSpLocks/>
              </p:cNvCxnSpPr>
              <p:nvPr/>
            </p:nvCxnSpPr>
            <p:spPr>
              <a:xfrm flipH="1">
                <a:off x="26001482" y="16959847"/>
                <a:ext cx="6566" cy="505777"/>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E2CBAD2D-9105-6E1D-E499-5DA79E8A9C53}"/>
                  </a:ext>
                </a:extLst>
              </p:cNvPr>
              <p:cNvCxnSpPr>
                <a:cxnSpLocks/>
              </p:cNvCxnSpPr>
              <p:nvPr/>
            </p:nvCxnSpPr>
            <p:spPr>
              <a:xfrm flipH="1" flipV="1">
                <a:off x="25856226" y="16904342"/>
                <a:ext cx="145256" cy="52627"/>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E5428E4B-99AC-339B-7E74-E36DBF6F2E2A}"/>
                  </a:ext>
                </a:extLst>
              </p:cNvPr>
              <p:cNvCxnSpPr>
                <a:cxnSpLocks/>
              </p:cNvCxnSpPr>
              <p:nvPr/>
            </p:nvCxnSpPr>
            <p:spPr>
              <a:xfrm flipH="1" flipV="1">
                <a:off x="26008048" y="16425324"/>
                <a:ext cx="138690" cy="61788"/>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1CF6693C-7A81-436C-B915-FA08E596AC59}"/>
                  </a:ext>
                </a:extLst>
              </p:cNvPr>
              <p:cNvCxnSpPr>
                <a:cxnSpLocks/>
              </p:cNvCxnSpPr>
              <p:nvPr/>
            </p:nvCxnSpPr>
            <p:spPr>
              <a:xfrm flipH="1" flipV="1">
                <a:off x="25856226" y="16733637"/>
                <a:ext cx="290512" cy="91162"/>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F1BB51EA-0F21-D575-8E25-5CC16A4819E1}"/>
                  </a:ext>
                </a:extLst>
              </p:cNvPr>
              <p:cNvCxnSpPr>
                <a:cxnSpLocks/>
              </p:cNvCxnSpPr>
              <p:nvPr/>
            </p:nvCxnSpPr>
            <p:spPr>
              <a:xfrm flipH="1" flipV="1">
                <a:off x="25856226" y="16567119"/>
                <a:ext cx="290512" cy="91162"/>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40B0E16A-0FE7-08A2-B786-601288B33024}"/>
                  </a:ext>
                </a:extLst>
              </p:cNvPr>
              <p:cNvCxnSpPr>
                <a:cxnSpLocks/>
              </p:cNvCxnSpPr>
              <p:nvPr/>
            </p:nvCxnSpPr>
            <p:spPr>
              <a:xfrm flipH="1">
                <a:off x="25856226" y="16660542"/>
                <a:ext cx="290512" cy="7309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FDA9045D-C8B6-8AC6-2963-AF6654FB3688}"/>
                  </a:ext>
                </a:extLst>
              </p:cNvPr>
              <p:cNvCxnSpPr>
                <a:cxnSpLocks/>
              </p:cNvCxnSpPr>
              <p:nvPr/>
            </p:nvCxnSpPr>
            <p:spPr>
              <a:xfrm flipH="1">
                <a:off x="25856226" y="16828023"/>
                <a:ext cx="290512" cy="7309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EC78FA06-DFD3-93AE-DF97-D37738BF663F}"/>
                  </a:ext>
                </a:extLst>
              </p:cNvPr>
              <p:cNvCxnSpPr>
                <a:cxnSpLocks/>
              </p:cNvCxnSpPr>
              <p:nvPr/>
            </p:nvCxnSpPr>
            <p:spPr>
              <a:xfrm flipH="1">
                <a:off x="25856226" y="16490568"/>
                <a:ext cx="290512" cy="7309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a:extLst>
                <a:ext uri="{FF2B5EF4-FFF2-40B4-BE49-F238E27FC236}">
                  <a16:creationId xmlns:a16="http://schemas.microsoft.com/office/drawing/2014/main" id="{A3E2D1DA-5363-035F-C57F-081310D3551E}"/>
                </a:ext>
              </a:extLst>
            </p:cNvPr>
            <p:cNvCxnSpPr>
              <a:cxnSpLocks/>
            </p:cNvCxnSpPr>
            <p:nvPr/>
          </p:nvCxnSpPr>
          <p:spPr>
            <a:xfrm flipV="1">
              <a:off x="24711162" y="16143961"/>
              <a:ext cx="2155026" cy="163419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85" name="Oval 184">
              <a:extLst>
                <a:ext uri="{FF2B5EF4-FFF2-40B4-BE49-F238E27FC236}">
                  <a16:creationId xmlns:a16="http://schemas.microsoft.com/office/drawing/2014/main" id="{0719523F-519A-96E5-0946-3EFFB3612D1A}"/>
                </a:ext>
              </a:extLst>
            </p:cNvPr>
            <p:cNvSpPr/>
            <p:nvPr/>
          </p:nvSpPr>
          <p:spPr>
            <a:xfrm>
              <a:off x="25049583" y="17259300"/>
              <a:ext cx="274320" cy="27432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cxnSp>
          <p:nvCxnSpPr>
            <p:cNvPr id="189" name="Straight Connector 188">
              <a:extLst>
                <a:ext uri="{FF2B5EF4-FFF2-40B4-BE49-F238E27FC236}">
                  <a16:creationId xmlns:a16="http://schemas.microsoft.com/office/drawing/2014/main" id="{7F270547-C782-21A5-F697-53CB06934E53}"/>
                </a:ext>
              </a:extLst>
            </p:cNvPr>
            <p:cNvCxnSpPr>
              <a:cxnSpLocks/>
            </p:cNvCxnSpPr>
            <p:nvPr/>
          </p:nvCxnSpPr>
          <p:spPr>
            <a:xfrm flipH="1">
              <a:off x="23631095" y="15152830"/>
              <a:ext cx="579882" cy="36476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1" name="TextBox 200">
                  <a:extLst>
                    <a:ext uri="{FF2B5EF4-FFF2-40B4-BE49-F238E27FC236}">
                      <a16:creationId xmlns:a16="http://schemas.microsoft.com/office/drawing/2014/main" id="{452C4B45-8D38-C0BA-78C0-4CCE7EFF6015}"/>
                    </a:ext>
                  </a:extLst>
                </p:cNvPr>
                <p:cNvSpPr txBox="1"/>
                <p:nvPr/>
              </p:nvSpPr>
              <p:spPr>
                <a:xfrm>
                  <a:off x="24848151" y="15724714"/>
                  <a:ext cx="716608" cy="30764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1999" i="1">
                                <a:solidFill>
                                  <a:schemeClr val="accent1"/>
                                </a:solidFill>
                                <a:latin typeface="Cambria Math" panose="02040503050406030204" pitchFamily="18" charset="0"/>
                                <a:cs typeface="Arial" panose="020B0604020202020204" pitchFamily="34" charset="0"/>
                              </a:rPr>
                            </m:ctrlPr>
                          </m:sSubPr>
                          <m:e>
                            <m:r>
                              <a:rPr lang="en-US" sz="1999" i="1">
                                <a:solidFill>
                                  <a:schemeClr val="accent1"/>
                                </a:solidFill>
                                <a:latin typeface="Cambria Math" panose="02040503050406030204" pitchFamily="18" charset="0"/>
                                <a:cs typeface="Arial" panose="020B0604020202020204" pitchFamily="34" charset="0"/>
                              </a:rPr>
                              <m:t>𝐾</m:t>
                            </m:r>
                          </m:e>
                          <m:sub>
                            <m:r>
                              <a:rPr lang="en-US" sz="1999" i="1">
                                <a:solidFill>
                                  <a:schemeClr val="accent1"/>
                                </a:solidFill>
                                <a:latin typeface="Cambria Math" panose="02040503050406030204" pitchFamily="18" charset="0"/>
                                <a:cs typeface="Arial" panose="020B0604020202020204" pitchFamily="34" charset="0"/>
                              </a:rPr>
                              <m:t>2</m:t>
                            </m:r>
                          </m:sub>
                        </m:sSub>
                      </m:oMath>
                    </m:oMathPara>
                  </a14:m>
                  <a:endParaRPr lang="en-US" sz="1999" dirty="0">
                    <a:solidFill>
                      <a:schemeClr val="accent1"/>
                    </a:solidFill>
                    <a:latin typeface="Arial" panose="020B0604020202020204" pitchFamily="34" charset="0"/>
                    <a:ea typeface="Fira Sans" panose="020B0503050000020004" pitchFamily="34" charset="0"/>
                    <a:cs typeface="Arial" panose="020B0604020202020204" pitchFamily="34" charset="0"/>
                  </a:endParaRPr>
                </a:p>
              </p:txBody>
            </p:sp>
          </mc:Choice>
          <mc:Fallback xmlns="">
            <p:sp>
              <p:nvSpPr>
                <p:cNvPr id="201" name="TextBox 200">
                  <a:extLst>
                    <a:ext uri="{FF2B5EF4-FFF2-40B4-BE49-F238E27FC236}">
                      <a16:creationId xmlns:a16="http://schemas.microsoft.com/office/drawing/2014/main" id="{452C4B45-8D38-C0BA-78C0-4CCE7EFF6015}"/>
                    </a:ext>
                  </a:extLst>
                </p:cNvPr>
                <p:cNvSpPr txBox="1">
                  <a:spLocks noRot="1" noChangeAspect="1" noMove="1" noResize="1" noEditPoints="1" noAdjustHandles="1" noChangeArrowheads="1" noChangeShapeType="1" noTextEdit="1"/>
                </p:cNvSpPr>
                <p:nvPr/>
              </p:nvSpPr>
              <p:spPr>
                <a:xfrm>
                  <a:off x="24848151" y="15724714"/>
                  <a:ext cx="716608" cy="307648"/>
                </a:xfrm>
                <a:prstGeom prst="rect">
                  <a:avLst/>
                </a:prstGeom>
                <a:blipFill>
                  <a:blip r:embed="rId15"/>
                  <a:stretch>
                    <a:fillRect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2" name="TextBox 201">
                  <a:extLst>
                    <a:ext uri="{FF2B5EF4-FFF2-40B4-BE49-F238E27FC236}">
                      <a16:creationId xmlns:a16="http://schemas.microsoft.com/office/drawing/2014/main" id="{E5BCA9CF-2F0E-ABD2-0600-F5E95303D03C}"/>
                    </a:ext>
                  </a:extLst>
                </p:cNvPr>
                <p:cNvSpPr txBox="1"/>
                <p:nvPr/>
              </p:nvSpPr>
              <p:spPr>
                <a:xfrm>
                  <a:off x="23653562" y="16531809"/>
                  <a:ext cx="716608" cy="30764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sz="1999" i="1">
                                <a:solidFill>
                                  <a:schemeClr val="accent1"/>
                                </a:solidFill>
                                <a:latin typeface="Cambria Math" panose="02040503050406030204" pitchFamily="18" charset="0"/>
                                <a:cs typeface="Arial" panose="020B0604020202020204" pitchFamily="34" charset="0"/>
                              </a:rPr>
                            </m:ctrlPr>
                          </m:sSubPr>
                          <m:e>
                            <m:r>
                              <a:rPr lang="en-US" sz="1999" i="1">
                                <a:solidFill>
                                  <a:schemeClr val="accent1"/>
                                </a:solidFill>
                                <a:latin typeface="Cambria Math" panose="02040503050406030204" pitchFamily="18" charset="0"/>
                                <a:cs typeface="Arial" panose="020B0604020202020204" pitchFamily="34" charset="0"/>
                              </a:rPr>
                              <m:t>𝐾</m:t>
                            </m:r>
                          </m:e>
                          <m:sub>
                            <m:r>
                              <a:rPr lang="en-US" sz="1999" i="1">
                                <a:solidFill>
                                  <a:schemeClr val="accent1"/>
                                </a:solidFill>
                                <a:latin typeface="Cambria Math" panose="02040503050406030204" pitchFamily="18" charset="0"/>
                                <a:cs typeface="Arial" panose="020B0604020202020204" pitchFamily="34" charset="0"/>
                              </a:rPr>
                              <m:t>1</m:t>
                            </m:r>
                          </m:sub>
                        </m:sSub>
                      </m:oMath>
                    </m:oMathPara>
                  </a14:m>
                  <a:endParaRPr lang="en-US" sz="1999" dirty="0">
                    <a:solidFill>
                      <a:schemeClr val="accent1"/>
                    </a:solidFill>
                    <a:latin typeface="Arial" panose="020B0604020202020204" pitchFamily="34" charset="0"/>
                    <a:ea typeface="Fira Sans" panose="020B0503050000020004" pitchFamily="34" charset="0"/>
                    <a:cs typeface="Arial" panose="020B0604020202020204" pitchFamily="34" charset="0"/>
                  </a:endParaRPr>
                </a:p>
              </p:txBody>
            </p:sp>
          </mc:Choice>
          <mc:Fallback xmlns="">
            <p:sp>
              <p:nvSpPr>
                <p:cNvPr id="202" name="TextBox 201">
                  <a:extLst>
                    <a:ext uri="{FF2B5EF4-FFF2-40B4-BE49-F238E27FC236}">
                      <a16:creationId xmlns:a16="http://schemas.microsoft.com/office/drawing/2014/main" id="{E5BCA9CF-2F0E-ABD2-0600-F5E95303D03C}"/>
                    </a:ext>
                  </a:extLst>
                </p:cNvPr>
                <p:cNvSpPr txBox="1">
                  <a:spLocks noRot="1" noChangeAspect="1" noMove="1" noResize="1" noEditPoints="1" noAdjustHandles="1" noChangeArrowheads="1" noChangeShapeType="1" noTextEdit="1"/>
                </p:cNvSpPr>
                <p:nvPr/>
              </p:nvSpPr>
              <p:spPr>
                <a:xfrm>
                  <a:off x="23653562" y="16531809"/>
                  <a:ext cx="716608" cy="307648"/>
                </a:xfrm>
                <a:prstGeom prst="rect">
                  <a:avLst/>
                </a:prstGeom>
                <a:blipFill>
                  <a:blip r:embed="rId16"/>
                  <a:stretch>
                    <a:fillRect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3" name="TextBox 202">
                  <a:extLst>
                    <a:ext uri="{FF2B5EF4-FFF2-40B4-BE49-F238E27FC236}">
                      <a16:creationId xmlns:a16="http://schemas.microsoft.com/office/drawing/2014/main" id="{7AF05D3B-CDA8-8EF1-25CA-3B260D24179A}"/>
                    </a:ext>
                  </a:extLst>
                </p:cNvPr>
                <p:cNvSpPr txBox="1"/>
                <p:nvPr/>
              </p:nvSpPr>
              <p:spPr>
                <a:xfrm>
                  <a:off x="25073518" y="17764950"/>
                  <a:ext cx="716608" cy="30764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999" i="1">
                            <a:solidFill>
                              <a:schemeClr val="accent1"/>
                            </a:solidFill>
                            <a:latin typeface="Cambria Math" panose="02040503050406030204" pitchFamily="18" charset="0"/>
                            <a:ea typeface="Cambria Math" panose="02040503050406030204" pitchFamily="18" charset="0"/>
                            <a:cs typeface="Arial" panose="020B0604020202020204" pitchFamily="34" charset="0"/>
                          </a:rPr>
                          <m:t>𝜃</m:t>
                        </m:r>
                      </m:oMath>
                    </m:oMathPara>
                  </a14:m>
                  <a:endParaRPr lang="en-US" sz="1999" dirty="0">
                    <a:solidFill>
                      <a:schemeClr val="accent1"/>
                    </a:solidFill>
                    <a:latin typeface="Arial" panose="020B0604020202020204" pitchFamily="34" charset="0"/>
                    <a:ea typeface="Fira Sans" panose="020B0503050000020004" pitchFamily="34" charset="0"/>
                    <a:cs typeface="Arial" panose="020B0604020202020204" pitchFamily="34" charset="0"/>
                  </a:endParaRPr>
                </a:p>
              </p:txBody>
            </p:sp>
          </mc:Choice>
          <mc:Fallback xmlns="">
            <p:sp>
              <p:nvSpPr>
                <p:cNvPr id="203" name="TextBox 202">
                  <a:extLst>
                    <a:ext uri="{FF2B5EF4-FFF2-40B4-BE49-F238E27FC236}">
                      <a16:creationId xmlns:a16="http://schemas.microsoft.com/office/drawing/2014/main" id="{7AF05D3B-CDA8-8EF1-25CA-3B260D24179A}"/>
                    </a:ext>
                  </a:extLst>
                </p:cNvPr>
                <p:cNvSpPr txBox="1">
                  <a:spLocks noRot="1" noChangeAspect="1" noMove="1" noResize="1" noEditPoints="1" noAdjustHandles="1" noChangeArrowheads="1" noChangeShapeType="1" noTextEdit="1"/>
                </p:cNvSpPr>
                <p:nvPr/>
              </p:nvSpPr>
              <p:spPr>
                <a:xfrm>
                  <a:off x="25073518" y="17764950"/>
                  <a:ext cx="716608" cy="307648"/>
                </a:xfrm>
                <a:prstGeom prst="rect">
                  <a:avLst/>
                </a:prstGeom>
                <a:blipFill>
                  <a:blip r:embed="rId17"/>
                  <a:stretch>
                    <a:fillRect b="-9804"/>
                  </a:stretch>
                </a:blipFill>
              </p:spPr>
              <p:txBody>
                <a:bodyPr/>
                <a:lstStyle/>
                <a:p>
                  <a:r>
                    <a:rPr lang="zh-CN" altLang="en-US">
                      <a:noFill/>
                    </a:rPr>
                    <a:t> </a:t>
                  </a:r>
                </a:p>
              </p:txBody>
            </p:sp>
          </mc:Fallback>
        </mc:AlternateContent>
        <p:sp>
          <p:nvSpPr>
            <p:cNvPr id="204" name="Arc 203">
              <a:extLst>
                <a:ext uri="{FF2B5EF4-FFF2-40B4-BE49-F238E27FC236}">
                  <a16:creationId xmlns:a16="http://schemas.microsoft.com/office/drawing/2014/main" id="{DF618D42-5C4E-8591-AA50-0879A7C23273}"/>
                </a:ext>
              </a:extLst>
            </p:cNvPr>
            <p:cNvSpPr/>
            <p:nvPr/>
          </p:nvSpPr>
          <p:spPr>
            <a:xfrm rot="5999576">
              <a:off x="24753952" y="17021736"/>
              <a:ext cx="704520" cy="836425"/>
            </a:xfrm>
            <a:prstGeom prst="arc">
              <a:avLst>
                <a:gd name="adj1" fmla="val 16200000"/>
                <a:gd name="adj2" fmla="val 21496238"/>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801">
                <a:ln w="28575">
                  <a:solidFill>
                    <a:schemeClr val="tx1"/>
                  </a:solidFill>
                </a:ln>
              </a:endParaRPr>
            </a:p>
          </p:txBody>
        </p:sp>
      </p:grpSp>
      <p:pic>
        <p:nvPicPr>
          <p:cNvPr id="215" name="Picture 214">
            <a:extLst>
              <a:ext uri="{FF2B5EF4-FFF2-40B4-BE49-F238E27FC236}">
                <a16:creationId xmlns:a16="http://schemas.microsoft.com/office/drawing/2014/main" id="{D82F351B-3A46-CD72-A22A-FD0F53CA8A4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5377657" y="2598648"/>
            <a:ext cx="11477283" cy="8618030"/>
          </a:xfrm>
          <a:prstGeom prst="rect">
            <a:avLst/>
          </a:prstGeom>
        </p:spPr>
      </p:pic>
      <p:grpSp>
        <p:nvGrpSpPr>
          <p:cNvPr id="68" name="Group 67">
            <a:extLst>
              <a:ext uri="{FF2B5EF4-FFF2-40B4-BE49-F238E27FC236}">
                <a16:creationId xmlns:a16="http://schemas.microsoft.com/office/drawing/2014/main" id="{B54D91C3-3398-E221-F993-584F85C51D95}"/>
              </a:ext>
            </a:extLst>
          </p:cNvPr>
          <p:cNvGrpSpPr/>
          <p:nvPr/>
        </p:nvGrpSpPr>
        <p:grpSpPr>
          <a:xfrm>
            <a:off x="3701005" y="4234632"/>
            <a:ext cx="17909763" cy="3080966"/>
            <a:chOff x="3610135" y="3685695"/>
            <a:chExt cx="17909763" cy="3080966"/>
          </a:xfrm>
        </p:grpSpPr>
        <p:sp>
          <p:nvSpPr>
            <p:cNvPr id="3" name="Rectangle: Rounded Corners 3">
              <a:extLst>
                <a:ext uri="{FF2B5EF4-FFF2-40B4-BE49-F238E27FC236}">
                  <a16:creationId xmlns:a16="http://schemas.microsoft.com/office/drawing/2014/main" id="{A74D59AD-9D76-485B-E1C1-97AAF3F3497B}"/>
                </a:ext>
              </a:extLst>
            </p:cNvPr>
            <p:cNvSpPr/>
            <p:nvPr/>
          </p:nvSpPr>
          <p:spPr>
            <a:xfrm>
              <a:off x="6294098" y="3854069"/>
              <a:ext cx="9957879" cy="2912592"/>
            </a:xfrm>
            <a:prstGeom prst="roundRect">
              <a:avLst/>
            </a:prstGeom>
            <a:solidFill>
              <a:schemeClr val="bg1">
                <a:lumMod val="95000"/>
              </a:schemeClr>
            </a:solidFill>
            <a:ln w="190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4" name="Arc 5">
              <a:extLst>
                <a:ext uri="{FF2B5EF4-FFF2-40B4-BE49-F238E27FC236}">
                  <a16:creationId xmlns:a16="http://schemas.microsoft.com/office/drawing/2014/main" id="{EF548FF9-73B8-3149-C9D5-3D12C6DFEE33}"/>
                </a:ext>
              </a:extLst>
            </p:cNvPr>
            <p:cNvSpPr/>
            <p:nvPr/>
          </p:nvSpPr>
          <p:spPr>
            <a:xfrm rot="12034052">
              <a:off x="9363421" y="5513121"/>
              <a:ext cx="652968" cy="799519"/>
            </a:xfrm>
            <a:prstGeom prst="arc">
              <a:avLst>
                <a:gd name="adj1" fmla="val 7463594"/>
                <a:gd name="adj2" fmla="val 2016009"/>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1"/>
            </a:p>
          </p:txBody>
        </p:sp>
        <p:sp>
          <p:nvSpPr>
            <p:cNvPr id="28" name="Arc 61">
              <a:extLst>
                <a:ext uri="{FF2B5EF4-FFF2-40B4-BE49-F238E27FC236}">
                  <a16:creationId xmlns:a16="http://schemas.microsoft.com/office/drawing/2014/main" id="{C6D4B6AE-A286-1618-ECF1-8D877E840811}"/>
                </a:ext>
              </a:extLst>
            </p:cNvPr>
            <p:cNvSpPr/>
            <p:nvPr/>
          </p:nvSpPr>
          <p:spPr>
            <a:xfrm rot="18783108">
              <a:off x="11001248" y="4598462"/>
              <a:ext cx="1855749" cy="2034552"/>
            </a:xfrm>
            <a:prstGeom prst="arc">
              <a:avLst>
                <a:gd name="adj1" fmla="val 16200000"/>
                <a:gd name="adj2" fmla="val 21311995"/>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1"/>
            </a:p>
          </p:txBody>
        </p:sp>
        <p:sp>
          <p:nvSpPr>
            <p:cNvPr id="29" name="Rectangle: Rounded Corners 62">
              <a:extLst>
                <a:ext uri="{FF2B5EF4-FFF2-40B4-BE49-F238E27FC236}">
                  <a16:creationId xmlns:a16="http://schemas.microsoft.com/office/drawing/2014/main" id="{265E4A57-B613-6DC2-4CF9-E9A37207786E}"/>
                </a:ext>
              </a:extLst>
            </p:cNvPr>
            <p:cNvSpPr/>
            <p:nvPr/>
          </p:nvSpPr>
          <p:spPr>
            <a:xfrm>
              <a:off x="7011531" y="4697348"/>
              <a:ext cx="1329828" cy="91908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32" name="Oval 63">
              <a:extLst>
                <a:ext uri="{FF2B5EF4-FFF2-40B4-BE49-F238E27FC236}">
                  <a16:creationId xmlns:a16="http://schemas.microsoft.com/office/drawing/2014/main" id="{B8AAF500-3613-FFA1-AD7D-D4BC8799A945}"/>
                </a:ext>
              </a:extLst>
            </p:cNvPr>
            <p:cNvSpPr/>
            <p:nvPr/>
          </p:nvSpPr>
          <p:spPr>
            <a:xfrm>
              <a:off x="4764058" y="4836850"/>
              <a:ext cx="640080" cy="64008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33" name="Oval 64">
              <a:extLst>
                <a:ext uri="{FF2B5EF4-FFF2-40B4-BE49-F238E27FC236}">
                  <a16:creationId xmlns:a16="http://schemas.microsoft.com/office/drawing/2014/main" id="{5DFE5A70-9970-EDF2-F1F5-A2F55E51D569}"/>
                </a:ext>
              </a:extLst>
            </p:cNvPr>
            <p:cNvSpPr/>
            <p:nvPr/>
          </p:nvSpPr>
          <p:spPr>
            <a:xfrm>
              <a:off x="9238130" y="4559267"/>
              <a:ext cx="2020420" cy="1185334"/>
            </a:xfrm>
            <a:prstGeom prst="ellipse">
              <a:avLst/>
            </a:prstGeom>
            <a:solidFill>
              <a:schemeClr val="bg1">
                <a:lumMod val="95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62" name="TextBox 67">
              <a:extLst>
                <a:ext uri="{FF2B5EF4-FFF2-40B4-BE49-F238E27FC236}">
                  <a16:creationId xmlns:a16="http://schemas.microsoft.com/office/drawing/2014/main" id="{B974CA81-F810-19FB-285B-26ABA1AC277D}"/>
                </a:ext>
              </a:extLst>
            </p:cNvPr>
            <p:cNvSpPr txBox="1"/>
            <p:nvPr/>
          </p:nvSpPr>
          <p:spPr>
            <a:xfrm>
              <a:off x="9450447" y="4794070"/>
              <a:ext cx="1595786" cy="707630"/>
            </a:xfrm>
            <a:prstGeom prst="rect">
              <a:avLst/>
            </a:prstGeom>
            <a:noFill/>
          </p:spPr>
          <p:txBody>
            <a:bodyPr wrap="square">
              <a:spAutoFit/>
            </a:bodyPr>
            <a:lstStyle/>
            <a:p>
              <a:pPr algn="ctr"/>
              <a:r>
                <a:rPr lang="en-US" altLang="zh-CN" sz="1999" dirty="0">
                  <a:latin typeface="Arial" panose="020B0604020202020204" pitchFamily="34" charset="0"/>
                  <a:ea typeface="Cambria Math" panose="02040503050406030204" pitchFamily="18" charset="0"/>
                  <a:cs typeface="Arial" panose="020B0604020202020204" pitchFamily="34" charset="0"/>
                </a:rPr>
                <a:t>Threshold</a:t>
              </a:r>
            </a:p>
            <a:p>
              <a:pPr algn="ctr"/>
              <a:r>
                <a:rPr lang="en-US" altLang="zh-CN" sz="1999" dirty="0">
                  <a:latin typeface="Arial" panose="020B0604020202020204" pitchFamily="34" charset="0"/>
                  <a:ea typeface="Cambria Math" panose="02040503050406030204" pitchFamily="18" charset="0"/>
                  <a:cs typeface="Arial" panose="020B0604020202020204" pitchFamily="34" charset="0"/>
                </a:rPr>
                <a:t>Detection</a:t>
              </a:r>
            </a:p>
          </p:txBody>
        </p:sp>
        <mc:AlternateContent xmlns:mc="http://schemas.openxmlformats.org/markup-compatibility/2006" xmlns:a14="http://schemas.microsoft.com/office/drawing/2010/main">
          <mc:Choice Requires="a14">
            <p:sp>
              <p:nvSpPr>
                <p:cNvPr id="63" name="TextBox 68">
                  <a:extLst>
                    <a:ext uri="{FF2B5EF4-FFF2-40B4-BE49-F238E27FC236}">
                      <a16:creationId xmlns:a16="http://schemas.microsoft.com/office/drawing/2014/main" id="{D0BD80A3-F0E3-E870-64FD-161AC88E8A10}"/>
                    </a:ext>
                  </a:extLst>
                </p:cNvPr>
                <p:cNvSpPr txBox="1"/>
                <p:nvPr/>
              </p:nvSpPr>
              <p:spPr>
                <a:xfrm>
                  <a:off x="7199597" y="4862267"/>
                  <a:ext cx="1124797" cy="52309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799" i="1">
                                <a:latin typeface="Cambria Math" panose="02040503050406030204" pitchFamily="18" charset="0"/>
                                <a:ea typeface="Cambria Math" panose="02040503050406030204" pitchFamily="18" charset="0"/>
                                <a:cs typeface="Arial" panose="020B0604020202020204" pitchFamily="34" charset="0"/>
                              </a:rPr>
                            </m:ctrlPr>
                          </m:sSubPr>
                          <m:e>
                            <m:r>
                              <a:rPr lang="en-US" altLang="zh-CN" sz="2799" i="1">
                                <a:latin typeface="Cambria Math" panose="02040503050406030204" pitchFamily="18" charset="0"/>
                                <a:ea typeface="Cambria Math" panose="02040503050406030204" pitchFamily="18" charset="0"/>
                                <a:cs typeface="Arial" panose="020B0604020202020204" pitchFamily="34" charset="0"/>
                              </a:rPr>
                              <m:t>𝑓</m:t>
                            </m:r>
                          </m:e>
                          <m:sub>
                            <m:r>
                              <a:rPr lang="en-US" altLang="zh-CN" sz="2799" i="1">
                                <a:latin typeface="Cambria Math" panose="02040503050406030204" pitchFamily="18" charset="0"/>
                                <a:ea typeface="Cambria Math" panose="02040503050406030204" pitchFamily="18" charset="0"/>
                                <a:cs typeface="Arial" panose="020B0604020202020204" pitchFamily="34" charset="0"/>
                              </a:rPr>
                              <m:t>𝑎</m:t>
                            </m:r>
                          </m:sub>
                        </m:sSub>
                        <m:r>
                          <a:rPr lang="en-US" altLang="zh-CN" sz="2799" i="1">
                            <a:latin typeface="Cambria Math" panose="02040503050406030204" pitchFamily="18" charset="0"/>
                            <a:ea typeface="Cambria Math" panose="02040503050406030204" pitchFamily="18" charset="0"/>
                            <a:cs typeface="Arial" panose="020B0604020202020204" pitchFamily="34" charset="0"/>
                          </a:rPr>
                          <m:t>(∙)</m:t>
                        </m:r>
                      </m:oMath>
                    </m:oMathPara>
                  </a14:m>
                  <a:endParaRPr lang="en-US" altLang="zh-CN" sz="2799"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63" name="TextBox 68">
                  <a:extLst>
                    <a:ext uri="{FF2B5EF4-FFF2-40B4-BE49-F238E27FC236}">
                      <a16:creationId xmlns:a16="http://schemas.microsoft.com/office/drawing/2014/main" id="{D0BD80A3-F0E3-E870-64FD-161AC88E8A10}"/>
                    </a:ext>
                  </a:extLst>
                </p:cNvPr>
                <p:cNvSpPr txBox="1">
                  <a:spLocks noRot="1" noChangeAspect="1" noMove="1" noResize="1" noEditPoints="1" noAdjustHandles="1" noChangeArrowheads="1" noChangeShapeType="1" noTextEdit="1"/>
                </p:cNvSpPr>
                <p:nvPr/>
              </p:nvSpPr>
              <p:spPr>
                <a:xfrm>
                  <a:off x="7199597" y="4862267"/>
                  <a:ext cx="1124797" cy="523092"/>
                </a:xfrm>
                <a:prstGeom prst="rect">
                  <a:avLst/>
                </a:prstGeom>
                <a:blipFill>
                  <a:blip r:embed="rId19"/>
                  <a:stretch>
                    <a:fillRect/>
                  </a:stretch>
                </a:blipFill>
              </p:spPr>
              <p:txBody>
                <a:bodyPr/>
                <a:lstStyle/>
                <a:p>
                  <a:r>
                    <a:rPr lang="en-US">
                      <a:noFill/>
                    </a:rPr>
                    <a:t> </a:t>
                  </a:r>
                </a:p>
              </p:txBody>
            </p:sp>
          </mc:Fallback>
        </mc:AlternateContent>
        <p:sp>
          <p:nvSpPr>
            <p:cNvPr id="64" name="Oval 69">
              <a:extLst>
                <a:ext uri="{FF2B5EF4-FFF2-40B4-BE49-F238E27FC236}">
                  <a16:creationId xmlns:a16="http://schemas.microsoft.com/office/drawing/2014/main" id="{D0752E0C-A6D6-022E-173E-07AEBEB1E0DC}"/>
                </a:ext>
              </a:extLst>
            </p:cNvPr>
            <p:cNvSpPr/>
            <p:nvPr/>
          </p:nvSpPr>
          <p:spPr>
            <a:xfrm>
              <a:off x="12471876" y="4771867"/>
              <a:ext cx="1494457" cy="751330"/>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65" name="TextBox 71">
              <a:extLst>
                <a:ext uri="{FF2B5EF4-FFF2-40B4-BE49-F238E27FC236}">
                  <a16:creationId xmlns:a16="http://schemas.microsoft.com/office/drawing/2014/main" id="{BA69B75D-402F-42B7-2D4D-E3F987110A2A}"/>
                </a:ext>
              </a:extLst>
            </p:cNvPr>
            <p:cNvSpPr txBox="1"/>
            <p:nvPr/>
          </p:nvSpPr>
          <p:spPr>
            <a:xfrm>
              <a:off x="12751430" y="4937404"/>
              <a:ext cx="986316" cy="399981"/>
            </a:xfrm>
            <a:prstGeom prst="rect">
              <a:avLst/>
            </a:prstGeom>
            <a:noFill/>
          </p:spPr>
          <p:txBody>
            <a:bodyPr wrap="square">
              <a:spAutoFit/>
            </a:bodyPr>
            <a:lstStyle/>
            <a:p>
              <a:pPr algn="ctr"/>
              <a:r>
                <a:rPr lang="en-US" altLang="zh-CN" sz="1999" dirty="0">
                  <a:latin typeface="Arial" panose="020B0604020202020204" pitchFamily="34" charset="0"/>
                  <a:ea typeface="Cambria Math" panose="02040503050406030204" pitchFamily="18" charset="0"/>
                  <a:cs typeface="Arial" panose="020B0604020202020204" pitchFamily="34" charset="0"/>
                </a:rPr>
                <a:t>Reflex</a:t>
              </a:r>
            </a:p>
          </p:txBody>
        </p:sp>
        <p:sp>
          <p:nvSpPr>
            <p:cNvPr id="69" name="Isosceles Triangle 74">
              <a:extLst>
                <a:ext uri="{FF2B5EF4-FFF2-40B4-BE49-F238E27FC236}">
                  <a16:creationId xmlns:a16="http://schemas.microsoft.com/office/drawing/2014/main" id="{34A09B1C-DD37-E68E-786B-EFF08282A8E5}"/>
                </a:ext>
              </a:extLst>
            </p:cNvPr>
            <p:cNvSpPr/>
            <p:nvPr/>
          </p:nvSpPr>
          <p:spPr>
            <a:xfrm rot="7678622">
              <a:off x="12442384" y="4828610"/>
              <a:ext cx="122767" cy="131733"/>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72" name="Isosceles Triangle 78">
              <a:extLst>
                <a:ext uri="{FF2B5EF4-FFF2-40B4-BE49-F238E27FC236}">
                  <a16:creationId xmlns:a16="http://schemas.microsoft.com/office/drawing/2014/main" id="{DA238D46-6542-6BA0-9335-5484EEE1746A}"/>
                </a:ext>
              </a:extLst>
            </p:cNvPr>
            <p:cNvSpPr/>
            <p:nvPr/>
          </p:nvSpPr>
          <p:spPr>
            <a:xfrm rot="18228363">
              <a:off x="11215020" y="5289415"/>
              <a:ext cx="122767" cy="131733"/>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mc:AlternateContent xmlns:mc="http://schemas.openxmlformats.org/markup-compatibility/2006" xmlns:a14="http://schemas.microsoft.com/office/drawing/2010/main">
          <mc:Choice Requires="a14">
            <p:sp>
              <p:nvSpPr>
                <p:cNvPr id="74" name="TextBox 89">
                  <a:extLst>
                    <a:ext uri="{FF2B5EF4-FFF2-40B4-BE49-F238E27FC236}">
                      <a16:creationId xmlns:a16="http://schemas.microsoft.com/office/drawing/2014/main" id="{1C7FFEE9-6F1D-6F5D-EA26-AE179A4744C5}"/>
                    </a:ext>
                  </a:extLst>
                </p:cNvPr>
                <p:cNvSpPr txBox="1"/>
                <p:nvPr/>
              </p:nvSpPr>
              <p:spPr>
                <a:xfrm>
                  <a:off x="8382500" y="4635533"/>
                  <a:ext cx="753710" cy="52309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zh-CN" sz="2799" i="1">
                            <a:latin typeface="Cambria Math" panose="02040503050406030204" pitchFamily="18" charset="0"/>
                            <a:ea typeface="Cambria Math" panose="02040503050406030204" pitchFamily="18" charset="0"/>
                            <a:cs typeface="Arial" panose="020B0604020202020204" pitchFamily="34" charset="0"/>
                          </a:rPr>
                          <m:t>𝑎</m:t>
                        </m:r>
                      </m:oMath>
                    </m:oMathPara>
                  </a14:m>
                  <a:endParaRPr lang="en-US" altLang="zh-CN" sz="2799"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74" name="TextBox 89">
                  <a:extLst>
                    <a:ext uri="{FF2B5EF4-FFF2-40B4-BE49-F238E27FC236}">
                      <a16:creationId xmlns:a16="http://schemas.microsoft.com/office/drawing/2014/main" id="{1C7FFEE9-6F1D-6F5D-EA26-AE179A4744C5}"/>
                    </a:ext>
                  </a:extLst>
                </p:cNvPr>
                <p:cNvSpPr txBox="1">
                  <a:spLocks noRot="1" noChangeAspect="1" noMove="1" noResize="1" noEditPoints="1" noAdjustHandles="1" noChangeArrowheads="1" noChangeShapeType="1" noTextEdit="1"/>
                </p:cNvSpPr>
                <p:nvPr/>
              </p:nvSpPr>
              <p:spPr>
                <a:xfrm>
                  <a:off x="8382500" y="4635533"/>
                  <a:ext cx="753710" cy="52309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90">
                  <a:extLst>
                    <a:ext uri="{FF2B5EF4-FFF2-40B4-BE49-F238E27FC236}">
                      <a16:creationId xmlns:a16="http://schemas.microsoft.com/office/drawing/2014/main" id="{C72E40EB-3CC3-9C04-433F-2A96AD6B319E}"/>
                    </a:ext>
                  </a:extLst>
                </p:cNvPr>
                <p:cNvSpPr txBox="1"/>
                <p:nvPr/>
              </p:nvSpPr>
              <p:spPr>
                <a:xfrm>
                  <a:off x="5587842" y="4634862"/>
                  <a:ext cx="753710" cy="52309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zh-CN" sz="2799" i="1">
                            <a:latin typeface="Cambria Math" panose="02040503050406030204" pitchFamily="18" charset="0"/>
                            <a:ea typeface="Cambria Math" panose="02040503050406030204" pitchFamily="18" charset="0"/>
                            <a:cs typeface="Arial" panose="020B0604020202020204" pitchFamily="34" charset="0"/>
                          </a:rPr>
                          <m:t>𝑒</m:t>
                        </m:r>
                      </m:oMath>
                    </m:oMathPara>
                  </a14:m>
                  <a:endParaRPr lang="en-US" altLang="zh-CN" sz="2799"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75" name="TextBox 90">
                  <a:extLst>
                    <a:ext uri="{FF2B5EF4-FFF2-40B4-BE49-F238E27FC236}">
                      <a16:creationId xmlns:a16="http://schemas.microsoft.com/office/drawing/2014/main" id="{C72E40EB-3CC3-9C04-433F-2A96AD6B319E}"/>
                    </a:ext>
                  </a:extLst>
                </p:cNvPr>
                <p:cNvSpPr txBox="1">
                  <a:spLocks noRot="1" noChangeAspect="1" noMove="1" noResize="1" noEditPoints="1" noAdjustHandles="1" noChangeArrowheads="1" noChangeShapeType="1" noTextEdit="1"/>
                </p:cNvSpPr>
                <p:nvPr/>
              </p:nvSpPr>
              <p:spPr>
                <a:xfrm>
                  <a:off x="5587842" y="4634862"/>
                  <a:ext cx="753710" cy="52309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91">
                  <a:extLst>
                    <a:ext uri="{FF2B5EF4-FFF2-40B4-BE49-F238E27FC236}">
                      <a16:creationId xmlns:a16="http://schemas.microsoft.com/office/drawing/2014/main" id="{3ABB4161-25DA-863D-FA86-2675CF95B051}"/>
                    </a:ext>
                  </a:extLst>
                </p:cNvPr>
                <p:cNvSpPr txBox="1"/>
                <p:nvPr/>
              </p:nvSpPr>
              <p:spPr>
                <a:xfrm>
                  <a:off x="4418752" y="4685960"/>
                  <a:ext cx="468502"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Cambria Math" panose="02040503050406030204" pitchFamily="18" charset="0"/>
                            <a:cs typeface="Arial" panose="020B0604020202020204" pitchFamily="34" charset="0"/>
                          </a:rPr>
                          <m:t>+</m:t>
                        </m:r>
                      </m:oMath>
                    </m:oMathPara>
                  </a14:m>
                  <a:endParaRPr lang="en-US" altLang="zh-CN" sz="240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76" name="TextBox 91">
                  <a:extLst>
                    <a:ext uri="{FF2B5EF4-FFF2-40B4-BE49-F238E27FC236}">
                      <a16:creationId xmlns:a16="http://schemas.microsoft.com/office/drawing/2014/main" id="{3ABB4161-25DA-863D-FA86-2675CF95B051}"/>
                    </a:ext>
                  </a:extLst>
                </p:cNvPr>
                <p:cNvSpPr txBox="1">
                  <a:spLocks noRot="1" noChangeAspect="1" noMove="1" noResize="1" noEditPoints="1" noAdjustHandles="1" noChangeArrowheads="1" noChangeShapeType="1" noTextEdit="1"/>
                </p:cNvSpPr>
                <p:nvPr/>
              </p:nvSpPr>
              <p:spPr>
                <a:xfrm>
                  <a:off x="4418752" y="4685960"/>
                  <a:ext cx="468502" cy="461665"/>
                </a:xfrm>
                <a:prstGeom prst="rect">
                  <a:avLst/>
                </a:prstGeom>
                <a:blipFill>
                  <a:blip r:embed="rId22"/>
                  <a:stretch>
                    <a:fillRect l="-38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92">
                  <a:extLst>
                    <a:ext uri="{FF2B5EF4-FFF2-40B4-BE49-F238E27FC236}">
                      <a16:creationId xmlns:a16="http://schemas.microsoft.com/office/drawing/2014/main" id="{A4AB944C-258C-3487-2315-F80C15040B29}"/>
                    </a:ext>
                  </a:extLst>
                </p:cNvPr>
                <p:cNvSpPr txBox="1"/>
                <p:nvPr/>
              </p:nvSpPr>
              <p:spPr>
                <a:xfrm>
                  <a:off x="5125009" y="5359874"/>
                  <a:ext cx="468502"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zh-CN" sz="2400" i="1">
                            <a:latin typeface="Cambria Math" panose="02040503050406030204" pitchFamily="18" charset="0"/>
                            <a:ea typeface="Cambria Math" panose="02040503050406030204" pitchFamily="18" charset="0"/>
                            <a:cs typeface="Arial" panose="020B0604020202020204" pitchFamily="34" charset="0"/>
                          </a:rPr>
                          <m:t>−</m:t>
                        </m:r>
                      </m:oMath>
                    </m:oMathPara>
                  </a14:m>
                  <a:endParaRPr lang="en-US" altLang="zh-CN" sz="240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77" name="TextBox 92">
                  <a:extLst>
                    <a:ext uri="{FF2B5EF4-FFF2-40B4-BE49-F238E27FC236}">
                      <a16:creationId xmlns:a16="http://schemas.microsoft.com/office/drawing/2014/main" id="{A4AB944C-258C-3487-2315-F80C15040B29}"/>
                    </a:ext>
                  </a:extLst>
                </p:cNvPr>
                <p:cNvSpPr txBox="1">
                  <a:spLocks noRot="1" noChangeAspect="1" noMove="1" noResize="1" noEditPoints="1" noAdjustHandles="1" noChangeArrowheads="1" noChangeShapeType="1" noTextEdit="1"/>
                </p:cNvSpPr>
                <p:nvPr/>
              </p:nvSpPr>
              <p:spPr>
                <a:xfrm>
                  <a:off x="5125009" y="5359874"/>
                  <a:ext cx="468502" cy="461665"/>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93">
                  <a:extLst>
                    <a:ext uri="{FF2B5EF4-FFF2-40B4-BE49-F238E27FC236}">
                      <a16:creationId xmlns:a16="http://schemas.microsoft.com/office/drawing/2014/main" id="{94C5C396-3444-506B-9D58-490FCA72D58C}"/>
                    </a:ext>
                  </a:extLst>
                </p:cNvPr>
                <p:cNvSpPr txBox="1"/>
                <p:nvPr/>
              </p:nvSpPr>
              <p:spPr>
                <a:xfrm>
                  <a:off x="3610135" y="4613569"/>
                  <a:ext cx="702343" cy="52309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799" i="1">
                                <a:latin typeface="Cambria Math" panose="02040503050406030204" pitchFamily="18" charset="0"/>
                                <a:ea typeface="Cambria Math" panose="02040503050406030204" pitchFamily="18" charset="0"/>
                                <a:cs typeface="Arial" panose="020B0604020202020204" pitchFamily="34" charset="0"/>
                              </a:rPr>
                            </m:ctrlPr>
                          </m:sSubPr>
                          <m:e>
                            <m:r>
                              <a:rPr lang="en-US" altLang="zh-CN" sz="2799" i="1">
                                <a:latin typeface="Cambria Math" panose="02040503050406030204" pitchFamily="18" charset="0"/>
                                <a:ea typeface="Cambria Math" panose="02040503050406030204" pitchFamily="18" charset="0"/>
                                <a:cs typeface="Arial" panose="020B0604020202020204" pitchFamily="34" charset="0"/>
                              </a:rPr>
                              <m:t>𝐿</m:t>
                            </m:r>
                          </m:e>
                          <m:sub>
                            <m:r>
                              <a:rPr lang="en-US" altLang="zh-CN" sz="2799" i="1">
                                <a:latin typeface="Cambria Math" panose="02040503050406030204" pitchFamily="18" charset="0"/>
                                <a:ea typeface="Cambria Math" panose="02040503050406030204" pitchFamily="18" charset="0"/>
                                <a:cs typeface="Arial" panose="020B0604020202020204" pitchFamily="34" charset="0"/>
                              </a:rPr>
                              <m:t>𝑑</m:t>
                            </m:r>
                          </m:sub>
                        </m:sSub>
                      </m:oMath>
                    </m:oMathPara>
                  </a14:m>
                  <a:endParaRPr lang="en-US" altLang="zh-CN" sz="2799"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78" name="TextBox 93">
                  <a:extLst>
                    <a:ext uri="{FF2B5EF4-FFF2-40B4-BE49-F238E27FC236}">
                      <a16:creationId xmlns:a16="http://schemas.microsoft.com/office/drawing/2014/main" id="{94C5C396-3444-506B-9D58-490FCA72D58C}"/>
                    </a:ext>
                  </a:extLst>
                </p:cNvPr>
                <p:cNvSpPr txBox="1">
                  <a:spLocks noRot="1" noChangeAspect="1" noMove="1" noResize="1" noEditPoints="1" noAdjustHandles="1" noChangeArrowheads="1" noChangeShapeType="1" noTextEdit="1"/>
                </p:cNvSpPr>
                <p:nvPr/>
              </p:nvSpPr>
              <p:spPr>
                <a:xfrm>
                  <a:off x="3610135" y="4613569"/>
                  <a:ext cx="702343" cy="523092"/>
                </a:xfrm>
                <a:prstGeom prst="rect">
                  <a:avLst/>
                </a:prstGeom>
                <a:blipFill>
                  <a:blip r:embed="rId24"/>
                  <a:stretch>
                    <a:fillRect/>
                  </a:stretch>
                </a:blipFill>
              </p:spPr>
              <p:txBody>
                <a:bodyPr/>
                <a:lstStyle/>
                <a:p>
                  <a:r>
                    <a:rPr lang="en-US">
                      <a:noFill/>
                    </a:rPr>
                    <a:t> </a:t>
                  </a:r>
                </a:p>
              </p:txBody>
            </p:sp>
          </mc:Fallback>
        </mc:AlternateContent>
        <p:sp>
          <p:nvSpPr>
            <p:cNvPr id="80" name="Rectangle: Rounded Corners 95">
              <a:extLst>
                <a:ext uri="{FF2B5EF4-FFF2-40B4-BE49-F238E27FC236}">
                  <a16:creationId xmlns:a16="http://schemas.microsoft.com/office/drawing/2014/main" id="{3DBB1CCB-56B1-684E-B553-927D54188C54}"/>
                </a:ext>
              </a:extLst>
            </p:cNvPr>
            <p:cNvSpPr/>
            <p:nvPr/>
          </p:nvSpPr>
          <p:spPr>
            <a:xfrm>
              <a:off x="17312073" y="4750484"/>
              <a:ext cx="1070918" cy="825398"/>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grpSp>
          <p:nvGrpSpPr>
            <p:cNvPr id="127" name="Group 97">
              <a:extLst>
                <a:ext uri="{FF2B5EF4-FFF2-40B4-BE49-F238E27FC236}">
                  <a16:creationId xmlns:a16="http://schemas.microsoft.com/office/drawing/2014/main" id="{88F9737F-9252-7D03-2F0D-344975A10C2D}"/>
                </a:ext>
              </a:extLst>
            </p:cNvPr>
            <p:cNvGrpSpPr/>
            <p:nvPr/>
          </p:nvGrpSpPr>
          <p:grpSpPr>
            <a:xfrm>
              <a:off x="15887102" y="5067635"/>
              <a:ext cx="1399784" cy="132666"/>
              <a:chOff x="11038844" y="2282238"/>
              <a:chExt cx="795765" cy="122767"/>
            </a:xfrm>
          </p:grpSpPr>
          <p:cxnSp>
            <p:nvCxnSpPr>
              <p:cNvPr id="180" name="Straight Connector 124">
                <a:extLst>
                  <a:ext uri="{FF2B5EF4-FFF2-40B4-BE49-F238E27FC236}">
                    <a16:creationId xmlns:a16="http://schemas.microsoft.com/office/drawing/2014/main" id="{058BB259-5ED4-42C4-6F15-A6962EC7F470}"/>
                  </a:ext>
                </a:extLst>
              </p:cNvPr>
              <p:cNvCxnSpPr>
                <a:cxnSpLocks/>
                <a:endCxn id="181" idx="3"/>
              </p:cNvCxnSpPr>
              <p:nvPr/>
            </p:nvCxnSpPr>
            <p:spPr>
              <a:xfrm>
                <a:off x="11038844" y="2343622"/>
                <a:ext cx="7164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1" name="Isosceles Triangle 131">
                <a:extLst>
                  <a:ext uri="{FF2B5EF4-FFF2-40B4-BE49-F238E27FC236}">
                    <a16:creationId xmlns:a16="http://schemas.microsoft.com/office/drawing/2014/main" id="{7ED29520-BD3A-9F4E-F828-CDAF43F0B381}"/>
                  </a:ext>
                </a:extLst>
              </p:cNvPr>
              <p:cNvSpPr/>
              <p:nvPr/>
            </p:nvSpPr>
            <p:spPr>
              <a:xfrm rot="5400000">
                <a:off x="11733578" y="2303975"/>
                <a:ext cx="122767" cy="79294"/>
              </a:xfrm>
              <a:prstGeom prst="triangle">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grpSp>
        <p:grpSp>
          <p:nvGrpSpPr>
            <p:cNvPr id="128" name="Group 98">
              <a:extLst>
                <a:ext uri="{FF2B5EF4-FFF2-40B4-BE49-F238E27FC236}">
                  <a16:creationId xmlns:a16="http://schemas.microsoft.com/office/drawing/2014/main" id="{12DE1B1D-6CDE-D959-78A8-264720F17B15}"/>
                </a:ext>
              </a:extLst>
            </p:cNvPr>
            <p:cNvGrpSpPr/>
            <p:nvPr/>
          </p:nvGrpSpPr>
          <p:grpSpPr>
            <a:xfrm>
              <a:off x="8341359" y="5099299"/>
              <a:ext cx="872233" cy="122767"/>
              <a:chOff x="10958559" y="2282239"/>
              <a:chExt cx="872233" cy="122767"/>
            </a:xfrm>
          </p:grpSpPr>
          <p:cxnSp>
            <p:nvCxnSpPr>
              <p:cNvPr id="178" name="Straight Connector 122">
                <a:extLst>
                  <a:ext uri="{FF2B5EF4-FFF2-40B4-BE49-F238E27FC236}">
                    <a16:creationId xmlns:a16="http://schemas.microsoft.com/office/drawing/2014/main" id="{6E5D0023-CA24-D04C-0E71-A179902C1574}"/>
                  </a:ext>
                </a:extLst>
              </p:cNvPr>
              <p:cNvCxnSpPr>
                <a:cxnSpLocks/>
                <a:stCxn id="29" idx="3"/>
                <a:endCxn id="179" idx="3"/>
              </p:cNvCxnSpPr>
              <p:nvPr/>
            </p:nvCxnSpPr>
            <p:spPr>
              <a:xfrm>
                <a:off x="10958559" y="2339830"/>
                <a:ext cx="740500" cy="379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9" name="Isosceles Triangle 123">
                <a:extLst>
                  <a:ext uri="{FF2B5EF4-FFF2-40B4-BE49-F238E27FC236}">
                    <a16:creationId xmlns:a16="http://schemas.microsoft.com/office/drawing/2014/main" id="{36E8CC96-2B81-D43E-6F64-F7924B398431}"/>
                  </a:ext>
                </a:extLst>
              </p:cNvPr>
              <p:cNvSpPr/>
              <p:nvPr/>
            </p:nvSpPr>
            <p:spPr>
              <a:xfrm rot="5400000">
                <a:off x="11703542" y="2277756"/>
                <a:ext cx="122767" cy="131733"/>
              </a:xfrm>
              <a:prstGeom prst="triangle">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dirty="0"/>
              </a:p>
            </p:txBody>
          </p:sp>
        </p:grpSp>
        <p:grpSp>
          <p:nvGrpSpPr>
            <p:cNvPr id="129" name="Group 99">
              <a:extLst>
                <a:ext uri="{FF2B5EF4-FFF2-40B4-BE49-F238E27FC236}">
                  <a16:creationId xmlns:a16="http://schemas.microsoft.com/office/drawing/2014/main" id="{1FD3F5D2-21EC-45E7-C916-F90E98B03479}"/>
                </a:ext>
              </a:extLst>
            </p:cNvPr>
            <p:cNvGrpSpPr/>
            <p:nvPr/>
          </p:nvGrpSpPr>
          <p:grpSpPr>
            <a:xfrm>
              <a:off x="5404138" y="5095504"/>
              <a:ext cx="1593015" cy="122767"/>
              <a:chOff x="10715297" y="2282239"/>
              <a:chExt cx="1593015" cy="122767"/>
            </a:xfrm>
          </p:grpSpPr>
          <p:cxnSp>
            <p:nvCxnSpPr>
              <p:cNvPr id="166" name="Straight Connector 120">
                <a:extLst>
                  <a:ext uri="{FF2B5EF4-FFF2-40B4-BE49-F238E27FC236}">
                    <a16:creationId xmlns:a16="http://schemas.microsoft.com/office/drawing/2014/main" id="{8AAE8B3B-AD4C-B34C-D13A-9C417A79012F}"/>
                  </a:ext>
                </a:extLst>
              </p:cNvPr>
              <p:cNvCxnSpPr>
                <a:cxnSpLocks/>
                <a:stCxn id="32" idx="6"/>
                <a:endCxn id="177" idx="3"/>
              </p:cNvCxnSpPr>
              <p:nvPr/>
            </p:nvCxnSpPr>
            <p:spPr>
              <a:xfrm flipV="1">
                <a:off x="10715297" y="2343623"/>
                <a:ext cx="1461282"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7" name="Isosceles Triangle 121">
                <a:extLst>
                  <a:ext uri="{FF2B5EF4-FFF2-40B4-BE49-F238E27FC236}">
                    <a16:creationId xmlns:a16="http://schemas.microsoft.com/office/drawing/2014/main" id="{35B5479C-E342-485A-0069-7F848B7C78D8}"/>
                  </a:ext>
                </a:extLst>
              </p:cNvPr>
              <p:cNvSpPr/>
              <p:nvPr/>
            </p:nvSpPr>
            <p:spPr>
              <a:xfrm rot="5400000">
                <a:off x="12181062" y="2277756"/>
                <a:ext cx="122767" cy="131733"/>
              </a:xfrm>
              <a:prstGeom prst="triangle">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grpSp>
        <p:grpSp>
          <p:nvGrpSpPr>
            <p:cNvPr id="131" name="Group 100">
              <a:extLst>
                <a:ext uri="{FF2B5EF4-FFF2-40B4-BE49-F238E27FC236}">
                  <a16:creationId xmlns:a16="http://schemas.microsoft.com/office/drawing/2014/main" id="{4456AF74-8FE8-92BF-EE81-ACC2F45D34EB}"/>
                </a:ext>
              </a:extLst>
            </p:cNvPr>
            <p:cNvGrpSpPr/>
            <p:nvPr/>
          </p:nvGrpSpPr>
          <p:grpSpPr>
            <a:xfrm>
              <a:off x="3618697" y="5093381"/>
              <a:ext cx="1115495" cy="122767"/>
              <a:chOff x="10715297" y="2282239"/>
              <a:chExt cx="1115495" cy="122767"/>
            </a:xfrm>
          </p:grpSpPr>
          <p:cxnSp>
            <p:nvCxnSpPr>
              <p:cNvPr id="164" name="Straight Connector 118">
                <a:extLst>
                  <a:ext uri="{FF2B5EF4-FFF2-40B4-BE49-F238E27FC236}">
                    <a16:creationId xmlns:a16="http://schemas.microsoft.com/office/drawing/2014/main" id="{7BA424C5-D6EB-6FBB-70CA-D0A2DEFFB198}"/>
                  </a:ext>
                </a:extLst>
              </p:cNvPr>
              <p:cNvCxnSpPr>
                <a:cxnSpLocks/>
                <a:endCxn id="165" idx="3"/>
              </p:cNvCxnSpPr>
              <p:nvPr/>
            </p:nvCxnSpPr>
            <p:spPr>
              <a:xfrm flipV="1">
                <a:off x="10715297" y="2343623"/>
                <a:ext cx="983762"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5" name="Isosceles Triangle 119">
                <a:extLst>
                  <a:ext uri="{FF2B5EF4-FFF2-40B4-BE49-F238E27FC236}">
                    <a16:creationId xmlns:a16="http://schemas.microsoft.com/office/drawing/2014/main" id="{0E62C54F-6DF4-7811-84F2-A3A8B662178F}"/>
                  </a:ext>
                </a:extLst>
              </p:cNvPr>
              <p:cNvSpPr/>
              <p:nvPr/>
            </p:nvSpPr>
            <p:spPr>
              <a:xfrm rot="5400000">
                <a:off x="11703542" y="2277756"/>
                <a:ext cx="122767" cy="131733"/>
              </a:xfrm>
              <a:prstGeom prst="triangle">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grpSp>
        <p:sp>
          <p:nvSpPr>
            <p:cNvPr id="132" name="Isosceles Triangle 101">
              <a:extLst>
                <a:ext uri="{FF2B5EF4-FFF2-40B4-BE49-F238E27FC236}">
                  <a16:creationId xmlns:a16="http://schemas.microsoft.com/office/drawing/2014/main" id="{801D0313-02E2-B752-F6E6-1715B1B0E85E}"/>
                </a:ext>
              </a:extLst>
            </p:cNvPr>
            <p:cNvSpPr/>
            <p:nvPr/>
          </p:nvSpPr>
          <p:spPr>
            <a:xfrm>
              <a:off x="5022714" y="5501955"/>
              <a:ext cx="162061" cy="176895"/>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133" name="TextBox 102">
              <a:extLst>
                <a:ext uri="{FF2B5EF4-FFF2-40B4-BE49-F238E27FC236}">
                  <a16:creationId xmlns:a16="http://schemas.microsoft.com/office/drawing/2014/main" id="{7C374C97-A707-4838-2810-A90ACA21170F}"/>
                </a:ext>
              </a:extLst>
            </p:cNvPr>
            <p:cNvSpPr txBox="1"/>
            <p:nvPr/>
          </p:nvSpPr>
          <p:spPr>
            <a:xfrm>
              <a:off x="17255278" y="4934914"/>
              <a:ext cx="1196275" cy="399981"/>
            </a:xfrm>
            <a:prstGeom prst="rect">
              <a:avLst/>
            </a:prstGeom>
            <a:noFill/>
          </p:spPr>
          <p:txBody>
            <a:bodyPr wrap="square">
              <a:spAutoFit/>
            </a:bodyPr>
            <a:lstStyle/>
            <a:p>
              <a:pPr algn="ctr"/>
              <a:r>
                <a:rPr lang="en-US" altLang="zh-CN" sz="1999" dirty="0">
                  <a:latin typeface="Arial" panose="020B0604020202020204" pitchFamily="34" charset="0"/>
                  <a:ea typeface="Cambria Math" panose="02040503050406030204" pitchFamily="18" charset="0"/>
                  <a:cs typeface="Arial" panose="020B0604020202020204" pitchFamily="34" charset="0"/>
                </a:rPr>
                <a:t>PAM</a:t>
              </a:r>
            </a:p>
          </p:txBody>
        </p:sp>
        <mc:AlternateContent xmlns:mc="http://schemas.openxmlformats.org/markup-compatibility/2006" xmlns:a14="http://schemas.microsoft.com/office/drawing/2010/main">
          <mc:Choice Requires="a14">
            <p:sp>
              <p:nvSpPr>
                <p:cNvPr id="134" name="TextBox 104">
                  <a:extLst>
                    <a:ext uri="{FF2B5EF4-FFF2-40B4-BE49-F238E27FC236}">
                      <a16:creationId xmlns:a16="http://schemas.microsoft.com/office/drawing/2014/main" id="{5CC23A16-F202-2110-805A-A460AC6797A8}"/>
                    </a:ext>
                  </a:extLst>
                </p:cNvPr>
                <p:cNvSpPr txBox="1"/>
                <p:nvPr/>
              </p:nvSpPr>
              <p:spPr>
                <a:xfrm>
                  <a:off x="19029427" y="4805051"/>
                  <a:ext cx="1478035" cy="707630"/>
                </a:xfrm>
                <a:prstGeom prst="rect">
                  <a:avLst/>
                </a:prstGeom>
                <a:noFill/>
              </p:spPr>
              <p:txBody>
                <a:bodyPr wrap="square">
                  <a:spAutoFit/>
                </a:bodyPr>
                <a:lstStyle/>
                <a:p>
                  <a:pPr algn="ctr"/>
                  <a:r>
                    <a:rPr lang="en-US" altLang="zh-CN" sz="1999" dirty="0">
                      <a:latin typeface="Arial" panose="020B0604020202020204" pitchFamily="34" charset="0"/>
                      <a:ea typeface="Cambria Math" panose="02040503050406030204" pitchFamily="18" charset="0"/>
                      <a:cs typeface="Arial" panose="020B0604020202020204" pitchFamily="34" charset="0"/>
                    </a:rPr>
                    <a:t>Refractory</a:t>
                  </a:r>
                </a:p>
                <a:p>
                  <a:pPr algn="ctr"/>
                  <a14:m>
                    <m:oMathPara xmlns:m="http://schemas.openxmlformats.org/officeDocument/2006/math">
                      <m:oMathParaPr>
                        <m:jc m:val="centerGroup"/>
                      </m:oMathParaPr>
                      <m:oMath xmlns:m="http://schemas.openxmlformats.org/officeDocument/2006/math">
                        <m:sSub>
                          <m:sSubPr>
                            <m:ctrlPr>
                              <a:rPr lang="en-US" altLang="zh-CN" sz="1999" i="1" smtClean="0">
                                <a:latin typeface="Cambria Math" panose="02040503050406030204" pitchFamily="18" charset="0"/>
                                <a:ea typeface="Cambria Math" panose="02040503050406030204" pitchFamily="18" charset="0"/>
                                <a:cs typeface="Arial" panose="020B0604020202020204" pitchFamily="34" charset="0"/>
                              </a:rPr>
                            </m:ctrlPr>
                          </m:sSubPr>
                          <m:e>
                            <m:r>
                              <a:rPr lang="en-US" altLang="zh-CN" sz="1999" b="0" i="1" smtClean="0">
                                <a:latin typeface="Cambria Math" panose="02040503050406030204" pitchFamily="18" charset="0"/>
                                <a:ea typeface="Cambria Math" panose="02040503050406030204" pitchFamily="18" charset="0"/>
                                <a:cs typeface="Arial" panose="020B0604020202020204" pitchFamily="34" charset="0"/>
                              </a:rPr>
                              <m:t>𝑇</m:t>
                            </m:r>
                          </m:e>
                          <m:sub>
                            <m:r>
                              <a:rPr lang="en-US" altLang="zh-CN" sz="1999" b="0" i="1" smtClean="0">
                                <a:latin typeface="Cambria Math" panose="02040503050406030204" pitchFamily="18" charset="0"/>
                                <a:ea typeface="Cambria Math" panose="02040503050406030204" pitchFamily="18" charset="0"/>
                                <a:cs typeface="Arial" panose="020B0604020202020204" pitchFamily="34" charset="0"/>
                              </a:rPr>
                              <m:t>𝑟</m:t>
                            </m:r>
                          </m:sub>
                        </m:sSub>
                      </m:oMath>
                    </m:oMathPara>
                  </a14:m>
                  <a:endParaRPr lang="en-US" altLang="zh-CN" sz="1999"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134" name="TextBox 104">
                  <a:extLst>
                    <a:ext uri="{FF2B5EF4-FFF2-40B4-BE49-F238E27FC236}">
                      <a16:creationId xmlns:a16="http://schemas.microsoft.com/office/drawing/2014/main" id="{5CC23A16-F202-2110-805A-A460AC6797A8}"/>
                    </a:ext>
                  </a:extLst>
                </p:cNvPr>
                <p:cNvSpPr txBox="1">
                  <a:spLocks noRot="1" noChangeAspect="1" noMove="1" noResize="1" noEditPoints="1" noAdjustHandles="1" noChangeArrowheads="1" noChangeShapeType="1" noTextEdit="1"/>
                </p:cNvSpPr>
                <p:nvPr/>
              </p:nvSpPr>
              <p:spPr>
                <a:xfrm>
                  <a:off x="19029427" y="4805051"/>
                  <a:ext cx="1478035" cy="707630"/>
                </a:xfrm>
                <a:prstGeom prst="rect">
                  <a:avLst/>
                </a:prstGeom>
                <a:blipFill>
                  <a:blip r:embed="rId25"/>
                  <a:stretch>
                    <a:fillRect l="-826" t="-3448" r="-413"/>
                  </a:stretch>
                </a:blipFill>
              </p:spPr>
              <p:txBody>
                <a:bodyPr/>
                <a:lstStyle/>
                <a:p>
                  <a:r>
                    <a:rPr lang="en-US">
                      <a:noFill/>
                    </a:rPr>
                    <a:t> </a:t>
                  </a:r>
                </a:p>
              </p:txBody>
            </p:sp>
          </mc:Fallback>
        </mc:AlternateContent>
        <p:grpSp>
          <p:nvGrpSpPr>
            <p:cNvPr id="136" name="Group 105">
              <a:extLst>
                <a:ext uri="{FF2B5EF4-FFF2-40B4-BE49-F238E27FC236}">
                  <a16:creationId xmlns:a16="http://schemas.microsoft.com/office/drawing/2014/main" id="{800AFFAA-EE45-4CA8-35AB-681059B815BB}"/>
                </a:ext>
              </a:extLst>
            </p:cNvPr>
            <p:cNvGrpSpPr/>
            <p:nvPr/>
          </p:nvGrpSpPr>
          <p:grpSpPr>
            <a:xfrm>
              <a:off x="18382991" y="5098085"/>
              <a:ext cx="628850" cy="132667"/>
              <a:chOff x="11090126" y="2282239"/>
              <a:chExt cx="744482" cy="100121"/>
            </a:xfrm>
          </p:grpSpPr>
          <p:cxnSp>
            <p:nvCxnSpPr>
              <p:cNvPr id="162" name="Straight Connector 116">
                <a:extLst>
                  <a:ext uri="{FF2B5EF4-FFF2-40B4-BE49-F238E27FC236}">
                    <a16:creationId xmlns:a16="http://schemas.microsoft.com/office/drawing/2014/main" id="{BD5833E0-A217-44DA-E403-EC82A2E72B89}"/>
                  </a:ext>
                </a:extLst>
              </p:cNvPr>
              <p:cNvCxnSpPr>
                <a:cxnSpLocks/>
                <a:endCxn id="163" idx="3"/>
              </p:cNvCxnSpPr>
              <p:nvPr/>
            </p:nvCxnSpPr>
            <p:spPr>
              <a:xfrm>
                <a:off x="11090126" y="2332300"/>
                <a:ext cx="59367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3" name="Isosceles Triangle 117">
                <a:extLst>
                  <a:ext uri="{FF2B5EF4-FFF2-40B4-BE49-F238E27FC236}">
                    <a16:creationId xmlns:a16="http://schemas.microsoft.com/office/drawing/2014/main" id="{DC56A6B6-A168-A1C9-8418-C34C43D02184}"/>
                  </a:ext>
                </a:extLst>
              </p:cNvPr>
              <p:cNvSpPr/>
              <p:nvPr/>
            </p:nvSpPr>
            <p:spPr>
              <a:xfrm rot="5400000">
                <a:off x="11709142" y="2256895"/>
                <a:ext cx="100121" cy="150810"/>
              </a:xfrm>
              <a:prstGeom prst="triangle">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grpSp>
        <p:grpSp>
          <p:nvGrpSpPr>
            <p:cNvPr id="137" name="Group 106">
              <a:extLst>
                <a:ext uri="{FF2B5EF4-FFF2-40B4-BE49-F238E27FC236}">
                  <a16:creationId xmlns:a16="http://schemas.microsoft.com/office/drawing/2014/main" id="{0A3D5BDA-7173-62C5-C08C-F28570A3E3DB}"/>
                </a:ext>
              </a:extLst>
            </p:cNvPr>
            <p:cNvGrpSpPr/>
            <p:nvPr/>
          </p:nvGrpSpPr>
          <p:grpSpPr>
            <a:xfrm>
              <a:off x="20636211" y="5084825"/>
              <a:ext cx="883687" cy="139558"/>
              <a:chOff x="10911210" y="2314218"/>
              <a:chExt cx="936496" cy="89207"/>
            </a:xfrm>
          </p:grpSpPr>
          <p:cxnSp>
            <p:nvCxnSpPr>
              <p:cNvPr id="159" name="Straight Connector 114">
                <a:extLst>
                  <a:ext uri="{FF2B5EF4-FFF2-40B4-BE49-F238E27FC236}">
                    <a16:creationId xmlns:a16="http://schemas.microsoft.com/office/drawing/2014/main" id="{231DFCB1-73C2-FBC8-E0D6-0D4037331511}"/>
                  </a:ext>
                </a:extLst>
              </p:cNvPr>
              <p:cNvCxnSpPr>
                <a:cxnSpLocks/>
                <a:endCxn id="160" idx="3"/>
              </p:cNvCxnSpPr>
              <p:nvPr/>
            </p:nvCxnSpPr>
            <p:spPr>
              <a:xfrm>
                <a:off x="10911210" y="2358821"/>
                <a:ext cx="758559"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0" name="Isosceles Triangle 115">
                <a:extLst>
                  <a:ext uri="{FF2B5EF4-FFF2-40B4-BE49-F238E27FC236}">
                    <a16:creationId xmlns:a16="http://schemas.microsoft.com/office/drawing/2014/main" id="{08B0E542-5265-ECCA-1014-01EBED0C68B4}"/>
                  </a:ext>
                </a:extLst>
              </p:cNvPr>
              <p:cNvSpPr/>
              <p:nvPr/>
            </p:nvSpPr>
            <p:spPr>
              <a:xfrm rot="5400000">
                <a:off x="11714134" y="2269853"/>
                <a:ext cx="89207" cy="177937"/>
              </a:xfrm>
              <a:prstGeom prst="triangle">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grpSp>
        <p:cxnSp>
          <p:nvCxnSpPr>
            <p:cNvPr id="140" name="Connector: Elbow 107">
              <a:extLst>
                <a:ext uri="{FF2B5EF4-FFF2-40B4-BE49-F238E27FC236}">
                  <a16:creationId xmlns:a16="http://schemas.microsoft.com/office/drawing/2014/main" id="{9A569D08-3F60-040C-C0D2-D07652860434}"/>
                </a:ext>
              </a:extLst>
            </p:cNvPr>
            <p:cNvCxnSpPr>
              <a:cxnSpLocks/>
              <a:stCxn id="132" idx="3"/>
              <a:endCxn id="149" idx="3"/>
            </p:cNvCxnSpPr>
            <p:nvPr/>
          </p:nvCxnSpPr>
          <p:spPr>
            <a:xfrm rot="5400000" flipH="1" flipV="1">
              <a:off x="12554319" y="-2294780"/>
              <a:ext cx="523056" cy="15424204"/>
            </a:xfrm>
            <a:prstGeom prst="bentConnector4">
              <a:avLst>
                <a:gd name="adj1" fmla="val -264657"/>
                <a:gd name="adj2" fmla="val 101482"/>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TextBox 110">
                  <a:extLst>
                    <a:ext uri="{FF2B5EF4-FFF2-40B4-BE49-F238E27FC236}">
                      <a16:creationId xmlns:a16="http://schemas.microsoft.com/office/drawing/2014/main" id="{9F1A2F80-621C-0B7D-ECD1-F329995EC1DD}"/>
                    </a:ext>
                  </a:extLst>
                </p:cNvPr>
                <p:cNvSpPr txBox="1"/>
                <p:nvPr/>
              </p:nvSpPr>
              <p:spPr>
                <a:xfrm>
                  <a:off x="20649652" y="4683188"/>
                  <a:ext cx="702343" cy="523092"/>
                </a:xfrm>
                <a:prstGeom prst="rect">
                  <a:avLst/>
                </a:prstGeom>
                <a:noFill/>
                <a:ln w="28575">
                  <a:noFill/>
                </a:ln>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zh-CN" sz="2799" i="1">
                            <a:latin typeface="Cambria Math" panose="02040503050406030204" pitchFamily="18" charset="0"/>
                            <a:ea typeface="Cambria Math" panose="02040503050406030204" pitchFamily="18" charset="0"/>
                            <a:cs typeface="Arial" panose="020B0604020202020204" pitchFamily="34" charset="0"/>
                          </a:rPr>
                          <m:t>𝐿</m:t>
                        </m:r>
                      </m:oMath>
                    </m:oMathPara>
                  </a14:m>
                  <a:endParaRPr lang="en-US" altLang="zh-CN" sz="2799"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144" name="TextBox 110">
                  <a:extLst>
                    <a:ext uri="{FF2B5EF4-FFF2-40B4-BE49-F238E27FC236}">
                      <a16:creationId xmlns:a16="http://schemas.microsoft.com/office/drawing/2014/main" id="{9F1A2F80-621C-0B7D-ECD1-F329995EC1DD}"/>
                    </a:ext>
                  </a:extLst>
                </p:cNvPr>
                <p:cNvSpPr txBox="1">
                  <a:spLocks noRot="1" noChangeAspect="1" noMove="1" noResize="1" noEditPoints="1" noAdjustHandles="1" noChangeArrowheads="1" noChangeShapeType="1" noTextEdit="1"/>
                </p:cNvSpPr>
                <p:nvPr/>
              </p:nvSpPr>
              <p:spPr>
                <a:xfrm>
                  <a:off x="20649652" y="4683188"/>
                  <a:ext cx="702343" cy="523092"/>
                </a:xfrm>
                <a:prstGeom prst="rect">
                  <a:avLst/>
                </a:prstGeom>
                <a:blipFill>
                  <a:blip r:embed="rId26"/>
                  <a:stretch>
                    <a:fillRect/>
                  </a:stretch>
                </a:blipFill>
                <a:ln w="28575">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TextBox 112">
                  <a:extLst>
                    <a:ext uri="{FF2B5EF4-FFF2-40B4-BE49-F238E27FC236}">
                      <a16:creationId xmlns:a16="http://schemas.microsoft.com/office/drawing/2014/main" id="{9D929951-D920-B109-37B6-C97EB4518B43}"/>
                    </a:ext>
                  </a:extLst>
                </p:cNvPr>
                <p:cNvSpPr txBox="1"/>
                <p:nvPr/>
              </p:nvSpPr>
              <p:spPr>
                <a:xfrm>
                  <a:off x="10668613" y="4037696"/>
                  <a:ext cx="2541146" cy="543418"/>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altLang="zh-CN" sz="2799" i="1">
                            <a:latin typeface="Cambria Math" panose="02040503050406030204" pitchFamily="18" charset="0"/>
                            <a:ea typeface="Cambria Math" panose="02040503050406030204" pitchFamily="18" charset="0"/>
                            <a:cs typeface="Arial" panose="020B0604020202020204" pitchFamily="34" charset="0"/>
                          </a:rPr>
                          <m:t>𝑎</m:t>
                        </m:r>
                        <m:r>
                          <a:rPr lang="en-US" altLang="zh-CN" sz="2799" i="1">
                            <a:latin typeface="Cambria Math" panose="02040503050406030204" pitchFamily="18" charset="0"/>
                            <a:ea typeface="Cambria Math" panose="02040503050406030204" pitchFamily="18" charset="0"/>
                            <a:cs typeface="Arial" panose="020B0604020202020204" pitchFamily="34" charset="0"/>
                          </a:rPr>
                          <m:t>∉[</m:t>
                        </m:r>
                        <m:bar>
                          <m:barPr>
                            <m:pos m:val="top"/>
                            <m:ctrlPr>
                              <a:rPr lang="en-US" altLang="zh-CN" sz="2799" i="1">
                                <a:latin typeface="Cambria Math" panose="02040503050406030204" pitchFamily="18" charset="0"/>
                                <a:ea typeface="Cambria Math" panose="02040503050406030204" pitchFamily="18" charset="0"/>
                                <a:cs typeface="Arial" panose="020B0604020202020204" pitchFamily="34" charset="0"/>
                              </a:rPr>
                            </m:ctrlPr>
                          </m:barPr>
                          <m:e>
                            <m:r>
                              <a:rPr lang="en-US" altLang="zh-CN" sz="2799" i="1">
                                <a:latin typeface="Cambria Math" panose="02040503050406030204" pitchFamily="18" charset="0"/>
                                <a:ea typeface="Cambria Math" panose="02040503050406030204" pitchFamily="18" charset="0"/>
                                <a:cs typeface="Arial" panose="020B0604020202020204" pitchFamily="34" charset="0"/>
                              </a:rPr>
                              <m:t>𝑎</m:t>
                            </m:r>
                          </m:e>
                        </m:bar>
                        <m:r>
                          <a:rPr lang="en-US" altLang="zh-CN" sz="2799" b="0" i="1" smtClean="0">
                            <a:latin typeface="Cambria Math" panose="02040503050406030204" pitchFamily="18" charset="0"/>
                            <a:ea typeface="Cambria Math" panose="02040503050406030204" pitchFamily="18" charset="0"/>
                            <a:cs typeface="Arial" panose="020B0604020202020204" pitchFamily="34" charset="0"/>
                          </a:rPr>
                          <m:t>,</m:t>
                        </m:r>
                        <m:bar>
                          <m:barPr>
                            <m:ctrlPr>
                              <a:rPr lang="en-US" altLang="zh-CN" sz="2799" i="1">
                                <a:latin typeface="Cambria Math" panose="02040503050406030204" pitchFamily="18" charset="0"/>
                                <a:ea typeface="Cambria Math" panose="02040503050406030204" pitchFamily="18" charset="0"/>
                                <a:cs typeface="Arial" panose="020B0604020202020204" pitchFamily="34" charset="0"/>
                              </a:rPr>
                            </m:ctrlPr>
                          </m:barPr>
                          <m:e>
                            <m:r>
                              <a:rPr lang="en-US" altLang="zh-CN" sz="2799" i="1">
                                <a:latin typeface="Cambria Math" panose="02040503050406030204" pitchFamily="18" charset="0"/>
                                <a:ea typeface="Cambria Math" panose="02040503050406030204" pitchFamily="18" charset="0"/>
                                <a:cs typeface="Arial" panose="020B0604020202020204" pitchFamily="34" charset="0"/>
                              </a:rPr>
                              <m:t>𝑎</m:t>
                            </m:r>
                          </m:e>
                        </m:bar>
                        <m:r>
                          <a:rPr lang="en-US" altLang="zh-CN" sz="2799" b="0"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en-US" altLang="zh-CN" sz="2799"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146" name="TextBox 112">
                  <a:extLst>
                    <a:ext uri="{FF2B5EF4-FFF2-40B4-BE49-F238E27FC236}">
                      <a16:creationId xmlns:a16="http://schemas.microsoft.com/office/drawing/2014/main" id="{9D929951-D920-B109-37B6-C97EB4518B43}"/>
                    </a:ext>
                  </a:extLst>
                </p:cNvPr>
                <p:cNvSpPr txBox="1">
                  <a:spLocks noRot="1" noChangeAspect="1" noMove="1" noResize="1" noEditPoints="1" noAdjustHandles="1" noChangeArrowheads="1" noChangeShapeType="1" noTextEdit="1"/>
                </p:cNvSpPr>
                <p:nvPr/>
              </p:nvSpPr>
              <p:spPr>
                <a:xfrm>
                  <a:off x="10668613" y="4037696"/>
                  <a:ext cx="2541146" cy="543418"/>
                </a:xfrm>
                <a:prstGeom prst="rect">
                  <a:avLst/>
                </a:prstGeom>
                <a:blipFill>
                  <a:blip r:embed="rId27"/>
                  <a:stretch>
                    <a:fillRect/>
                  </a:stretch>
                </a:blipFill>
              </p:spPr>
              <p:txBody>
                <a:bodyPr/>
                <a:lstStyle/>
                <a:p>
                  <a:r>
                    <a:rPr lang="en-US">
                      <a:noFill/>
                    </a:rPr>
                    <a:t> </a:t>
                  </a:r>
                </a:p>
              </p:txBody>
            </p:sp>
          </mc:Fallback>
        </mc:AlternateContent>
        <p:sp>
          <p:nvSpPr>
            <p:cNvPr id="148" name="Isosceles Triangle 113">
              <a:extLst>
                <a:ext uri="{FF2B5EF4-FFF2-40B4-BE49-F238E27FC236}">
                  <a16:creationId xmlns:a16="http://schemas.microsoft.com/office/drawing/2014/main" id="{D8C4FBFF-217B-F917-A592-AD673BF64CA3}"/>
                </a:ext>
              </a:extLst>
            </p:cNvPr>
            <p:cNvSpPr/>
            <p:nvPr/>
          </p:nvSpPr>
          <p:spPr>
            <a:xfrm rot="2369871">
              <a:off x="9423792" y="5576086"/>
              <a:ext cx="122767" cy="131733"/>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149" name="Rectangle: Rounded Corners 95">
              <a:extLst>
                <a:ext uri="{FF2B5EF4-FFF2-40B4-BE49-F238E27FC236}">
                  <a16:creationId xmlns:a16="http://schemas.microsoft.com/office/drawing/2014/main" id="{CCA06C3F-C348-7817-652B-F07158246519}"/>
                </a:ext>
              </a:extLst>
            </p:cNvPr>
            <p:cNvSpPr/>
            <p:nvPr/>
          </p:nvSpPr>
          <p:spPr>
            <a:xfrm>
              <a:off x="19024421" y="4750484"/>
              <a:ext cx="1503528" cy="810619"/>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mc:AlternateContent xmlns:mc="http://schemas.openxmlformats.org/markup-compatibility/2006" xmlns:a14="http://schemas.microsoft.com/office/drawing/2010/main">
          <mc:Choice Requires="a14">
            <p:sp>
              <p:nvSpPr>
                <p:cNvPr id="152" name="TextBox 93">
                  <a:extLst>
                    <a:ext uri="{FF2B5EF4-FFF2-40B4-BE49-F238E27FC236}">
                      <a16:creationId xmlns:a16="http://schemas.microsoft.com/office/drawing/2014/main" id="{FDDE6386-A499-CFE2-AA07-C64EA4DB5E4E}"/>
                    </a:ext>
                  </a:extLst>
                </p:cNvPr>
                <p:cNvSpPr txBox="1"/>
                <p:nvPr/>
              </p:nvSpPr>
              <p:spPr>
                <a:xfrm>
                  <a:off x="16407899" y="4639137"/>
                  <a:ext cx="702343" cy="461665"/>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400" i="1" smtClean="0">
                                <a:latin typeface="Cambria Math" panose="02040503050406030204" pitchFamily="18" charset="0"/>
                                <a:ea typeface="Cambria Math" panose="02040503050406030204" pitchFamily="18" charset="0"/>
                                <a:cs typeface="Arial" panose="020B0604020202020204" pitchFamily="34" charset="0"/>
                              </a:rPr>
                            </m:ctrlPr>
                          </m:sSubPr>
                          <m:e>
                            <m:r>
                              <a:rPr lang="en-US" altLang="zh-CN" sz="2400" b="0" i="1" smtClean="0">
                                <a:latin typeface="Cambria Math" panose="02040503050406030204" pitchFamily="18" charset="0"/>
                                <a:ea typeface="Cambria Math" panose="02040503050406030204" pitchFamily="18" charset="0"/>
                                <a:cs typeface="Arial" panose="020B0604020202020204" pitchFamily="34" charset="0"/>
                              </a:rPr>
                              <m:t>𝑃</m:t>
                            </m:r>
                          </m:e>
                          <m:sub>
                            <m:r>
                              <a:rPr lang="en-US" altLang="zh-CN" sz="2400" b="0" i="1" smtClean="0">
                                <a:latin typeface="Cambria Math" panose="02040503050406030204" pitchFamily="18" charset="0"/>
                                <a:ea typeface="Cambria Math" panose="02040503050406030204" pitchFamily="18" charset="0"/>
                                <a:cs typeface="Arial" panose="020B0604020202020204" pitchFamily="34" charset="0"/>
                              </a:rPr>
                              <m:t>𝑑</m:t>
                            </m:r>
                          </m:sub>
                        </m:sSub>
                      </m:oMath>
                    </m:oMathPara>
                  </a14:m>
                  <a:endParaRPr lang="en-US" altLang="zh-CN" sz="2400"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152" name="TextBox 93">
                  <a:extLst>
                    <a:ext uri="{FF2B5EF4-FFF2-40B4-BE49-F238E27FC236}">
                      <a16:creationId xmlns:a16="http://schemas.microsoft.com/office/drawing/2014/main" id="{FDDE6386-A499-CFE2-AA07-C64EA4DB5E4E}"/>
                    </a:ext>
                  </a:extLst>
                </p:cNvPr>
                <p:cNvSpPr txBox="1">
                  <a:spLocks noRot="1" noChangeAspect="1" noMove="1" noResize="1" noEditPoints="1" noAdjustHandles="1" noChangeArrowheads="1" noChangeShapeType="1" noTextEdit="1"/>
                </p:cNvSpPr>
                <p:nvPr/>
              </p:nvSpPr>
              <p:spPr>
                <a:xfrm>
                  <a:off x="16407899" y="4639137"/>
                  <a:ext cx="702343" cy="461665"/>
                </a:xfrm>
                <a:prstGeom prst="rect">
                  <a:avLst/>
                </a:prstGeom>
                <a:blipFill>
                  <a:blip r:embed="rId28"/>
                  <a:stretch>
                    <a:fillRect b="-5263"/>
                  </a:stretch>
                </a:blipFill>
              </p:spPr>
              <p:txBody>
                <a:bodyPr/>
                <a:lstStyle/>
                <a:p>
                  <a:r>
                    <a:rPr lang="en-US">
                      <a:noFill/>
                    </a:rPr>
                    <a:t> </a:t>
                  </a:r>
                </a:p>
              </p:txBody>
            </p:sp>
          </mc:Fallback>
        </mc:AlternateContent>
        <p:sp>
          <p:nvSpPr>
            <p:cNvPr id="182" name="Arc 61">
              <a:extLst>
                <a:ext uri="{FF2B5EF4-FFF2-40B4-BE49-F238E27FC236}">
                  <a16:creationId xmlns:a16="http://schemas.microsoft.com/office/drawing/2014/main" id="{63F2AED7-70B0-6FE6-BFE5-DF8FC57745ED}"/>
                </a:ext>
              </a:extLst>
            </p:cNvPr>
            <p:cNvSpPr/>
            <p:nvPr/>
          </p:nvSpPr>
          <p:spPr>
            <a:xfrm rot="8023799">
              <a:off x="10899037" y="3596294"/>
              <a:ext cx="1855749" cy="2034552"/>
            </a:xfrm>
            <a:prstGeom prst="arc">
              <a:avLst>
                <a:gd name="adj1" fmla="val 16200000"/>
                <a:gd name="adj2" fmla="val 21311995"/>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1"/>
            </a:p>
          </p:txBody>
        </p:sp>
        <p:cxnSp>
          <p:nvCxnSpPr>
            <p:cNvPr id="73" name="Straight Connector 118">
              <a:extLst>
                <a:ext uri="{FF2B5EF4-FFF2-40B4-BE49-F238E27FC236}">
                  <a16:creationId xmlns:a16="http://schemas.microsoft.com/office/drawing/2014/main" id="{2AE6B65E-729C-F00D-607D-4445E59B1755}"/>
                </a:ext>
              </a:extLst>
            </p:cNvPr>
            <p:cNvCxnSpPr>
              <a:cxnSpLocks/>
            </p:cNvCxnSpPr>
            <p:nvPr/>
          </p:nvCxnSpPr>
          <p:spPr>
            <a:xfrm flipV="1">
              <a:off x="6635340" y="6461651"/>
              <a:ext cx="7569230" cy="31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118">
              <a:extLst>
                <a:ext uri="{FF2B5EF4-FFF2-40B4-BE49-F238E27FC236}">
                  <a16:creationId xmlns:a16="http://schemas.microsoft.com/office/drawing/2014/main" id="{27D29979-C87E-5064-8844-03D9117A1962}"/>
                </a:ext>
              </a:extLst>
            </p:cNvPr>
            <p:cNvCxnSpPr>
              <a:cxnSpLocks/>
            </p:cNvCxnSpPr>
            <p:nvPr/>
          </p:nvCxnSpPr>
          <p:spPr>
            <a:xfrm>
              <a:off x="6645500" y="5154937"/>
              <a:ext cx="0" cy="13067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18">
              <a:extLst>
                <a:ext uri="{FF2B5EF4-FFF2-40B4-BE49-F238E27FC236}">
                  <a16:creationId xmlns:a16="http://schemas.microsoft.com/office/drawing/2014/main" id="{99337845-78AB-4E91-4B8E-48849D24CC9E}"/>
                </a:ext>
              </a:extLst>
            </p:cNvPr>
            <p:cNvCxnSpPr>
              <a:cxnSpLocks/>
              <a:stCxn id="8" idx="3"/>
            </p:cNvCxnSpPr>
            <p:nvPr/>
          </p:nvCxnSpPr>
          <p:spPr>
            <a:xfrm>
              <a:off x="14196215" y="5307175"/>
              <a:ext cx="8355" cy="11544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Straight Connector 118">
              <a:extLst>
                <a:ext uri="{FF2B5EF4-FFF2-40B4-BE49-F238E27FC236}">
                  <a16:creationId xmlns:a16="http://schemas.microsoft.com/office/drawing/2014/main" id="{4B9965F4-16A1-2C22-2B52-7030BF4E66EC}"/>
                </a:ext>
              </a:extLst>
            </p:cNvPr>
            <p:cNvCxnSpPr>
              <a:cxnSpLocks/>
              <a:stCxn id="210" idx="1"/>
              <a:endCxn id="64" idx="6"/>
            </p:cNvCxnSpPr>
            <p:nvPr/>
          </p:nvCxnSpPr>
          <p:spPr>
            <a:xfrm flipH="1">
              <a:off x="13966333" y="5145502"/>
              <a:ext cx="595204" cy="203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Rectangle: Rounded Corners 62">
              <a:extLst>
                <a:ext uri="{FF2B5EF4-FFF2-40B4-BE49-F238E27FC236}">
                  <a16:creationId xmlns:a16="http://schemas.microsoft.com/office/drawing/2014/main" id="{E5A31B6C-A90D-62DB-DDCA-67D37EC74B5B}"/>
                </a:ext>
              </a:extLst>
            </p:cNvPr>
            <p:cNvSpPr/>
            <p:nvPr/>
          </p:nvSpPr>
          <p:spPr>
            <a:xfrm>
              <a:off x="14561537" y="4685960"/>
              <a:ext cx="1329828" cy="91908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mc:AlternateContent xmlns:mc="http://schemas.openxmlformats.org/markup-compatibility/2006" xmlns:a14="http://schemas.microsoft.com/office/drawing/2010/main">
          <mc:Choice Requires="a14">
            <p:sp>
              <p:nvSpPr>
                <p:cNvPr id="211" name="TextBox 68">
                  <a:extLst>
                    <a:ext uri="{FF2B5EF4-FFF2-40B4-BE49-F238E27FC236}">
                      <a16:creationId xmlns:a16="http://schemas.microsoft.com/office/drawing/2014/main" id="{50D1B552-DA0C-3948-1A4F-203657F1C262}"/>
                    </a:ext>
                  </a:extLst>
                </p:cNvPr>
                <p:cNvSpPr txBox="1"/>
                <p:nvPr/>
              </p:nvSpPr>
              <p:spPr>
                <a:xfrm>
                  <a:off x="14749603" y="4850879"/>
                  <a:ext cx="1124797" cy="577274"/>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sSub>
                          <m:sSubPr>
                            <m:ctrlPr>
                              <a:rPr lang="en-US" altLang="zh-CN" sz="2799" i="1" smtClean="0">
                                <a:latin typeface="Cambria Math" panose="02040503050406030204" pitchFamily="18" charset="0"/>
                                <a:ea typeface="Cambria Math" panose="02040503050406030204" pitchFamily="18" charset="0"/>
                                <a:cs typeface="Arial" panose="020B0604020202020204" pitchFamily="34" charset="0"/>
                              </a:rPr>
                            </m:ctrlPr>
                          </m:sSubPr>
                          <m:e>
                            <m:r>
                              <a:rPr lang="en-US" altLang="zh-CN" sz="2799" i="1">
                                <a:latin typeface="Cambria Math" panose="02040503050406030204" pitchFamily="18" charset="0"/>
                                <a:ea typeface="Cambria Math" panose="02040503050406030204" pitchFamily="18" charset="0"/>
                                <a:cs typeface="Arial" panose="020B0604020202020204" pitchFamily="34" charset="0"/>
                              </a:rPr>
                              <m:t>𝑓</m:t>
                            </m:r>
                          </m:e>
                          <m:sub>
                            <m:sSub>
                              <m:sSubPr>
                                <m:ctrlPr>
                                  <a:rPr lang="en-US" altLang="zh-CN" sz="2799" i="1" smtClean="0">
                                    <a:latin typeface="Cambria Math" panose="02040503050406030204" pitchFamily="18" charset="0"/>
                                    <a:ea typeface="Cambria Math" panose="02040503050406030204" pitchFamily="18" charset="0"/>
                                    <a:cs typeface="Arial" panose="020B0604020202020204" pitchFamily="34" charset="0"/>
                                  </a:rPr>
                                </m:ctrlPr>
                              </m:sSubPr>
                              <m:e>
                                <m:r>
                                  <a:rPr lang="en-US" altLang="zh-CN" sz="2799" b="0" i="1" smtClean="0">
                                    <a:latin typeface="Cambria Math" panose="02040503050406030204" pitchFamily="18" charset="0"/>
                                    <a:ea typeface="Cambria Math" panose="02040503050406030204" pitchFamily="18" charset="0"/>
                                    <a:cs typeface="Arial" panose="020B0604020202020204" pitchFamily="34" charset="0"/>
                                  </a:rPr>
                                  <m:t>𝑃</m:t>
                                </m:r>
                              </m:e>
                              <m:sub>
                                <m:r>
                                  <a:rPr lang="en-US" altLang="zh-CN" sz="2799" b="0" i="1" smtClean="0">
                                    <a:latin typeface="Cambria Math" panose="02040503050406030204" pitchFamily="18" charset="0"/>
                                    <a:ea typeface="Cambria Math" panose="02040503050406030204" pitchFamily="18" charset="0"/>
                                    <a:cs typeface="Arial" panose="020B0604020202020204" pitchFamily="34" charset="0"/>
                                  </a:rPr>
                                  <m:t>𝑑</m:t>
                                </m:r>
                              </m:sub>
                            </m:sSub>
                          </m:sub>
                        </m:sSub>
                        <m:r>
                          <a:rPr lang="en-US" altLang="zh-CN" sz="2799" i="1">
                            <a:latin typeface="Cambria Math" panose="02040503050406030204" pitchFamily="18" charset="0"/>
                            <a:ea typeface="Cambria Math" panose="02040503050406030204" pitchFamily="18" charset="0"/>
                            <a:cs typeface="Arial" panose="020B0604020202020204" pitchFamily="34" charset="0"/>
                          </a:rPr>
                          <m:t>(∙)</m:t>
                        </m:r>
                      </m:oMath>
                    </m:oMathPara>
                  </a14:m>
                  <a:endParaRPr lang="en-US" altLang="zh-CN" sz="2799" dirty="0">
                    <a:latin typeface="Arial" panose="020B0604020202020204" pitchFamily="34" charset="0"/>
                    <a:ea typeface="Cambria Math" panose="02040503050406030204" pitchFamily="18" charset="0"/>
                    <a:cs typeface="Arial" panose="020B0604020202020204" pitchFamily="34" charset="0"/>
                  </a:endParaRPr>
                </a:p>
              </p:txBody>
            </p:sp>
          </mc:Choice>
          <mc:Fallback xmlns="">
            <p:sp>
              <p:nvSpPr>
                <p:cNvPr id="211" name="TextBox 68">
                  <a:extLst>
                    <a:ext uri="{FF2B5EF4-FFF2-40B4-BE49-F238E27FC236}">
                      <a16:creationId xmlns:a16="http://schemas.microsoft.com/office/drawing/2014/main" id="{50D1B552-DA0C-3948-1A4F-203657F1C262}"/>
                    </a:ext>
                  </a:extLst>
                </p:cNvPr>
                <p:cNvSpPr txBox="1">
                  <a:spLocks noRot="1" noChangeAspect="1" noMove="1" noResize="1" noEditPoints="1" noAdjustHandles="1" noChangeArrowheads="1" noChangeShapeType="1" noTextEdit="1"/>
                </p:cNvSpPr>
                <p:nvPr/>
              </p:nvSpPr>
              <p:spPr>
                <a:xfrm>
                  <a:off x="14749603" y="4850879"/>
                  <a:ext cx="1124797" cy="577274"/>
                </a:xfrm>
                <a:prstGeom prst="rect">
                  <a:avLst/>
                </a:prstGeom>
                <a:blipFill>
                  <a:blip r:embed="rId29"/>
                  <a:stretch>
                    <a:fillRect/>
                  </a:stretch>
                </a:blipFill>
              </p:spPr>
              <p:txBody>
                <a:bodyPr/>
                <a:lstStyle/>
                <a:p>
                  <a:r>
                    <a:rPr lang="en-US">
                      <a:noFill/>
                    </a:rPr>
                    <a:t> </a:t>
                  </a:r>
                </a:p>
              </p:txBody>
            </p:sp>
          </mc:Fallback>
        </mc:AlternateContent>
        <p:sp>
          <p:nvSpPr>
            <p:cNvPr id="8" name="Isosceles Triangle 119">
              <a:extLst>
                <a:ext uri="{FF2B5EF4-FFF2-40B4-BE49-F238E27FC236}">
                  <a16:creationId xmlns:a16="http://schemas.microsoft.com/office/drawing/2014/main" id="{37FE79D7-3825-07F6-D2D5-4221877C3631}"/>
                </a:ext>
              </a:extLst>
            </p:cNvPr>
            <p:cNvSpPr/>
            <p:nvPr/>
          </p:nvSpPr>
          <p:spPr>
            <a:xfrm>
              <a:off x="14134831" y="5175442"/>
              <a:ext cx="122767" cy="131733"/>
            </a:xfrm>
            <a:prstGeom prst="triangle">
              <a:avLst/>
            </a:prstGeom>
            <a:solidFill>
              <a:schemeClr val="tx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1"/>
            </a:p>
          </p:txBody>
        </p:sp>
      </p:grpSp>
      <p:grpSp>
        <p:nvGrpSpPr>
          <p:cNvPr id="231" name="组合 230">
            <a:extLst>
              <a:ext uri="{FF2B5EF4-FFF2-40B4-BE49-F238E27FC236}">
                <a16:creationId xmlns:a16="http://schemas.microsoft.com/office/drawing/2014/main" id="{2CFED95C-3C89-5C95-46DF-C2DD4BE74A92}"/>
              </a:ext>
            </a:extLst>
          </p:cNvPr>
          <p:cNvGrpSpPr/>
          <p:nvPr/>
        </p:nvGrpSpPr>
        <p:grpSpPr>
          <a:xfrm>
            <a:off x="28642770" y="16381619"/>
            <a:ext cx="10143794" cy="1548462"/>
            <a:chOff x="28642770" y="16381619"/>
            <a:chExt cx="10143794" cy="1548462"/>
          </a:xfrm>
        </p:grpSpPr>
        <p:sp>
          <p:nvSpPr>
            <p:cNvPr id="6" name="Rectangle: Rounded Corners 4">
              <a:extLst>
                <a:ext uri="{FF2B5EF4-FFF2-40B4-BE49-F238E27FC236}">
                  <a16:creationId xmlns:a16="http://schemas.microsoft.com/office/drawing/2014/main" id="{B8507B85-C320-D9BA-026C-E9B5FF391B65}"/>
                </a:ext>
              </a:extLst>
            </p:cNvPr>
            <p:cNvSpPr/>
            <p:nvPr/>
          </p:nvSpPr>
          <p:spPr>
            <a:xfrm>
              <a:off x="29450235" y="16414881"/>
              <a:ext cx="1951540" cy="601982"/>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TextBox 14">
              <a:extLst>
                <a:ext uri="{FF2B5EF4-FFF2-40B4-BE49-F238E27FC236}">
                  <a16:creationId xmlns:a16="http://schemas.microsoft.com/office/drawing/2014/main" id="{A38FEF84-210F-4BEC-8FDC-6D66496EB241}"/>
                </a:ext>
              </a:extLst>
            </p:cNvPr>
            <p:cNvSpPr txBox="1"/>
            <p:nvPr/>
          </p:nvSpPr>
          <p:spPr>
            <a:xfrm>
              <a:off x="29481340" y="16577244"/>
              <a:ext cx="1880052" cy="237758"/>
            </a:xfrm>
            <a:prstGeom prst="rect">
              <a:avLst/>
            </a:prstGeom>
            <a:noFill/>
          </p:spPr>
          <p:txBody>
            <a:bodyPr wrap="square" lIns="0" tIns="0" rIns="0" bIns="0" rtlCol="0">
              <a:spAutoFit/>
            </a:bodyPr>
            <a:lstStyle/>
            <a:p>
              <a:pPr algn="ctr"/>
              <a:r>
                <a:rPr lang="en-US" dirty="0">
                  <a:ea typeface="Fira Sans" panose="020B0503050000020004" pitchFamily="34" charset="0"/>
                  <a:cs typeface="Arial" panose="020B0604020202020204" pitchFamily="34" charset="0"/>
                </a:rPr>
                <a:t>Generative Model</a:t>
              </a:r>
            </a:p>
          </p:txBody>
        </p:sp>
        <p:sp>
          <p:nvSpPr>
            <p:cNvPr id="34" name="Rectangle: Rounded Corners 5">
              <a:extLst>
                <a:ext uri="{FF2B5EF4-FFF2-40B4-BE49-F238E27FC236}">
                  <a16:creationId xmlns:a16="http://schemas.microsoft.com/office/drawing/2014/main" id="{589F8DBD-DBE8-F242-D5C2-001CAF9EEDAA}"/>
                </a:ext>
              </a:extLst>
            </p:cNvPr>
            <p:cNvSpPr/>
            <p:nvPr/>
          </p:nvSpPr>
          <p:spPr>
            <a:xfrm>
              <a:off x="31331123" y="17454565"/>
              <a:ext cx="1799286" cy="470246"/>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6" name="TextBox 15">
              <a:extLst>
                <a:ext uri="{FF2B5EF4-FFF2-40B4-BE49-F238E27FC236}">
                  <a16:creationId xmlns:a16="http://schemas.microsoft.com/office/drawing/2014/main" id="{46DB4F87-004E-37E6-D614-1B4C3E82E1AC}"/>
                </a:ext>
              </a:extLst>
            </p:cNvPr>
            <p:cNvSpPr txBox="1"/>
            <p:nvPr/>
          </p:nvSpPr>
          <p:spPr>
            <a:xfrm>
              <a:off x="31426733" y="17571282"/>
              <a:ext cx="1608066" cy="237758"/>
            </a:xfrm>
            <a:prstGeom prst="rect">
              <a:avLst/>
            </a:prstGeom>
            <a:noFill/>
          </p:spPr>
          <p:txBody>
            <a:bodyPr wrap="square" lIns="0" tIns="0" rIns="0" bIns="0" rtlCol="0">
              <a:spAutoFit/>
            </a:bodyPr>
            <a:lstStyle/>
            <a:p>
              <a:pPr algn="ctr"/>
              <a:r>
                <a:rPr lang="en-US" dirty="0">
                  <a:ea typeface="Fira Sans" panose="020B0503050000020004" pitchFamily="34" charset="0"/>
                  <a:cs typeface="Arial" panose="020B0604020202020204" pitchFamily="34" charset="0"/>
                </a:rPr>
                <a:t>Reflex Controller</a:t>
              </a:r>
            </a:p>
          </p:txBody>
        </p:sp>
        <p:sp>
          <p:nvSpPr>
            <p:cNvPr id="70" name="Rectangle: Rounded Corners 16">
              <a:extLst>
                <a:ext uri="{FF2B5EF4-FFF2-40B4-BE49-F238E27FC236}">
                  <a16:creationId xmlns:a16="http://schemas.microsoft.com/office/drawing/2014/main" id="{8253A4CA-BCB1-048C-4232-21016F7E48DA}"/>
                </a:ext>
              </a:extLst>
            </p:cNvPr>
            <p:cNvSpPr/>
            <p:nvPr/>
          </p:nvSpPr>
          <p:spPr>
            <a:xfrm>
              <a:off x="34681361" y="16415660"/>
              <a:ext cx="1799286" cy="601982"/>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6" name="TextBox 17">
              <a:extLst>
                <a:ext uri="{FF2B5EF4-FFF2-40B4-BE49-F238E27FC236}">
                  <a16:creationId xmlns:a16="http://schemas.microsoft.com/office/drawing/2014/main" id="{D8A80036-C407-C852-7B26-DF846AB3FD61}"/>
                </a:ext>
              </a:extLst>
            </p:cNvPr>
            <p:cNvSpPr txBox="1"/>
            <p:nvPr/>
          </p:nvSpPr>
          <p:spPr>
            <a:xfrm>
              <a:off x="34809935" y="16450392"/>
              <a:ext cx="1542138" cy="553998"/>
            </a:xfrm>
            <a:prstGeom prst="rect">
              <a:avLst/>
            </a:prstGeom>
            <a:noFill/>
          </p:spPr>
          <p:txBody>
            <a:bodyPr wrap="square" lIns="0" tIns="0" rIns="0" bIns="0" rtlCol="0">
              <a:spAutoFit/>
            </a:bodyPr>
            <a:lstStyle/>
            <a:p>
              <a:pPr algn="ctr"/>
              <a:r>
                <a:rPr lang="en-US" dirty="0">
                  <a:ea typeface="Fira Sans" panose="020B0503050000020004" pitchFamily="34" charset="0"/>
                  <a:cs typeface="Arial" panose="020B0604020202020204" pitchFamily="34" charset="0"/>
                </a:rPr>
                <a:t>Antagonistic PAMs</a:t>
              </a:r>
            </a:p>
          </p:txBody>
        </p:sp>
        <p:sp>
          <p:nvSpPr>
            <p:cNvPr id="141" name="Rectangle: Rounded Corners 18">
              <a:extLst>
                <a:ext uri="{FF2B5EF4-FFF2-40B4-BE49-F238E27FC236}">
                  <a16:creationId xmlns:a16="http://schemas.microsoft.com/office/drawing/2014/main" id="{F006B331-7242-E1A7-9BE1-37E9FE060D9A}"/>
                </a:ext>
              </a:extLst>
            </p:cNvPr>
            <p:cNvSpPr/>
            <p:nvPr/>
          </p:nvSpPr>
          <p:spPr>
            <a:xfrm>
              <a:off x="33126814" y="16477059"/>
              <a:ext cx="1205774" cy="475516"/>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2" name="TextBox 19">
              <a:extLst>
                <a:ext uri="{FF2B5EF4-FFF2-40B4-BE49-F238E27FC236}">
                  <a16:creationId xmlns:a16="http://schemas.microsoft.com/office/drawing/2014/main" id="{D7E8C497-397D-4CEB-55BE-0CAD192BF609}"/>
                </a:ext>
              </a:extLst>
            </p:cNvPr>
            <p:cNvSpPr txBox="1"/>
            <p:nvPr/>
          </p:nvSpPr>
          <p:spPr>
            <a:xfrm>
              <a:off x="33235967" y="16574302"/>
              <a:ext cx="987468" cy="237758"/>
            </a:xfrm>
            <a:prstGeom prst="rect">
              <a:avLst/>
            </a:prstGeom>
            <a:noFill/>
          </p:spPr>
          <p:txBody>
            <a:bodyPr wrap="square" lIns="0" tIns="0" rIns="0" bIns="0" rtlCol="0">
              <a:spAutoFit/>
            </a:bodyPr>
            <a:lstStyle/>
            <a:p>
              <a:pPr algn="ctr"/>
              <a:r>
                <a:rPr lang="en-US" dirty="0">
                  <a:ea typeface="Fira Sans" panose="020B0503050000020004" pitchFamily="34" charset="0"/>
                  <a:cs typeface="Arial" panose="020B0604020202020204" pitchFamily="34" charset="0"/>
                </a:rPr>
                <a:t>Sensors</a:t>
              </a:r>
            </a:p>
          </p:txBody>
        </p:sp>
        <p:sp>
          <p:nvSpPr>
            <p:cNvPr id="145" name="Rectangle: Rounded Corners 20">
              <a:extLst>
                <a:ext uri="{FF2B5EF4-FFF2-40B4-BE49-F238E27FC236}">
                  <a16:creationId xmlns:a16="http://schemas.microsoft.com/office/drawing/2014/main" id="{940AF166-A2B5-8780-5510-761193D1A33B}"/>
                </a:ext>
              </a:extLst>
            </p:cNvPr>
            <p:cNvSpPr/>
            <p:nvPr/>
          </p:nvSpPr>
          <p:spPr>
            <a:xfrm>
              <a:off x="36868860" y="16414880"/>
              <a:ext cx="1799286" cy="601983"/>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5" name="TextBox 21">
              <a:extLst>
                <a:ext uri="{FF2B5EF4-FFF2-40B4-BE49-F238E27FC236}">
                  <a16:creationId xmlns:a16="http://schemas.microsoft.com/office/drawing/2014/main" id="{0ACC5D64-DA66-BE64-D865-F5D941E2394F}"/>
                </a:ext>
              </a:extLst>
            </p:cNvPr>
            <p:cNvSpPr txBox="1"/>
            <p:nvPr/>
          </p:nvSpPr>
          <p:spPr>
            <a:xfrm>
              <a:off x="36750442" y="16450343"/>
              <a:ext cx="2036122" cy="237758"/>
            </a:xfrm>
            <a:prstGeom prst="rect">
              <a:avLst/>
            </a:prstGeom>
            <a:noFill/>
          </p:spPr>
          <p:txBody>
            <a:bodyPr wrap="square" lIns="0" tIns="0" rIns="0" bIns="0" rtlCol="0">
              <a:spAutoFit/>
            </a:bodyPr>
            <a:lstStyle/>
            <a:p>
              <a:pPr algn="ctr"/>
              <a:r>
                <a:rPr lang="en-US" dirty="0">
                  <a:ea typeface="Fira Sans" panose="020B0503050000020004" pitchFamily="34" charset="0"/>
                  <a:cs typeface="Arial" panose="020B0604020202020204" pitchFamily="34" charset="0"/>
                </a:rPr>
                <a:t>Human &amp; Environment</a:t>
              </a:r>
            </a:p>
          </p:txBody>
        </p:sp>
        <p:sp>
          <p:nvSpPr>
            <p:cNvPr id="157" name="Oval 29">
              <a:extLst>
                <a:ext uri="{FF2B5EF4-FFF2-40B4-BE49-F238E27FC236}">
                  <a16:creationId xmlns:a16="http://schemas.microsoft.com/office/drawing/2014/main" id="{903E74FE-A341-1FD0-CA8C-15A7E84ED9F9}"/>
                </a:ext>
              </a:extLst>
            </p:cNvPr>
            <p:cNvSpPr/>
            <p:nvPr/>
          </p:nvSpPr>
          <p:spPr>
            <a:xfrm>
              <a:off x="32066061" y="16558899"/>
              <a:ext cx="329410" cy="31394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58" name="Straight Arrow Connector 31">
              <a:extLst>
                <a:ext uri="{FF2B5EF4-FFF2-40B4-BE49-F238E27FC236}">
                  <a16:creationId xmlns:a16="http://schemas.microsoft.com/office/drawing/2014/main" id="{B6BCA2C0-8CFD-FE31-E609-7365A9FC7D88}"/>
                </a:ext>
              </a:extLst>
            </p:cNvPr>
            <p:cNvCxnSpPr>
              <a:cxnSpLocks/>
              <a:stCxn id="6" idx="3"/>
              <a:endCxn id="157" idx="2"/>
            </p:cNvCxnSpPr>
            <p:nvPr/>
          </p:nvCxnSpPr>
          <p:spPr>
            <a:xfrm>
              <a:off x="31401775" y="16715872"/>
              <a:ext cx="66428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34">
              <a:extLst>
                <a:ext uri="{FF2B5EF4-FFF2-40B4-BE49-F238E27FC236}">
                  <a16:creationId xmlns:a16="http://schemas.microsoft.com/office/drawing/2014/main" id="{DBFF6666-83F4-9A42-9E18-AD66BB09068C}"/>
                </a:ext>
              </a:extLst>
            </p:cNvPr>
            <p:cNvCxnSpPr>
              <a:cxnSpLocks/>
              <a:stCxn id="157" idx="4"/>
              <a:endCxn id="34" idx="0"/>
            </p:cNvCxnSpPr>
            <p:nvPr/>
          </p:nvCxnSpPr>
          <p:spPr>
            <a:xfrm>
              <a:off x="32230766" y="16872844"/>
              <a:ext cx="0" cy="58172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37">
              <a:extLst>
                <a:ext uri="{FF2B5EF4-FFF2-40B4-BE49-F238E27FC236}">
                  <a16:creationId xmlns:a16="http://schemas.microsoft.com/office/drawing/2014/main" id="{2883711B-4318-6AFF-FDB7-8F0CAE5E1B53}"/>
                </a:ext>
              </a:extLst>
            </p:cNvPr>
            <p:cNvCxnSpPr>
              <a:cxnSpLocks/>
              <a:stCxn id="141" idx="1"/>
              <a:endCxn id="157" idx="6"/>
            </p:cNvCxnSpPr>
            <p:nvPr/>
          </p:nvCxnSpPr>
          <p:spPr>
            <a:xfrm flipH="1">
              <a:off x="32395471" y="16714817"/>
              <a:ext cx="731343" cy="10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Straight Arrow Connector 40">
              <a:extLst>
                <a:ext uri="{FF2B5EF4-FFF2-40B4-BE49-F238E27FC236}">
                  <a16:creationId xmlns:a16="http://schemas.microsoft.com/office/drawing/2014/main" id="{C851A94F-C6EA-ED10-0949-787204AB2389}"/>
                </a:ext>
              </a:extLst>
            </p:cNvPr>
            <p:cNvCxnSpPr>
              <a:cxnSpLocks/>
              <a:stCxn id="70" idx="1"/>
              <a:endCxn id="141" idx="3"/>
            </p:cNvCxnSpPr>
            <p:nvPr/>
          </p:nvCxnSpPr>
          <p:spPr>
            <a:xfrm flipH="1" flipV="1">
              <a:off x="34332588" y="16714817"/>
              <a:ext cx="348773" cy="183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44">
              <a:extLst>
                <a:ext uri="{FF2B5EF4-FFF2-40B4-BE49-F238E27FC236}">
                  <a16:creationId xmlns:a16="http://schemas.microsoft.com/office/drawing/2014/main" id="{424E1CBE-FDC1-7023-4791-C2541DABF05A}"/>
                </a:ext>
              </a:extLst>
            </p:cNvPr>
            <p:cNvCxnSpPr>
              <a:cxnSpLocks/>
            </p:cNvCxnSpPr>
            <p:nvPr/>
          </p:nvCxnSpPr>
          <p:spPr>
            <a:xfrm flipH="1">
              <a:off x="36477999" y="16619378"/>
              <a:ext cx="3908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47">
              <a:extLst>
                <a:ext uri="{FF2B5EF4-FFF2-40B4-BE49-F238E27FC236}">
                  <a16:creationId xmlns:a16="http://schemas.microsoft.com/office/drawing/2014/main" id="{E4DB1E37-BE3F-37C5-1B22-A873B8805A3D}"/>
                </a:ext>
              </a:extLst>
            </p:cNvPr>
            <p:cNvCxnSpPr>
              <a:cxnSpLocks/>
            </p:cNvCxnSpPr>
            <p:nvPr/>
          </p:nvCxnSpPr>
          <p:spPr>
            <a:xfrm>
              <a:off x="36477999" y="16806610"/>
              <a:ext cx="38977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Straight Arrow Connector 64">
              <a:extLst>
                <a:ext uri="{FF2B5EF4-FFF2-40B4-BE49-F238E27FC236}">
                  <a16:creationId xmlns:a16="http://schemas.microsoft.com/office/drawing/2014/main" id="{B65845F5-D68E-81A6-EEE8-26B43B05B0A6}"/>
                </a:ext>
              </a:extLst>
            </p:cNvPr>
            <p:cNvCxnSpPr>
              <a:cxnSpLocks/>
            </p:cNvCxnSpPr>
            <p:nvPr/>
          </p:nvCxnSpPr>
          <p:spPr>
            <a:xfrm flipV="1">
              <a:off x="35581003" y="17022959"/>
              <a:ext cx="1" cy="6735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3" name="TextBox 78">
                  <a:extLst>
                    <a:ext uri="{FF2B5EF4-FFF2-40B4-BE49-F238E27FC236}">
                      <a16:creationId xmlns:a16="http://schemas.microsoft.com/office/drawing/2014/main" id="{29D4C208-E5DA-95DD-3F09-3CE62F235814}"/>
                    </a:ext>
                  </a:extLst>
                </p:cNvPr>
                <p:cNvSpPr txBox="1"/>
                <p:nvPr/>
              </p:nvSpPr>
              <p:spPr>
                <a:xfrm>
                  <a:off x="31473257" y="16427863"/>
                  <a:ext cx="549596" cy="277961"/>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𝐿</m:t>
                            </m:r>
                          </m:e>
                          <m:sub>
                            <m:r>
                              <a:rPr lang="en-US" altLang="zh-CN" b="0" i="1" smtClean="0">
                                <a:latin typeface="Cambria Math" panose="02040503050406030204" pitchFamily="18" charset="0"/>
                                <a:cs typeface="Arial" panose="020B0604020202020204" pitchFamily="34" charset="0"/>
                              </a:rPr>
                              <m:t>𝑑</m:t>
                            </m:r>
                          </m:sub>
                        </m:sSub>
                      </m:oMath>
                    </m:oMathPara>
                  </a14:m>
                  <a:endParaRPr lang="en-US" dirty="0">
                    <a:ea typeface="Fira Sans" panose="020B0503050000020004" pitchFamily="34" charset="0"/>
                    <a:cs typeface="Arial" panose="020B0604020202020204" pitchFamily="34" charset="0"/>
                  </a:endParaRPr>
                </a:p>
              </p:txBody>
            </p:sp>
          </mc:Choice>
          <mc:Fallback>
            <p:sp>
              <p:nvSpPr>
                <p:cNvPr id="193" name="TextBox 78">
                  <a:extLst>
                    <a:ext uri="{FF2B5EF4-FFF2-40B4-BE49-F238E27FC236}">
                      <a16:creationId xmlns:a16="http://schemas.microsoft.com/office/drawing/2014/main" id="{29D4C208-E5DA-95DD-3F09-3CE62F235814}"/>
                    </a:ext>
                  </a:extLst>
                </p:cNvPr>
                <p:cNvSpPr txBox="1">
                  <a:spLocks noRot="1" noChangeAspect="1" noMove="1" noResize="1" noEditPoints="1" noAdjustHandles="1" noChangeArrowheads="1" noChangeShapeType="1" noTextEdit="1"/>
                </p:cNvSpPr>
                <p:nvPr/>
              </p:nvSpPr>
              <p:spPr>
                <a:xfrm>
                  <a:off x="31473257" y="16427863"/>
                  <a:ext cx="549596" cy="277961"/>
                </a:xfrm>
                <a:prstGeom prst="rect">
                  <a:avLst/>
                </a:prstGeom>
                <a:blipFill>
                  <a:blip r:embed="rId30"/>
                  <a:stretch>
                    <a:fillRect b="-1777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4" name="TextBox 79">
                  <a:extLst>
                    <a:ext uri="{FF2B5EF4-FFF2-40B4-BE49-F238E27FC236}">
                      <a16:creationId xmlns:a16="http://schemas.microsoft.com/office/drawing/2014/main" id="{D64631CA-6DCB-95FF-756A-1E5E46833B25}"/>
                    </a:ext>
                  </a:extLst>
                </p:cNvPr>
                <p:cNvSpPr txBox="1"/>
                <p:nvPr/>
              </p:nvSpPr>
              <p:spPr>
                <a:xfrm>
                  <a:off x="32522067" y="16429381"/>
                  <a:ext cx="549596" cy="277961"/>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Fira Sans" panose="020B0503050000020004" pitchFamily="34" charset="0"/>
                            <a:cs typeface="Arial" panose="020B0604020202020204" pitchFamily="34" charset="0"/>
                          </a:rPr>
                          <m:t>𝐿</m:t>
                        </m:r>
                      </m:oMath>
                    </m:oMathPara>
                  </a14:m>
                  <a:endParaRPr lang="en-US" dirty="0">
                    <a:ea typeface="Fira Sans" panose="020B0503050000020004" pitchFamily="34" charset="0"/>
                    <a:cs typeface="Arial" panose="020B0604020202020204" pitchFamily="34" charset="0"/>
                  </a:endParaRPr>
                </a:p>
              </p:txBody>
            </p:sp>
          </mc:Choice>
          <mc:Fallback>
            <p:sp>
              <p:nvSpPr>
                <p:cNvPr id="194" name="TextBox 79">
                  <a:extLst>
                    <a:ext uri="{FF2B5EF4-FFF2-40B4-BE49-F238E27FC236}">
                      <a16:creationId xmlns:a16="http://schemas.microsoft.com/office/drawing/2014/main" id="{D64631CA-6DCB-95FF-756A-1E5E46833B25}"/>
                    </a:ext>
                  </a:extLst>
                </p:cNvPr>
                <p:cNvSpPr txBox="1">
                  <a:spLocks noRot="1" noChangeAspect="1" noMove="1" noResize="1" noEditPoints="1" noAdjustHandles="1" noChangeArrowheads="1" noChangeShapeType="1" noTextEdit="1"/>
                </p:cNvSpPr>
                <p:nvPr/>
              </p:nvSpPr>
              <p:spPr>
                <a:xfrm>
                  <a:off x="32522067" y="16429381"/>
                  <a:ext cx="549596" cy="277961"/>
                </a:xfrm>
                <a:prstGeom prst="rect">
                  <a:avLst/>
                </a:prstGeom>
                <a:blipFill>
                  <a:blip r:embed="rId31"/>
                  <a:stretch>
                    <a:fillRect b="-652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5" name="TextBox 80">
                  <a:extLst>
                    <a:ext uri="{FF2B5EF4-FFF2-40B4-BE49-F238E27FC236}">
                      <a16:creationId xmlns:a16="http://schemas.microsoft.com/office/drawing/2014/main" id="{31438598-CF90-0583-43D6-DED2867F1AA5}"/>
                    </a:ext>
                  </a:extLst>
                </p:cNvPr>
                <p:cNvSpPr txBox="1"/>
                <p:nvPr/>
              </p:nvSpPr>
              <p:spPr>
                <a:xfrm>
                  <a:off x="32151153" y="16960971"/>
                  <a:ext cx="549596" cy="23775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Fira Sans" panose="020B0503050000020004" pitchFamily="34" charset="0"/>
                            <a:cs typeface="Arial" panose="020B0604020202020204" pitchFamily="34" charset="0"/>
                          </a:rPr>
                          <m:t>𝑒</m:t>
                        </m:r>
                      </m:oMath>
                    </m:oMathPara>
                  </a14:m>
                  <a:endParaRPr lang="en-US" dirty="0">
                    <a:ea typeface="Fira Sans" panose="020B0503050000020004" pitchFamily="34" charset="0"/>
                    <a:cs typeface="Arial" panose="020B0604020202020204" pitchFamily="34" charset="0"/>
                  </a:endParaRPr>
                </a:p>
              </p:txBody>
            </p:sp>
          </mc:Choice>
          <mc:Fallback>
            <p:sp>
              <p:nvSpPr>
                <p:cNvPr id="195" name="TextBox 80">
                  <a:extLst>
                    <a:ext uri="{FF2B5EF4-FFF2-40B4-BE49-F238E27FC236}">
                      <a16:creationId xmlns:a16="http://schemas.microsoft.com/office/drawing/2014/main" id="{31438598-CF90-0583-43D6-DED2867F1AA5}"/>
                    </a:ext>
                  </a:extLst>
                </p:cNvPr>
                <p:cNvSpPr txBox="1">
                  <a:spLocks noRot="1" noChangeAspect="1" noMove="1" noResize="1" noEditPoints="1" noAdjustHandles="1" noChangeArrowheads="1" noChangeShapeType="1" noTextEdit="1"/>
                </p:cNvSpPr>
                <p:nvPr/>
              </p:nvSpPr>
              <p:spPr>
                <a:xfrm>
                  <a:off x="32151153" y="16960971"/>
                  <a:ext cx="549596" cy="237758"/>
                </a:xfrm>
                <a:prstGeom prst="rect">
                  <a:avLst/>
                </a:prstGeom>
                <a:blipFill>
                  <a:blip r:embed="rId32"/>
                  <a:stretch>
                    <a:fillRect b="-1538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6" name="TextBox 81">
                  <a:extLst>
                    <a:ext uri="{FF2B5EF4-FFF2-40B4-BE49-F238E27FC236}">
                      <a16:creationId xmlns:a16="http://schemas.microsoft.com/office/drawing/2014/main" id="{2FF6E1AE-B827-66CA-FE8E-E25332214842}"/>
                    </a:ext>
                  </a:extLst>
                </p:cNvPr>
                <p:cNvSpPr txBox="1"/>
                <p:nvPr/>
              </p:nvSpPr>
              <p:spPr>
                <a:xfrm>
                  <a:off x="28727934" y="16422502"/>
                  <a:ext cx="549596"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cs typeface="Arial" panose="020B0604020202020204" pitchFamily="34" charset="0"/>
                              </a:rPr>
                            </m:ctrlPr>
                          </m:sSubPr>
                          <m:e>
                            <m:r>
                              <a:rPr lang="en-US" altLang="zh-CN" b="0" i="1" smtClean="0">
                                <a:latin typeface="Cambria Math" panose="02040503050406030204" pitchFamily="18" charset="0"/>
                                <a:cs typeface="Arial" panose="020B0604020202020204" pitchFamily="34" charset="0"/>
                              </a:rPr>
                              <m:t>𝐾</m:t>
                            </m:r>
                          </m:e>
                          <m:sub>
                            <m:r>
                              <a:rPr lang="en-US" altLang="zh-CN" b="0" i="1" smtClean="0">
                                <a:latin typeface="Cambria Math" panose="02040503050406030204" pitchFamily="18" charset="0"/>
                                <a:cs typeface="Arial" panose="020B0604020202020204" pitchFamily="34" charset="0"/>
                              </a:rPr>
                              <m:t>𝑑</m:t>
                            </m:r>
                          </m:sub>
                        </m:sSub>
                        <m:r>
                          <a:rPr lang="en-US" altLang="zh-CN" b="0" i="1" smtClean="0">
                            <a:latin typeface="Cambria Math" panose="02040503050406030204" pitchFamily="18" charset="0"/>
                            <a:cs typeface="Arial" panose="020B0604020202020204" pitchFamily="34" charset="0"/>
                          </a:rPr>
                          <m:t>,</m:t>
                        </m:r>
                        <m:sSub>
                          <m:sSubPr>
                            <m:ctrlPr>
                              <a:rPr lang="en-US" altLang="zh-CN" b="0" i="1" smtClean="0">
                                <a:latin typeface="Cambria Math" panose="02040503050406030204" pitchFamily="18" charset="0"/>
                                <a:cs typeface="Arial" panose="020B0604020202020204" pitchFamily="34" charset="0"/>
                              </a:rPr>
                            </m:ctrlPr>
                          </m:sSubPr>
                          <m:e>
                            <m:r>
                              <a:rPr lang="zh-CN" altLang="en-US" b="0" i="1" smtClean="0">
                                <a:latin typeface="Cambria Math" panose="02040503050406030204" pitchFamily="18" charset="0"/>
                                <a:cs typeface="Arial" panose="020B0604020202020204" pitchFamily="34" charset="0"/>
                              </a:rPr>
                              <m:t>𝜃</m:t>
                            </m:r>
                          </m:e>
                          <m:sub>
                            <m:r>
                              <a:rPr lang="en-US" altLang="zh-CN" b="0" i="1" smtClean="0">
                                <a:latin typeface="Cambria Math" panose="02040503050406030204" pitchFamily="18" charset="0"/>
                                <a:cs typeface="Arial" panose="020B0604020202020204" pitchFamily="34" charset="0"/>
                              </a:rPr>
                              <m:t>𝑑</m:t>
                            </m:r>
                          </m:sub>
                        </m:sSub>
                      </m:oMath>
                    </m:oMathPara>
                  </a14:m>
                  <a:endParaRPr lang="en-US" dirty="0">
                    <a:ea typeface="Fira Sans" panose="020B0503050000020004" pitchFamily="34" charset="0"/>
                    <a:cs typeface="Arial" panose="020B0604020202020204" pitchFamily="34" charset="0"/>
                  </a:endParaRPr>
                </a:p>
              </p:txBody>
            </p:sp>
          </mc:Choice>
          <mc:Fallback>
            <p:sp>
              <p:nvSpPr>
                <p:cNvPr id="196" name="TextBox 81">
                  <a:extLst>
                    <a:ext uri="{FF2B5EF4-FFF2-40B4-BE49-F238E27FC236}">
                      <a16:creationId xmlns:a16="http://schemas.microsoft.com/office/drawing/2014/main" id="{2FF6E1AE-B827-66CA-FE8E-E25332214842}"/>
                    </a:ext>
                  </a:extLst>
                </p:cNvPr>
                <p:cNvSpPr txBox="1">
                  <a:spLocks noRot="1" noChangeAspect="1" noMove="1" noResize="1" noEditPoints="1" noAdjustHandles="1" noChangeArrowheads="1" noChangeShapeType="1" noTextEdit="1"/>
                </p:cNvSpPr>
                <p:nvPr/>
              </p:nvSpPr>
              <p:spPr>
                <a:xfrm>
                  <a:off x="28727934" y="16422502"/>
                  <a:ext cx="549596" cy="276999"/>
                </a:xfrm>
                <a:prstGeom prst="rect">
                  <a:avLst/>
                </a:prstGeom>
                <a:blipFill>
                  <a:blip r:embed="rId33"/>
                  <a:stretch>
                    <a:fillRect l="-24444" r="-7778" b="-17778"/>
                  </a:stretch>
                </a:blipFill>
              </p:spPr>
              <p:txBody>
                <a:bodyPr/>
                <a:lstStyle/>
                <a:p>
                  <a:r>
                    <a:rPr lang="zh-CN" altLang="en-US">
                      <a:noFill/>
                    </a:rPr>
                    <a:t> </a:t>
                  </a:r>
                </a:p>
              </p:txBody>
            </p:sp>
          </mc:Fallback>
        </mc:AlternateContent>
        <p:cxnSp>
          <p:nvCxnSpPr>
            <p:cNvPr id="197" name="Straight Arrow Connector 82">
              <a:extLst>
                <a:ext uri="{FF2B5EF4-FFF2-40B4-BE49-F238E27FC236}">
                  <a16:creationId xmlns:a16="http://schemas.microsoft.com/office/drawing/2014/main" id="{0CF60A5D-3BE8-E889-A909-14A3A859E8D6}"/>
                </a:ext>
              </a:extLst>
            </p:cNvPr>
            <p:cNvCxnSpPr>
              <a:cxnSpLocks/>
              <a:endCxn id="6" idx="1"/>
            </p:cNvCxnSpPr>
            <p:nvPr/>
          </p:nvCxnSpPr>
          <p:spPr>
            <a:xfrm flipV="1">
              <a:off x="28642770" y="16715872"/>
              <a:ext cx="807465" cy="50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8" name="TextBox 86">
                  <a:extLst>
                    <a:ext uri="{FF2B5EF4-FFF2-40B4-BE49-F238E27FC236}">
                      <a16:creationId xmlns:a16="http://schemas.microsoft.com/office/drawing/2014/main" id="{5EF9FD36-2BFE-0430-FE2D-862353C36CA8}"/>
                    </a:ext>
                  </a:extLst>
                </p:cNvPr>
                <p:cNvSpPr txBox="1"/>
                <p:nvPr/>
              </p:nvSpPr>
              <p:spPr>
                <a:xfrm>
                  <a:off x="33256270" y="17426863"/>
                  <a:ext cx="549596" cy="23775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Fira Sans" panose="020B0503050000020004" pitchFamily="34" charset="0"/>
                            <a:cs typeface="Arial" panose="020B0604020202020204" pitchFamily="34" charset="0"/>
                          </a:rPr>
                          <m:t>𝑢</m:t>
                        </m:r>
                      </m:oMath>
                    </m:oMathPara>
                  </a14:m>
                  <a:endParaRPr lang="en-US" dirty="0">
                    <a:ea typeface="Fira Sans" panose="020B0503050000020004" pitchFamily="34" charset="0"/>
                    <a:cs typeface="Arial" panose="020B0604020202020204" pitchFamily="34" charset="0"/>
                  </a:endParaRPr>
                </a:p>
              </p:txBody>
            </p:sp>
          </mc:Choice>
          <mc:Fallback>
            <p:sp>
              <p:nvSpPr>
                <p:cNvPr id="198" name="TextBox 86">
                  <a:extLst>
                    <a:ext uri="{FF2B5EF4-FFF2-40B4-BE49-F238E27FC236}">
                      <a16:creationId xmlns:a16="http://schemas.microsoft.com/office/drawing/2014/main" id="{5EF9FD36-2BFE-0430-FE2D-862353C36CA8}"/>
                    </a:ext>
                  </a:extLst>
                </p:cNvPr>
                <p:cNvSpPr txBox="1">
                  <a:spLocks noRot="1" noChangeAspect="1" noMove="1" noResize="1" noEditPoints="1" noAdjustHandles="1" noChangeArrowheads="1" noChangeShapeType="1" noTextEdit="1"/>
                </p:cNvSpPr>
                <p:nvPr/>
              </p:nvSpPr>
              <p:spPr>
                <a:xfrm>
                  <a:off x="33256270" y="17426863"/>
                  <a:ext cx="549596" cy="237758"/>
                </a:xfrm>
                <a:prstGeom prst="rect">
                  <a:avLst/>
                </a:prstGeom>
                <a:blipFill>
                  <a:blip r:embed="rId34"/>
                  <a:stretch>
                    <a:fillRect b="-1538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0" name="TextBox 88">
                  <a:extLst>
                    <a:ext uri="{FF2B5EF4-FFF2-40B4-BE49-F238E27FC236}">
                      <a16:creationId xmlns:a16="http://schemas.microsoft.com/office/drawing/2014/main" id="{8B0E558A-F0AA-0531-EF33-0AC0BEEBE0C7}"/>
                    </a:ext>
                  </a:extLst>
                </p:cNvPr>
                <p:cNvSpPr txBox="1"/>
                <p:nvPr/>
              </p:nvSpPr>
              <p:spPr>
                <a:xfrm>
                  <a:off x="31791263" y="16381620"/>
                  <a:ext cx="549596" cy="237758"/>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en-US" dirty="0">
                    <a:ea typeface="Fira Sans" panose="020B0503050000020004" pitchFamily="34" charset="0"/>
                    <a:cs typeface="Arial" panose="020B0604020202020204" pitchFamily="34" charset="0"/>
                  </a:endParaRPr>
                </a:p>
              </p:txBody>
            </p:sp>
          </mc:Choice>
          <mc:Fallback>
            <p:sp>
              <p:nvSpPr>
                <p:cNvPr id="200" name="TextBox 88">
                  <a:extLst>
                    <a:ext uri="{FF2B5EF4-FFF2-40B4-BE49-F238E27FC236}">
                      <a16:creationId xmlns:a16="http://schemas.microsoft.com/office/drawing/2014/main" id="{8B0E558A-F0AA-0531-EF33-0AC0BEEBE0C7}"/>
                    </a:ext>
                  </a:extLst>
                </p:cNvPr>
                <p:cNvSpPr txBox="1">
                  <a:spLocks noRot="1" noChangeAspect="1" noMove="1" noResize="1" noEditPoints="1" noAdjustHandles="1" noChangeArrowheads="1" noChangeShapeType="1" noTextEdit="1"/>
                </p:cNvSpPr>
                <p:nvPr/>
              </p:nvSpPr>
              <p:spPr>
                <a:xfrm>
                  <a:off x="31791263" y="16381620"/>
                  <a:ext cx="549596" cy="237758"/>
                </a:xfrm>
                <a:prstGeom prst="rect">
                  <a:avLst/>
                </a:prstGeom>
                <a:blipFill>
                  <a:blip r:embed="rId35"/>
                  <a:stretch>
                    <a:fillRect b="-2564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5" name="TextBox 89">
                  <a:extLst>
                    <a:ext uri="{FF2B5EF4-FFF2-40B4-BE49-F238E27FC236}">
                      <a16:creationId xmlns:a16="http://schemas.microsoft.com/office/drawing/2014/main" id="{A62D5D6C-63F8-54C4-450C-650A23183826}"/>
                    </a:ext>
                  </a:extLst>
                </p:cNvPr>
                <p:cNvSpPr txBox="1"/>
                <p:nvPr/>
              </p:nvSpPr>
              <p:spPr>
                <a:xfrm>
                  <a:off x="32309253" y="16381619"/>
                  <a:ext cx="329409"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en-US" dirty="0">
                    <a:ea typeface="Fira Sans" panose="020B0503050000020004" pitchFamily="34" charset="0"/>
                    <a:cs typeface="Arial" panose="020B0604020202020204" pitchFamily="34" charset="0"/>
                  </a:endParaRPr>
                </a:p>
              </p:txBody>
            </p:sp>
          </mc:Choice>
          <mc:Fallback>
            <p:sp>
              <p:nvSpPr>
                <p:cNvPr id="205" name="TextBox 89">
                  <a:extLst>
                    <a:ext uri="{FF2B5EF4-FFF2-40B4-BE49-F238E27FC236}">
                      <a16:creationId xmlns:a16="http://schemas.microsoft.com/office/drawing/2014/main" id="{A62D5D6C-63F8-54C4-450C-650A23183826}"/>
                    </a:ext>
                  </a:extLst>
                </p:cNvPr>
                <p:cNvSpPr txBox="1">
                  <a:spLocks noRot="1" noChangeAspect="1" noMove="1" noResize="1" noEditPoints="1" noAdjustHandles="1" noChangeArrowheads="1" noChangeShapeType="1" noTextEdit="1"/>
                </p:cNvSpPr>
                <p:nvPr/>
              </p:nvSpPr>
              <p:spPr>
                <a:xfrm>
                  <a:off x="32309253" y="16381619"/>
                  <a:ext cx="329409" cy="276999"/>
                </a:xfrm>
                <a:prstGeom prst="rect">
                  <a:avLst/>
                </a:prstGeom>
                <a:blipFill>
                  <a:blip r:embed="rId36"/>
                  <a:stretch>
                    <a:fillRect/>
                  </a:stretch>
                </a:blipFill>
              </p:spPr>
              <p:txBody>
                <a:bodyPr/>
                <a:lstStyle/>
                <a:p>
                  <a:r>
                    <a:rPr lang="zh-CN" altLang="en-US">
                      <a:noFill/>
                    </a:rPr>
                    <a:t> </a:t>
                  </a:r>
                </a:p>
              </p:txBody>
            </p:sp>
          </mc:Fallback>
        </mc:AlternateContent>
        <p:sp>
          <p:nvSpPr>
            <p:cNvPr id="208" name="Rectangle: Rounded Corners 18">
              <a:extLst>
                <a:ext uri="{FF2B5EF4-FFF2-40B4-BE49-F238E27FC236}">
                  <a16:creationId xmlns:a16="http://schemas.microsoft.com/office/drawing/2014/main" id="{B51BCBCC-9652-388E-8F4C-2F4A3DD2AD91}"/>
                </a:ext>
              </a:extLst>
            </p:cNvPr>
            <p:cNvSpPr/>
            <p:nvPr/>
          </p:nvSpPr>
          <p:spPr>
            <a:xfrm>
              <a:off x="33901476" y="17454565"/>
              <a:ext cx="908460" cy="475516"/>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9" name="TextBox 19">
              <a:extLst>
                <a:ext uri="{FF2B5EF4-FFF2-40B4-BE49-F238E27FC236}">
                  <a16:creationId xmlns:a16="http://schemas.microsoft.com/office/drawing/2014/main" id="{52A66F02-446F-D2E3-4AD2-D60FE452ECD0}"/>
                </a:ext>
              </a:extLst>
            </p:cNvPr>
            <p:cNvSpPr txBox="1"/>
            <p:nvPr/>
          </p:nvSpPr>
          <p:spPr>
            <a:xfrm>
              <a:off x="33861972" y="17562565"/>
              <a:ext cx="987468" cy="276999"/>
            </a:xfrm>
            <a:prstGeom prst="rect">
              <a:avLst/>
            </a:prstGeom>
            <a:noFill/>
          </p:spPr>
          <p:txBody>
            <a:bodyPr wrap="square" lIns="0" tIns="0" rIns="0" bIns="0" rtlCol="0">
              <a:spAutoFit/>
            </a:bodyPr>
            <a:lstStyle/>
            <a:p>
              <a:pPr algn="ctr"/>
              <a:r>
                <a:rPr lang="en-US" dirty="0">
                  <a:ea typeface="Fira Sans" panose="020B0503050000020004" pitchFamily="34" charset="0"/>
                  <a:cs typeface="Arial" panose="020B0604020202020204" pitchFamily="34" charset="0"/>
                </a:rPr>
                <a:t>Valves</a:t>
              </a:r>
            </a:p>
          </p:txBody>
        </p:sp>
        <p:cxnSp>
          <p:nvCxnSpPr>
            <p:cNvPr id="212" name="Straight Connector 61">
              <a:extLst>
                <a:ext uri="{FF2B5EF4-FFF2-40B4-BE49-F238E27FC236}">
                  <a16:creationId xmlns:a16="http://schemas.microsoft.com/office/drawing/2014/main" id="{66565F39-C628-744E-DFA6-F042DF01967D}"/>
                </a:ext>
              </a:extLst>
            </p:cNvPr>
            <p:cNvCxnSpPr>
              <a:cxnSpLocks/>
              <a:stCxn id="208" idx="3"/>
            </p:cNvCxnSpPr>
            <p:nvPr/>
          </p:nvCxnSpPr>
          <p:spPr>
            <a:xfrm flipV="1">
              <a:off x="34809936" y="17690407"/>
              <a:ext cx="777163" cy="19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Straight Arrow Connector 82">
              <a:extLst>
                <a:ext uri="{FF2B5EF4-FFF2-40B4-BE49-F238E27FC236}">
                  <a16:creationId xmlns:a16="http://schemas.microsoft.com/office/drawing/2014/main" id="{18DB9A41-73E3-1960-B1E7-EAFE0303FE7E}"/>
                </a:ext>
              </a:extLst>
            </p:cNvPr>
            <p:cNvCxnSpPr>
              <a:cxnSpLocks/>
              <a:stCxn id="34" idx="3"/>
              <a:endCxn id="208" idx="1"/>
            </p:cNvCxnSpPr>
            <p:nvPr/>
          </p:nvCxnSpPr>
          <p:spPr>
            <a:xfrm>
              <a:off x="33130409" y="17689688"/>
              <a:ext cx="771067" cy="26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16" name="TextBox 14">
                <a:extLst>
                  <a:ext uri="{FF2B5EF4-FFF2-40B4-BE49-F238E27FC236}">
                    <a16:creationId xmlns:a16="http://schemas.microsoft.com/office/drawing/2014/main" id="{5895AC84-0D8D-F93F-EFDB-BD179218BAE5}"/>
                  </a:ext>
                </a:extLst>
              </p:cNvPr>
              <p:cNvSpPr txBox="1"/>
              <p:nvPr/>
            </p:nvSpPr>
            <p:spPr>
              <a:xfrm>
                <a:off x="36672887" y="17782731"/>
                <a:ext cx="2532323" cy="1077218"/>
              </a:xfrm>
              <a:prstGeom prst="rect">
                <a:avLst/>
              </a:prstGeom>
              <a:noFill/>
            </p:spPr>
            <p:txBody>
              <a:bodyPr wrap="square" lIns="0" tIns="0" rIns="0" bIns="0" rtlCol="0">
                <a:spAutoFit/>
              </a:bodyPr>
              <a:lstStyle/>
              <a:p>
                <a:pPr algn="just"/>
                <a14:m>
                  <m:oMath xmlns:m="http://schemas.openxmlformats.org/officeDocument/2006/math">
                    <m:sSub>
                      <m:sSubPr>
                        <m:ctrlPr>
                          <a:rPr lang="en-US" altLang="zh-CN" sz="1400" b="0" i="1" smtClean="0">
                            <a:latin typeface="Cambria Math" panose="02040503050406030204" pitchFamily="18" charset="0"/>
                            <a:cs typeface="Arial" panose="020B0604020202020204" pitchFamily="34" charset="0"/>
                          </a:rPr>
                        </m:ctrlPr>
                      </m:sSubPr>
                      <m:e>
                        <m:r>
                          <a:rPr lang="en-US" altLang="zh-CN" sz="1400" b="0" i="1" smtClean="0">
                            <a:latin typeface="Cambria Math" panose="02040503050406030204" pitchFamily="18" charset="0"/>
                            <a:cs typeface="Arial" panose="020B0604020202020204" pitchFamily="34" charset="0"/>
                          </a:rPr>
                          <m:t>𝐾</m:t>
                        </m:r>
                      </m:e>
                      <m:sub>
                        <m:r>
                          <a:rPr lang="en-US" altLang="zh-CN" sz="1400" b="0" i="1" smtClean="0">
                            <a:latin typeface="Cambria Math" panose="02040503050406030204" pitchFamily="18" charset="0"/>
                            <a:cs typeface="Arial" panose="020B0604020202020204" pitchFamily="34" charset="0"/>
                          </a:rPr>
                          <m:t>𝑑</m:t>
                        </m:r>
                      </m:sub>
                    </m:sSub>
                    <m:r>
                      <a:rPr lang="en-US" altLang="zh-CN" sz="1400" b="0" i="1" smtClean="0">
                        <a:latin typeface="Cambria Math" panose="02040503050406030204" pitchFamily="18" charset="0"/>
                        <a:cs typeface="Arial" panose="020B0604020202020204" pitchFamily="34" charset="0"/>
                      </a:rPr>
                      <m:t>,</m:t>
                    </m:r>
                    <m:sSub>
                      <m:sSubPr>
                        <m:ctrlPr>
                          <a:rPr lang="en-US" altLang="zh-CN" sz="1400" b="0" i="1" smtClean="0">
                            <a:latin typeface="Cambria Math" panose="02040503050406030204" pitchFamily="18" charset="0"/>
                            <a:cs typeface="Arial" panose="020B0604020202020204" pitchFamily="34" charset="0"/>
                          </a:rPr>
                        </m:ctrlPr>
                      </m:sSubPr>
                      <m:e>
                        <m:r>
                          <a:rPr lang="zh-CN" altLang="en-US" sz="1400" b="0" i="1" smtClean="0">
                            <a:latin typeface="Cambria Math" panose="02040503050406030204" pitchFamily="18" charset="0"/>
                            <a:cs typeface="Arial" panose="020B0604020202020204" pitchFamily="34" charset="0"/>
                          </a:rPr>
                          <m:t>𝜃</m:t>
                        </m:r>
                      </m:e>
                      <m:sub>
                        <m:r>
                          <a:rPr lang="en-US" altLang="zh-CN" sz="1400" b="0" i="1" smtClean="0">
                            <a:latin typeface="Cambria Math" panose="02040503050406030204" pitchFamily="18" charset="0"/>
                            <a:cs typeface="Arial" panose="020B0604020202020204" pitchFamily="34" charset="0"/>
                          </a:rPr>
                          <m:t>𝑑</m:t>
                        </m:r>
                      </m:sub>
                    </m:sSub>
                  </m:oMath>
                </a14:m>
                <a:r>
                  <a:rPr lang="en-US" sz="1400" dirty="0">
                    <a:ea typeface="Fira Sans" panose="020B0503050000020004" pitchFamily="34" charset="0"/>
                    <a:cs typeface="Arial" panose="020B0604020202020204" pitchFamily="34" charset="0"/>
                  </a:rPr>
                  <a:t>: </a:t>
                </a:r>
                <a:r>
                  <a:rPr lang="en-US" sz="1400" dirty="0">
                    <a:solidFill>
                      <a:schemeClr val="tx1"/>
                    </a:solidFill>
                    <a:ea typeface="Fira Sans" panose="020B0503050000020004" pitchFamily="34" charset="0"/>
                    <a:cs typeface="Arial" panose="020B0604020202020204" pitchFamily="34" charset="0"/>
                  </a:rPr>
                  <a:t>Desired Impedance</a:t>
                </a:r>
              </a:p>
              <a:p>
                <a:pPr algn="just"/>
                <a:r>
                  <a:rPr lang="en-US" altLang="zh-CN" sz="1400" dirty="0">
                    <a:solidFill>
                      <a:schemeClr val="tx1"/>
                    </a:solidFill>
                    <a:cs typeface="Arial" panose="020B0604020202020204" pitchFamily="34" charset="0"/>
                  </a:rPr>
                  <a:t>  </a:t>
                </a:r>
                <a14:m>
                  <m:oMath xmlns:m="http://schemas.openxmlformats.org/officeDocument/2006/math">
                    <m:sSub>
                      <m:sSubPr>
                        <m:ctrlPr>
                          <a:rPr lang="en-US" altLang="zh-CN" sz="1400" i="1" smtClean="0">
                            <a:solidFill>
                              <a:schemeClr val="tx1"/>
                            </a:solidFill>
                            <a:latin typeface="Cambria Math" panose="02040503050406030204" pitchFamily="18" charset="0"/>
                            <a:cs typeface="Arial" panose="020B0604020202020204" pitchFamily="34" charset="0"/>
                          </a:rPr>
                        </m:ctrlPr>
                      </m:sSubPr>
                      <m:e>
                        <m:r>
                          <a:rPr lang="en-US" altLang="zh-CN" sz="1400" b="0" i="1" smtClean="0">
                            <a:solidFill>
                              <a:schemeClr val="tx1"/>
                            </a:solidFill>
                            <a:latin typeface="Cambria Math" panose="02040503050406030204" pitchFamily="18" charset="0"/>
                            <a:cs typeface="Arial" panose="020B0604020202020204" pitchFamily="34" charset="0"/>
                          </a:rPr>
                          <m:t>𝐿</m:t>
                        </m:r>
                      </m:e>
                      <m:sub>
                        <m:r>
                          <a:rPr lang="en-US" altLang="zh-CN" sz="1400" b="0" i="1" smtClean="0">
                            <a:solidFill>
                              <a:schemeClr val="tx1"/>
                            </a:solidFill>
                            <a:latin typeface="Cambria Math" panose="02040503050406030204" pitchFamily="18" charset="0"/>
                            <a:cs typeface="Arial" panose="020B0604020202020204" pitchFamily="34" charset="0"/>
                          </a:rPr>
                          <m:t>𝑑</m:t>
                        </m:r>
                      </m:sub>
                    </m:sSub>
                  </m:oMath>
                </a14:m>
                <a:r>
                  <a:rPr lang="en-US" altLang="zh-CN" sz="1400" dirty="0">
                    <a:solidFill>
                      <a:schemeClr val="tx1"/>
                    </a:solidFill>
                    <a:ea typeface="Fira Sans" panose="020B0503050000020004" pitchFamily="34" charset="0"/>
                    <a:cs typeface="Arial" panose="020B0604020202020204" pitchFamily="34" charset="0"/>
                  </a:rPr>
                  <a:t>, </a:t>
                </a:r>
                <a14:m>
                  <m:oMath xmlns:m="http://schemas.openxmlformats.org/officeDocument/2006/math">
                    <m:r>
                      <a:rPr lang="en-US" altLang="zh-CN" sz="1400" i="1">
                        <a:solidFill>
                          <a:schemeClr val="tx1"/>
                        </a:solidFill>
                        <a:latin typeface="Cambria Math" panose="02040503050406030204" pitchFamily="18" charset="0"/>
                        <a:ea typeface="Fira Sans" panose="020B0503050000020004" pitchFamily="34" charset="0"/>
                        <a:cs typeface="Arial" panose="020B0604020202020204" pitchFamily="34" charset="0"/>
                      </a:rPr>
                      <m:t>𝐿</m:t>
                    </m:r>
                  </m:oMath>
                </a14:m>
                <a:r>
                  <a:rPr lang="en-US" altLang="zh-CN" sz="1400" dirty="0">
                    <a:solidFill>
                      <a:schemeClr val="tx1"/>
                    </a:solidFill>
                    <a:ea typeface="Fira Sans" panose="020B0503050000020004" pitchFamily="34" charset="0"/>
                    <a:cs typeface="Arial" panose="020B0604020202020204" pitchFamily="34" charset="0"/>
                  </a:rPr>
                  <a:t>: Desired and actual length</a:t>
                </a:r>
              </a:p>
              <a:p>
                <a:pPr algn="just"/>
                <a:r>
                  <a:rPr lang="en-US" altLang="zh-CN" sz="1400" b="0" dirty="0">
                    <a:cs typeface="Arial" panose="020B0604020202020204" pitchFamily="34" charset="0"/>
                  </a:rPr>
                  <a:t>         </a:t>
                </a:r>
                <a14:m>
                  <m:oMath xmlns:m="http://schemas.openxmlformats.org/officeDocument/2006/math">
                    <m:r>
                      <a:rPr lang="en-US" altLang="zh-CN" sz="1400" b="0" i="1" smtClean="0">
                        <a:latin typeface="Cambria Math" panose="02040503050406030204" pitchFamily="18" charset="0"/>
                        <a:cs typeface="Arial" panose="020B0604020202020204" pitchFamily="34" charset="0"/>
                      </a:rPr>
                      <m:t>𝑝</m:t>
                    </m:r>
                  </m:oMath>
                </a14:m>
                <a:r>
                  <a:rPr lang="en-US" altLang="zh-CN" sz="1400" dirty="0">
                    <a:ea typeface="Fira Sans" panose="020B0503050000020004" pitchFamily="34" charset="0"/>
                    <a:cs typeface="Arial" panose="020B0604020202020204" pitchFamily="34" charset="0"/>
                  </a:rPr>
                  <a:t>: Reflex parameters</a:t>
                </a:r>
              </a:p>
              <a:p>
                <a:pPr algn="just"/>
                <a:r>
                  <a:rPr lang="en-US" altLang="zh-CN" sz="1400" b="0" dirty="0">
                    <a:ea typeface="Fira Sans" panose="020B0503050000020004" pitchFamily="34" charset="0"/>
                    <a:cs typeface="Arial" panose="020B0604020202020204" pitchFamily="34" charset="0"/>
                  </a:rPr>
                  <a:t>         </a:t>
                </a:r>
                <a14:m>
                  <m:oMath xmlns:m="http://schemas.openxmlformats.org/officeDocument/2006/math">
                    <m:r>
                      <a:rPr lang="en-US" altLang="zh-CN" sz="1400" b="0" i="1" smtClean="0">
                        <a:latin typeface="Cambria Math" panose="02040503050406030204" pitchFamily="18" charset="0"/>
                        <a:ea typeface="Fira Sans" panose="020B0503050000020004" pitchFamily="34" charset="0"/>
                        <a:cs typeface="Arial" panose="020B0604020202020204" pitchFamily="34" charset="0"/>
                      </a:rPr>
                      <m:t>𝑢</m:t>
                    </m:r>
                  </m:oMath>
                </a14:m>
                <a:r>
                  <a:rPr lang="en-US" altLang="zh-CN" sz="1400" dirty="0">
                    <a:ea typeface="Fira Sans" panose="020B0503050000020004" pitchFamily="34" charset="0"/>
                    <a:cs typeface="Arial" panose="020B0604020202020204" pitchFamily="34" charset="0"/>
                  </a:rPr>
                  <a:t>: Valve command</a:t>
                </a:r>
              </a:p>
              <a:p>
                <a:pPr algn="just"/>
                <a:r>
                  <a:rPr lang="en-US" altLang="zh-CN" sz="1400" dirty="0">
                    <a:ea typeface="Fira Sans" panose="020B0503050000020004" pitchFamily="34" charset="0"/>
                    <a:cs typeface="Arial" panose="020B0604020202020204" pitchFamily="34" charset="0"/>
                  </a:rPr>
                  <a:t>   PAM: Pneumatic artificial muscle</a:t>
                </a:r>
              </a:p>
            </p:txBody>
          </p:sp>
        </mc:Choice>
        <mc:Fallback>
          <p:sp>
            <p:nvSpPr>
              <p:cNvPr id="216" name="TextBox 14">
                <a:extLst>
                  <a:ext uri="{FF2B5EF4-FFF2-40B4-BE49-F238E27FC236}">
                    <a16:creationId xmlns:a16="http://schemas.microsoft.com/office/drawing/2014/main" id="{5895AC84-0D8D-F93F-EFDB-BD179218BAE5}"/>
                  </a:ext>
                </a:extLst>
              </p:cNvPr>
              <p:cNvSpPr txBox="1">
                <a:spLocks noRot="1" noChangeAspect="1" noMove="1" noResize="1" noEditPoints="1" noAdjustHandles="1" noChangeArrowheads="1" noChangeShapeType="1" noTextEdit="1"/>
              </p:cNvSpPr>
              <p:nvPr/>
            </p:nvSpPr>
            <p:spPr>
              <a:xfrm>
                <a:off x="36672887" y="17782731"/>
                <a:ext cx="2532323" cy="1077218"/>
              </a:xfrm>
              <a:prstGeom prst="rect">
                <a:avLst/>
              </a:prstGeom>
              <a:blipFill>
                <a:blip r:embed="rId37"/>
                <a:stretch>
                  <a:fillRect l="-2410" t="-5085" r="-2169" b="-90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3458476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5942</TotalTime>
  <Words>796</Words>
  <Application>Microsoft Office PowerPoint</Application>
  <PresentationFormat>自定义</PresentationFormat>
  <Paragraphs>89</Paragraphs>
  <Slides>2</Slides>
  <Notes>0</Notes>
  <HiddenSlides>1</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vt:i4>
      </vt:variant>
    </vt:vector>
  </HeadingPairs>
  <TitlesOfParts>
    <vt:vector size="8" baseType="lpstr">
      <vt:lpstr>Arial</vt:lpstr>
      <vt:lpstr>Calibri</vt:lpstr>
      <vt:lpstr>Calibri Light</vt:lpstr>
      <vt:lpstr>Cambria Math</vt:lpstr>
      <vt:lpstr>Fira Sans</vt:lpstr>
      <vt:lpstr>Office Theme</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XinyaoWang</dc:creator>
  <cp:lastModifiedBy>鑫耀 王</cp:lastModifiedBy>
  <cp:revision>35</cp:revision>
  <dcterms:created xsi:type="dcterms:W3CDTF">2023-05-11T19:14:32Z</dcterms:created>
  <dcterms:modified xsi:type="dcterms:W3CDTF">2024-06-17T06:23:51Z</dcterms:modified>
</cp:coreProperties>
</file>